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46"/>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302" r:id="rId43"/>
    <p:sldId id="304" r:id="rId44"/>
    <p:sldId id="299" r:id="rId45"/>
  </p:sldIdLst>
  <p:sldSz cx="9144000" cy="5143500" type="screen16x9"/>
  <p:notesSz cx="6858000" cy="9144000"/>
  <p:embeddedFontLst>
    <p:embeddedFont>
      <p:font typeface="Inter" panose="020B0604020202020204" charset="0"/>
      <p:regular r:id="rId47"/>
      <p:bold r:id="rId48"/>
      <p:italic r:id="rId49"/>
      <p:boldItalic r:id="rId50"/>
    </p:embeddedFont>
    <p:embeddedFont>
      <p:font typeface="Inter Medium" panose="020B0604020202020204"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1" roundtripDataSignature="AMtx7mgudDSS2ZE5/uXkYkWp3BLLaZqHu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88" d="100"/>
          <a:sy n="188" d="100"/>
        </p:scale>
        <p:origin x="132" y="10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1.fntdata"/><Relationship Id="rId50" Type="http://schemas.openxmlformats.org/officeDocument/2006/relationships/font" Target="fonts/font4.fntdata"/><Relationship Id="rId7" Type="http://schemas.openxmlformats.org/officeDocument/2006/relationships/slide" Target="slides/slide3.xml"/><Relationship Id="rId71"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7.fntdata"/><Relationship Id="rId74"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font" Target="fonts/font5.fntdata"/><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8.fntdata"/><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3.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6.fntdata"/><Relationship Id="rId7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eeddd28eb5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g2eeddd28eb5_0_1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181ce1f65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 name="Google Shape;123;g3181ce1f65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006d51d37c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4" name="Google Shape;144;g3006d51d37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1 2 2">
  <p:cSld name="TITLE_1_2_2">
    <p:bg>
      <p:bgPr>
        <a:solidFill>
          <a:srgbClr val="0089CE"/>
        </a:solidFill>
        <a:effectLst/>
      </p:bgPr>
    </p:bg>
    <p:spTree>
      <p:nvGrpSpPr>
        <p:cNvPr id="1" name="Shape 11"/>
        <p:cNvGrpSpPr/>
        <p:nvPr/>
      </p:nvGrpSpPr>
      <p:grpSpPr>
        <a:xfrm>
          <a:off x="0" y="0"/>
          <a:ext cx="0" cy="0"/>
          <a:chOff x="0" y="0"/>
          <a:chExt cx="0" cy="0"/>
        </a:xfrm>
      </p:grpSpPr>
      <p:pic>
        <p:nvPicPr>
          <p:cNvPr id="12" name="Google Shape;12;p40"/>
          <p:cNvPicPr preferRelativeResize="0"/>
          <p:nvPr/>
        </p:nvPicPr>
        <p:blipFill rotWithShape="1">
          <a:blip r:embed="rId2">
            <a:alphaModFix/>
          </a:blip>
          <a:srcRect t="14857"/>
          <a:stretch/>
        </p:blipFill>
        <p:spPr>
          <a:xfrm>
            <a:off x="0" y="0"/>
            <a:ext cx="9144000" cy="51435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089CE"/>
        </a:solidFill>
        <a:effectLst/>
      </p:bgPr>
    </p:bg>
    <p:spTree>
      <p:nvGrpSpPr>
        <p:cNvPr id="1" name="Shape 13"/>
        <p:cNvGrpSpPr/>
        <p:nvPr/>
      </p:nvGrpSpPr>
      <p:grpSpPr>
        <a:xfrm>
          <a:off x="0" y="0"/>
          <a:ext cx="0" cy="0"/>
          <a:chOff x="0" y="0"/>
          <a:chExt cx="0" cy="0"/>
        </a:xfrm>
      </p:grpSpPr>
      <p:sp>
        <p:nvSpPr>
          <p:cNvPr id="14" name="Google Shape;14;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ECF9FF"/>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ECF9FF"/>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ECF9FF"/>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ECF9FF"/>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ECF9FF"/>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ECF9FF"/>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ECF9FF"/>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ECF9FF"/>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ECF9FF"/>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
              <a:t>‹#›</a:t>
            </a:fld>
            <a:endParaRPr/>
          </a:p>
        </p:txBody>
      </p:sp>
      <p:pic>
        <p:nvPicPr>
          <p:cNvPr id="15" name="Google Shape;15;p35"/>
          <p:cNvPicPr preferRelativeResize="0"/>
          <p:nvPr/>
        </p:nvPicPr>
        <p:blipFill rotWithShape="1">
          <a:blip r:embed="rId2">
            <a:alphaModFix/>
          </a:blip>
          <a:srcRect/>
          <a:stretch/>
        </p:blipFill>
        <p:spPr>
          <a:xfrm>
            <a:off x="0" y="0"/>
            <a:ext cx="7771402" cy="51435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1 1 1 1 1">
  <p:cSld name="TITLE_1_1_1_1_1">
    <p:bg>
      <p:bgPr>
        <a:solidFill>
          <a:srgbClr val="0886C8"/>
        </a:solidFill>
        <a:effectLst/>
      </p:bgPr>
    </p:bg>
    <p:spTree>
      <p:nvGrpSpPr>
        <p:cNvPr id="1" name="Shape 16"/>
        <p:cNvGrpSpPr/>
        <p:nvPr/>
      </p:nvGrpSpPr>
      <p:grpSpPr>
        <a:xfrm>
          <a:off x="0" y="0"/>
          <a:ext cx="0" cy="0"/>
          <a:chOff x="0" y="0"/>
          <a:chExt cx="0" cy="0"/>
        </a:xfrm>
      </p:grpSpPr>
      <p:sp>
        <p:nvSpPr>
          <p:cNvPr id="17" name="Google Shape;17;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8" name="Google Shape;18;p39"/>
          <p:cNvSpPr/>
          <p:nvPr/>
        </p:nvSpPr>
        <p:spPr>
          <a:xfrm>
            <a:off x="0" y="0"/>
            <a:ext cx="42438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1 1 1 1 1 1">
  <p:cSld name="TITLE_1_1_1_1_1_1">
    <p:bg>
      <p:bgPr>
        <a:solidFill>
          <a:srgbClr val="0886C8"/>
        </a:solidFill>
        <a:effectLst/>
      </p:bgPr>
    </p:bg>
    <p:spTree>
      <p:nvGrpSpPr>
        <p:cNvPr id="1" name="Shape 19"/>
        <p:cNvGrpSpPr/>
        <p:nvPr/>
      </p:nvGrpSpPr>
      <p:grpSpPr>
        <a:xfrm>
          <a:off x="0" y="0"/>
          <a:ext cx="0" cy="0"/>
          <a:chOff x="0" y="0"/>
          <a:chExt cx="0" cy="0"/>
        </a:xfrm>
      </p:grpSpPr>
      <p:sp>
        <p:nvSpPr>
          <p:cNvPr id="20" name="Google Shape;20;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1" name="Google Shape;21;p41"/>
          <p:cNvSpPr/>
          <p:nvPr/>
        </p:nvSpPr>
        <p:spPr>
          <a:xfrm>
            <a:off x="0" y="0"/>
            <a:ext cx="4572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1 2">
  <p:cSld name="TITLE_1_2">
    <p:bg>
      <p:bgPr>
        <a:solidFill>
          <a:srgbClr val="0089CE"/>
        </a:solidFill>
        <a:effectLst/>
      </p:bgPr>
    </p:bg>
    <p:spTree>
      <p:nvGrpSpPr>
        <p:cNvPr id="1" name="Shape 22"/>
        <p:cNvGrpSpPr/>
        <p:nvPr/>
      </p:nvGrpSpPr>
      <p:grpSpPr>
        <a:xfrm>
          <a:off x="0" y="0"/>
          <a:ext cx="0" cy="0"/>
          <a:chOff x="0" y="0"/>
          <a:chExt cx="0" cy="0"/>
        </a:xfrm>
      </p:grpSpPr>
      <p:pic>
        <p:nvPicPr>
          <p:cNvPr id="23" name="Google Shape;23;p45"/>
          <p:cNvPicPr preferRelativeResize="0"/>
          <p:nvPr/>
        </p:nvPicPr>
        <p:blipFill rotWithShape="1">
          <a:blip r:embed="rId2">
            <a:alphaModFix/>
          </a:blip>
          <a:srcRect t="14850"/>
          <a:stretch/>
        </p:blipFill>
        <p:spPr>
          <a:xfrm>
            <a:off x="0" y="0"/>
            <a:ext cx="9144000" cy="51435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1 1">
  <p:cSld name="TITLE_1_1">
    <p:bg>
      <p:bgPr>
        <a:solidFill>
          <a:srgbClr val="0089CE"/>
        </a:solidFill>
        <a:effectLst/>
      </p:bgPr>
    </p:bg>
    <p:spTree>
      <p:nvGrpSpPr>
        <p:cNvPr id="1" name="Shape 24"/>
        <p:cNvGrpSpPr/>
        <p:nvPr/>
      </p:nvGrpSpPr>
      <p:grpSpPr>
        <a:xfrm>
          <a:off x="0" y="0"/>
          <a:ext cx="0" cy="0"/>
          <a:chOff x="0" y="0"/>
          <a:chExt cx="0" cy="0"/>
        </a:xfrm>
      </p:grpSpPr>
      <p:pic>
        <p:nvPicPr>
          <p:cNvPr id="25" name="Google Shape;25;p37"/>
          <p:cNvPicPr preferRelativeResize="0"/>
          <p:nvPr/>
        </p:nvPicPr>
        <p:blipFill rotWithShape="1">
          <a:blip r:embed="rId2">
            <a:alphaModFix/>
          </a:blip>
          <a:srcRect l="738" r="738"/>
          <a:stretch/>
        </p:blipFill>
        <p:spPr>
          <a:xfrm>
            <a:off x="0" y="0"/>
            <a:ext cx="9144003" cy="514349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1">
  <p:cSld name="TITLE_1">
    <p:bg>
      <p:bgPr>
        <a:solidFill>
          <a:srgbClr val="0089CE"/>
        </a:solidFill>
        <a:effectLst/>
      </p:bgPr>
    </p:bg>
    <p:spTree>
      <p:nvGrpSpPr>
        <p:cNvPr id="1" name="Shape 26"/>
        <p:cNvGrpSpPr/>
        <p:nvPr/>
      </p:nvGrpSpPr>
      <p:grpSpPr>
        <a:xfrm>
          <a:off x="0" y="0"/>
          <a:ext cx="0" cy="0"/>
          <a:chOff x="0" y="0"/>
          <a:chExt cx="0" cy="0"/>
        </a:xfrm>
      </p:grpSpPr>
      <p:sp>
        <p:nvSpPr>
          <p:cNvPr id="27" name="Google Shape;27;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8" name="Google Shape;28;p46"/>
          <p:cNvPicPr preferRelativeResize="0"/>
          <p:nvPr/>
        </p:nvPicPr>
        <p:blipFill rotWithShape="1">
          <a:blip r:embed="rId2">
            <a:alphaModFix/>
          </a:blip>
          <a:srcRect/>
          <a:stretch/>
        </p:blipFill>
        <p:spPr>
          <a:xfrm>
            <a:off x="1372597" y="0"/>
            <a:ext cx="7771402" cy="51435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1 2 1">
  <p:cSld name="TITLE_1_2_1">
    <p:bg>
      <p:bgPr>
        <a:solidFill>
          <a:srgbClr val="0089CE"/>
        </a:solidFill>
        <a:effectLst/>
      </p:bgPr>
    </p:bg>
    <p:spTree>
      <p:nvGrpSpPr>
        <p:cNvPr id="1" name="Shape 29"/>
        <p:cNvGrpSpPr/>
        <p:nvPr/>
      </p:nvGrpSpPr>
      <p:grpSpPr>
        <a:xfrm>
          <a:off x="0" y="0"/>
          <a:ext cx="0" cy="0"/>
          <a:chOff x="0" y="0"/>
          <a:chExt cx="0" cy="0"/>
        </a:xfrm>
      </p:grpSpPr>
      <p:pic>
        <p:nvPicPr>
          <p:cNvPr id="30" name="Google Shape;30;p47"/>
          <p:cNvPicPr preferRelativeResize="0"/>
          <p:nvPr/>
        </p:nvPicPr>
        <p:blipFill rotWithShape="1">
          <a:blip r:embed="rId2">
            <a:alphaModFix/>
          </a:blip>
          <a:srcRect b="14850"/>
          <a:stretch/>
        </p:blipFill>
        <p:spPr>
          <a:xfrm>
            <a:off x="0" y="1"/>
            <a:ext cx="9144000" cy="51435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1 1 1 2">
  <p:cSld name="TITLE_1_1_1_2">
    <p:bg>
      <p:bgPr>
        <a:solidFill>
          <a:srgbClr val="0886C8"/>
        </a:solidFill>
        <a:effectLst/>
      </p:bgPr>
    </p:bg>
    <p:spTree>
      <p:nvGrpSpPr>
        <p:cNvPr id="1" name="Shape 31"/>
        <p:cNvGrpSpPr/>
        <p:nvPr/>
      </p:nvGrpSpPr>
      <p:grpSpPr>
        <a:xfrm>
          <a:off x="0" y="0"/>
          <a:ext cx="0" cy="0"/>
          <a:chOff x="0" y="0"/>
          <a:chExt cx="0" cy="0"/>
        </a:xfrm>
      </p:grpSpPr>
      <p:sp>
        <p:nvSpPr>
          <p:cNvPr id="32" name="Google Shape;32;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48"/>
          <p:cNvSpPr/>
          <p:nvPr/>
        </p:nvSpPr>
        <p:spPr>
          <a:xfrm>
            <a:off x="4572000" y="0"/>
            <a:ext cx="4572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3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5"/>
        <p:cNvGrpSpPr/>
        <p:nvPr/>
      </p:nvGrpSpPr>
      <p:grpSpPr>
        <a:xfrm>
          <a:off x="0" y="0"/>
          <a:ext cx="0" cy="0"/>
          <a:chOff x="0" y="0"/>
          <a:chExt cx="0" cy="0"/>
        </a:xfrm>
      </p:grpSpPr>
      <p:sp>
        <p:nvSpPr>
          <p:cNvPr id="116" name="Google Shape;116;g2eeddd28eb5_0_178"/>
          <p:cNvSpPr txBox="1"/>
          <p:nvPr/>
        </p:nvSpPr>
        <p:spPr>
          <a:xfrm>
            <a:off x="659688" y="1819025"/>
            <a:ext cx="4260000" cy="1366800"/>
          </a:xfrm>
          <a:prstGeom prst="rect">
            <a:avLst/>
          </a:prstGeom>
          <a:noFill/>
          <a:ln>
            <a:noFill/>
          </a:ln>
        </p:spPr>
        <p:txBody>
          <a:bodyPr spcFirstLastPara="1" wrap="square" lIns="91425" tIns="91425" rIns="91425" bIns="91425" anchor="t" anchorCtr="0">
            <a:spAutoFit/>
          </a:bodyPr>
          <a:lstStyle/>
          <a:p>
            <a:pPr marL="0" marR="0" lvl="0" indent="0" algn="l" rtl="0">
              <a:lnSpc>
                <a:spcPct val="80000"/>
              </a:lnSpc>
              <a:spcBef>
                <a:spcPts val="0"/>
              </a:spcBef>
              <a:spcAft>
                <a:spcPts val="0"/>
              </a:spcAft>
              <a:buClr>
                <a:srgbClr val="000000"/>
              </a:buClr>
              <a:buSzPts val="4800"/>
              <a:buFont typeface="Arial"/>
              <a:buNone/>
            </a:pPr>
            <a:r>
              <a:rPr lang="en" sz="4800" b="1" i="0" u="none" strike="noStrike" cap="none">
                <a:solidFill>
                  <a:srgbClr val="1E1F20"/>
                </a:solidFill>
                <a:latin typeface="Inter"/>
                <a:ea typeface="Inter"/>
                <a:cs typeface="Inter"/>
                <a:sym typeface="Inter"/>
              </a:rPr>
              <a:t>Get </a:t>
            </a:r>
            <a:r>
              <a:rPr lang="en" sz="4800" b="1" i="0" u="none" strike="noStrike" cap="none">
                <a:solidFill>
                  <a:srgbClr val="0886C8"/>
                </a:solidFill>
                <a:latin typeface="Inter"/>
                <a:ea typeface="Inter"/>
                <a:cs typeface="Inter"/>
                <a:sym typeface="Inter"/>
              </a:rPr>
              <a:t>eSided</a:t>
            </a:r>
            <a:r>
              <a:rPr lang="en" sz="4800" b="1" i="0" u="none" strike="noStrike" cap="none">
                <a:solidFill>
                  <a:srgbClr val="1E1F20"/>
                </a:solidFill>
                <a:latin typeface="Inter"/>
                <a:ea typeface="Inter"/>
                <a:cs typeface="Inter"/>
                <a:sym typeface="Inter"/>
              </a:rPr>
              <a:t> on Your Side</a:t>
            </a:r>
            <a:endParaRPr sz="4800" b="1" i="0" u="none" strike="noStrike" cap="none">
              <a:solidFill>
                <a:srgbClr val="1E1F20"/>
              </a:solidFill>
              <a:latin typeface="Inter"/>
              <a:ea typeface="Inter"/>
              <a:cs typeface="Inter"/>
              <a:sym typeface="Inter"/>
            </a:endParaRPr>
          </a:p>
        </p:txBody>
      </p:sp>
      <p:sp>
        <p:nvSpPr>
          <p:cNvPr id="117" name="Google Shape;117;g2eeddd28eb5_0_178"/>
          <p:cNvSpPr txBox="1"/>
          <p:nvPr/>
        </p:nvSpPr>
        <p:spPr>
          <a:xfrm>
            <a:off x="569513" y="3255150"/>
            <a:ext cx="4956600" cy="58474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rgbClr val="434343"/>
                </a:solidFill>
                <a:latin typeface="Inter"/>
                <a:ea typeface="Inter"/>
                <a:cs typeface="Inter"/>
                <a:sym typeface="Inter"/>
              </a:rPr>
              <a:t>Prepare</a:t>
            </a:r>
            <a:r>
              <a:rPr lang="en" sz="1300" b="0" i="0" u="none" strike="noStrike" cap="none">
                <a:solidFill>
                  <a:srgbClr val="434343"/>
                </a:solidFill>
                <a:latin typeface="Inter"/>
                <a:ea typeface="Inter"/>
                <a:cs typeface="Inter"/>
                <a:sym typeface="Inter"/>
              </a:rPr>
              <a:t> for Tomorrow. Unlock </a:t>
            </a:r>
            <a:r>
              <a:rPr lang="en" sz="1300" b="1" i="0" u="none" strike="noStrike" cap="none">
                <a:solidFill>
                  <a:srgbClr val="434343"/>
                </a:solidFill>
                <a:latin typeface="Inter"/>
                <a:ea typeface="Inter"/>
                <a:cs typeface="Inter"/>
                <a:sym typeface="Inter"/>
              </a:rPr>
              <a:t>New Possibilities</a:t>
            </a:r>
            <a:r>
              <a:rPr lang="en" sz="1300" b="0" i="0" u="none" strike="noStrike" cap="none">
                <a:solidFill>
                  <a:srgbClr val="434343"/>
                </a:solidFill>
                <a:latin typeface="Inter"/>
                <a:ea typeface="Inter"/>
                <a:cs typeface="Inter"/>
                <a:sym typeface="Inter"/>
              </a:rPr>
              <a:t> with </a:t>
            </a:r>
            <a:r>
              <a:rPr lang="en" sz="1300" b="1" i="0" u="none" strike="noStrike" cap="none">
                <a:solidFill>
                  <a:srgbClr val="434343"/>
                </a:solidFill>
                <a:latin typeface="Inter"/>
                <a:ea typeface="Inter"/>
                <a:cs typeface="Inter"/>
                <a:sym typeface="Inter"/>
              </a:rPr>
              <a:t>AI</a:t>
            </a:r>
            <a:r>
              <a:rPr lang="en" sz="1300" b="0" i="0" u="none" strike="noStrike" cap="none">
                <a:solidFill>
                  <a:srgbClr val="434343"/>
                </a:solidFill>
                <a:latin typeface="Inter"/>
                <a:ea typeface="Inter"/>
                <a:cs typeface="Inter"/>
                <a:sym typeface="Inter"/>
              </a:rPr>
              <a:t>.</a:t>
            </a:r>
            <a:endParaRPr sz="1300" b="0" i="0" u="none" strike="noStrike" cap="none">
              <a:solidFill>
                <a:srgbClr val="434343"/>
              </a:solidFill>
              <a:latin typeface="Inter"/>
              <a:ea typeface="Inter"/>
              <a:cs typeface="Inter"/>
              <a:sym typeface="Inter"/>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434343"/>
              </a:solidFill>
              <a:latin typeface="Inter"/>
              <a:ea typeface="Inter"/>
              <a:cs typeface="Inter"/>
              <a:sym typeface="Inter"/>
            </a:endParaRPr>
          </a:p>
        </p:txBody>
      </p:sp>
      <p:pic>
        <p:nvPicPr>
          <p:cNvPr id="118" name="Google Shape;118;g2eeddd28eb5_0_178"/>
          <p:cNvPicPr preferRelativeResize="0"/>
          <p:nvPr/>
        </p:nvPicPr>
        <p:blipFill rotWithShape="1">
          <a:blip r:embed="rId3">
            <a:alphaModFix/>
          </a:blip>
          <a:srcRect/>
          <a:stretch/>
        </p:blipFill>
        <p:spPr>
          <a:xfrm>
            <a:off x="903415" y="532075"/>
            <a:ext cx="1151136" cy="400200"/>
          </a:xfrm>
          <a:prstGeom prst="rect">
            <a:avLst/>
          </a:prstGeom>
          <a:noFill/>
          <a:ln>
            <a:noFill/>
          </a:ln>
        </p:spPr>
      </p:pic>
      <p:pic>
        <p:nvPicPr>
          <p:cNvPr id="119" name="Google Shape;119;g2eeddd28eb5_0_178"/>
          <p:cNvPicPr preferRelativeResize="0"/>
          <p:nvPr/>
        </p:nvPicPr>
        <p:blipFill rotWithShape="1">
          <a:blip r:embed="rId4">
            <a:alphaModFix/>
          </a:blip>
          <a:srcRect/>
          <a:stretch/>
        </p:blipFill>
        <p:spPr>
          <a:xfrm>
            <a:off x="5563775" y="462450"/>
            <a:ext cx="3199999" cy="2886525"/>
          </a:xfrm>
          <a:prstGeom prst="rect">
            <a:avLst/>
          </a:prstGeom>
          <a:noFill/>
          <a:ln>
            <a:noFill/>
          </a:ln>
        </p:spPr>
      </p:pic>
      <p:sp>
        <p:nvSpPr>
          <p:cNvPr id="120" name="Google Shape;120;g2eeddd28eb5_0_178"/>
          <p:cNvSpPr txBox="1"/>
          <p:nvPr/>
        </p:nvSpPr>
        <p:spPr>
          <a:xfrm>
            <a:off x="6015588" y="4561450"/>
            <a:ext cx="2660700" cy="400200"/>
          </a:xfrm>
          <a:prstGeom prst="rect">
            <a:avLst/>
          </a:prstGeom>
          <a:noFill/>
          <a:ln>
            <a:noFill/>
          </a:ln>
        </p:spPr>
        <p:txBody>
          <a:bodyPr spcFirstLastPara="1" wrap="square" lIns="45700" tIns="45700" rIns="45700" bIns="45700" anchor="t" anchorCtr="0">
            <a:normAutofit fontScale="55000" lnSpcReduction="20000"/>
          </a:bodyPr>
          <a:lstStyle/>
          <a:p>
            <a:pPr marL="0" marR="0" lvl="0" indent="0" algn="r" rtl="0">
              <a:lnSpc>
                <a:spcPct val="148982"/>
              </a:lnSpc>
              <a:spcBef>
                <a:spcPts val="0"/>
              </a:spcBef>
              <a:spcAft>
                <a:spcPts val="0"/>
              </a:spcAft>
              <a:buClr>
                <a:srgbClr val="000000"/>
              </a:buClr>
              <a:buSzPct val="100000"/>
              <a:buFont typeface="Arial"/>
              <a:buNone/>
            </a:pPr>
            <a:r>
              <a:rPr lang="en" sz="1228" b="1" i="0" u="none" strike="noStrike" cap="none">
                <a:solidFill>
                  <a:schemeClr val="dk1"/>
                </a:solidFill>
                <a:latin typeface="Inter"/>
                <a:ea typeface="Inter"/>
                <a:cs typeface="Inter"/>
                <a:sym typeface="Inter"/>
              </a:rPr>
              <a:t>Website | </a:t>
            </a:r>
            <a:r>
              <a:rPr lang="en" sz="1228" b="0" i="0" u="none" strike="noStrike" cap="none">
                <a:solidFill>
                  <a:schemeClr val="dk1"/>
                </a:solidFill>
                <a:latin typeface="Inter Medium"/>
                <a:ea typeface="Inter Medium"/>
                <a:cs typeface="Inter Medium"/>
                <a:sym typeface="Inter Medium"/>
              </a:rPr>
              <a:t>www.eSided.com</a:t>
            </a:r>
            <a:endParaRPr sz="700" b="0" i="0" u="none" strike="noStrike" cap="none">
              <a:solidFill>
                <a:schemeClr val="dk1"/>
              </a:solidFill>
              <a:latin typeface="Inter"/>
              <a:ea typeface="Inter"/>
              <a:cs typeface="Inter"/>
              <a:sym typeface="Inter"/>
            </a:endParaRPr>
          </a:p>
          <a:p>
            <a:pPr marL="0" marR="0" lvl="0" indent="0" algn="r" rtl="0">
              <a:lnSpc>
                <a:spcPct val="148982"/>
              </a:lnSpc>
              <a:spcBef>
                <a:spcPts val="0"/>
              </a:spcBef>
              <a:spcAft>
                <a:spcPts val="0"/>
              </a:spcAft>
              <a:buClr>
                <a:srgbClr val="000000"/>
              </a:buClr>
              <a:buSzPct val="100000"/>
              <a:buFont typeface="Arial"/>
              <a:buNone/>
            </a:pPr>
            <a:r>
              <a:rPr lang="en" sz="1228" b="1" i="0" u="none" strike="noStrike" cap="none">
                <a:solidFill>
                  <a:schemeClr val="dk1"/>
                </a:solidFill>
                <a:latin typeface="Inter"/>
                <a:ea typeface="Inter"/>
                <a:cs typeface="Inter"/>
                <a:sym typeface="Inter"/>
              </a:rPr>
              <a:t>Email |  </a:t>
            </a:r>
            <a:r>
              <a:rPr lang="en" sz="1228" b="0" i="0" u="none" strike="noStrike" cap="none">
                <a:solidFill>
                  <a:schemeClr val="dk1"/>
                </a:solidFill>
                <a:latin typeface="Inter"/>
                <a:ea typeface="Inter"/>
                <a:cs typeface="Inter"/>
                <a:sym typeface="Inter"/>
              </a:rPr>
              <a:t>info@esided.com</a:t>
            </a:r>
            <a:endParaRPr sz="700" b="0" i="0" u="none" strike="noStrike" cap="none">
              <a:solidFill>
                <a:schemeClr val="dk1"/>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3181ce1f653_0_0"/>
          <p:cNvSpPr/>
          <p:nvPr/>
        </p:nvSpPr>
        <p:spPr>
          <a:xfrm>
            <a:off x="440875" y="1326375"/>
            <a:ext cx="1977900" cy="3085800"/>
          </a:xfrm>
          <a:prstGeom prst="roundRect">
            <a:avLst>
              <a:gd name="adj" fmla="val 7414"/>
            </a:avLst>
          </a:prstGeom>
          <a:solidFill>
            <a:srgbClr val="F5FB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Inter"/>
              <a:ea typeface="Inter"/>
              <a:cs typeface="Inter"/>
              <a:sym typeface="Inter"/>
            </a:endParaRPr>
          </a:p>
        </p:txBody>
      </p:sp>
      <p:sp>
        <p:nvSpPr>
          <p:cNvPr id="126" name="Google Shape;126;g3181ce1f653_0_0"/>
          <p:cNvSpPr/>
          <p:nvPr/>
        </p:nvSpPr>
        <p:spPr>
          <a:xfrm>
            <a:off x="2524776" y="1326375"/>
            <a:ext cx="1977900" cy="3085800"/>
          </a:xfrm>
          <a:prstGeom prst="roundRect">
            <a:avLst>
              <a:gd name="adj" fmla="val 7821"/>
            </a:avLst>
          </a:prstGeom>
          <a:solidFill>
            <a:srgbClr val="F5FB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Inter"/>
              <a:ea typeface="Inter"/>
              <a:cs typeface="Inter"/>
              <a:sym typeface="Inter"/>
            </a:endParaRPr>
          </a:p>
        </p:txBody>
      </p:sp>
      <p:sp>
        <p:nvSpPr>
          <p:cNvPr id="127" name="Google Shape;127;g3181ce1f653_0_0"/>
          <p:cNvSpPr/>
          <p:nvPr/>
        </p:nvSpPr>
        <p:spPr>
          <a:xfrm>
            <a:off x="4608677" y="1326375"/>
            <a:ext cx="1977900" cy="3085800"/>
          </a:xfrm>
          <a:prstGeom prst="roundRect">
            <a:avLst>
              <a:gd name="adj" fmla="val 7327"/>
            </a:avLst>
          </a:prstGeom>
          <a:solidFill>
            <a:srgbClr val="F5FB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Inter"/>
              <a:ea typeface="Inter"/>
              <a:cs typeface="Inter"/>
              <a:sym typeface="Inter"/>
            </a:endParaRPr>
          </a:p>
        </p:txBody>
      </p:sp>
      <p:sp>
        <p:nvSpPr>
          <p:cNvPr id="128" name="Google Shape;128;g3181ce1f653_0_0"/>
          <p:cNvSpPr/>
          <p:nvPr/>
        </p:nvSpPr>
        <p:spPr>
          <a:xfrm>
            <a:off x="6692578" y="1326375"/>
            <a:ext cx="1977900" cy="3085800"/>
          </a:xfrm>
          <a:prstGeom prst="roundRect">
            <a:avLst>
              <a:gd name="adj" fmla="val 7283"/>
            </a:avLst>
          </a:prstGeom>
          <a:solidFill>
            <a:srgbClr val="F5FB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Inter"/>
              <a:ea typeface="Inter"/>
              <a:cs typeface="Inter"/>
              <a:sym typeface="Inter"/>
            </a:endParaRPr>
          </a:p>
        </p:txBody>
      </p:sp>
      <p:sp>
        <p:nvSpPr>
          <p:cNvPr id="129" name="Google Shape;129;g3181ce1f653_0_0"/>
          <p:cNvSpPr txBox="1">
            <a:spLocks noGrp="1"/>
          </p:cNvSpPr>
          <p:nvPr>
            <p:ph type="title" idx="4294967295"/>
          </p:nvPr>
        </p:nvSpPr>
        <p:spPr>
          <a:xfrm>
            <a:off x="3019675" y="415500"/>
            <a:ext cx="3104700" cy="645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600"/>
              <a:buFont typeface="Arial"/>
              <a:buNone/>
            </a:pPr>
            <a:r>
              <a:rPr lang="en" sz="3200" b="1">
                <a:solidFill>
                  <a:srgbClr val="006EA8"/>
                </a:solidFill>
                <a:latin typeface="Inter"/>
                <a:ea typeface="Inter"/>
                <a:cs typeface="Inter"/>
                <a:sym typeface="Inter"/>
              </a:rPr>
              <a:t>Leadership</a:t>
            </a:r>
            <a:endParaRPr sz="3200" b="1">
              <a:solidFill>
                <a:srgbClr val="006EA8"/>
              </a:solidFill>
              <a:latin typeface="Inter"/>
              <a:ea typeface="Inter"/>
              <a:cs typeface="Inter"/>
              <a:sym typeface="Inter"/>
            </a:endParaRPr>
          </a:p>
        </p:txBody>
      </p:sp>
      <p:sp>
        <p:nvSpPr>
          <p:cNvPr id="130" name="Google Shape;130;g3181ce1f653_0_0"/>
          <p:cNvSpPr txBox="1"/>
          <p:nvPr/>
        </p:nvSpPr>
        <p:spPr>
          <a:xfrm>
            <a:off x="735706" y="3113525"/>
            <a:ext cx="13830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Inter"/>
                <a:ea typeface="Inter"/>
                <a:cs typeface="Inter"/>
                <a:sym typeface="Inter"/>
              </a:rPr>
              <a:t>Zak Ali</a:t>
            </a:r>
            <a:endParaRPr sz="1400" b="1" i="0" u="none" strike="noStrike" cap="none">
              <a:solidFill>
                <a:schemeClr val="dk1"/>
              </a:solidFill>
              <a:latin typeface="Inter"/>
              <a:ea typeface="Inter"/>
              <a:cs typeface="Inter"/>
              <a:sym typeface="Inter"/>
            </a:endParaRPr>
          </a:p>
        </p:txBody>
      </p:sp>
      <p:sp>
        <p:nvSpPr>
          <p:cNvPr id="131" name="Google Shape;131;g3181ce1f653_0_0"/>
          <p:cNvSpPr txBox="1"/>
          <p:nvPr/>
        </p:nvSpPr>
        <p:spPr>
          <a:xfrm>
            <a:off x="504600" y="3469225"/>
            <a:ext cx="1845600" cy="8010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900"/>
              <a:buFont typeface="Arial"/>
              <a:buNone/>
            </a:pPr>
            <a:r>
              <a:rPr lang="en" sz="900" b="0" i="0" u="none" strike="noStrike" cap="none">
                <a:solidFill>
                  <a:srgbClr val="434343"/>
                </a:solidFill>
                <a:latin typeface="Inter"/>
                <a:ea typeface="Inter"/>
                <a:cs typeface="Inter"/>
                <a:sym typeface="Inter"/>
              </a:rPr>
              <a:t>CEO, AI &amp; Transformation Expert</a:t>
            </a:r>
            <a:endParaRPr sz="900" b="0" i="0" u="none" strike="noStrike" cap="none">
              <a:solidFill>
                <a:srgbClr val="434343"/>
              </a:solidFill>
              <a:latin typeface="Inter"/>
              <a:ea typeface="Inter"/>
              <a:cs typeface="Inter"/>
              <a:sym typeface="Inter"/>
            </a:endParaRPr>
          </a:p>
          <a:p>
            <a:pPr marL="0" marR="0" lvl="0" indent="0" algn="ctr" rtl="0">
              <a:lnSpc>
                <a:spcPct val="115000"/>
              </a:lnSpc>
              <a:spcBef>
                <a:spcPts val="0"/>
              </a:spcBef>
              <a:spcAft>
                <a:spcPts val="0"/>
              </a:spcAft>
              <a:buClr>
                <a:srgbClr val="000000"/>
              </a:buClr>
              <a:buSzPts val="900"/>
              <a:buFont typeface="Arial"/>
              <a:buNone/>
            </a:pPr>
            <a:r>
              <a:rPr lang="en" sz="900" b="1" i="0" u="none" strike="noStrike" cap="none">
                <a:solidFill>
                  <a:srgbClr val="434343"/>
                </a:solidFill>
                <a:latin typeface="Inter"/>
                <a:ea typeface="Inter"/>
                <a:cs typeface="Inter"/>
                <a:sym typeface="Inter"/>
              </a:rPr>
              <a:t>Experience:</a:t>
            </a:r>
            <a:r>
              <a:rPr lang="en" sz="900" b="0" i="0" u="none" strike="noStrike" cap="none">
                <a:solidFill>
                  <a:srgbClr val="434343"/>
                </a:solidFill>
                <a:latin typeface="Inter"/>
                <a:ea typeface="Inter"/>
                <a:cs typeface="Inter"/>
                <a:sym typeface="Inter"/>
              </a:rPr>
              <a:t> 25+ years in digital transformations</a:t>
            </a:r>
            <a:endParaRPr sz="900" b="0" i="0" u="none" strike="noStrike" cap="none">
              <a:solidFill>
                <a:srgbClr val="434343"/>
              </a:solidFill>
              <a:latin typeface="Inter"/>
              <a:ea typeface="Inter"/>
              <a:cs typeface="Inter"/>
              <a:sym typeface="Inter"/>
            </a:endParaRPr>
          </a:p>
        </p:txBody>
      </p:sp>
      <p:pic>
        <p:nvPicPr>
          <p:cNvPr id="132" name="Google Shape;132;g3181ce1f653_0_0"/>
          <p:cNvPicPr preferRelativeResize="0"/>
          <p:nvPr/>
        </p:nvPicPr>
        <p:blipFill rotWithShape="1">
          <a:blip r:embed="rId3">
            <a:alphaModFix/>
          </a:blip>
          <a:srcRect/>
          <a:stretch/>
        </p:blipFill>
        <p:spPr>
          <a:xfrm>
            <a:off x="735706" y="1575538"/>
            <a:ext cx="1383000" cy="1383000"/>
          </a:xfrm>
          <a:prstGeom prst="rect">
            <a:avLst/>
          </a:prstGeom>
          <a:noFill/>
          <a:ln>
            <a:noFill/>
          </a:ln>
        </p:spPr>
      </p:pic>
      <p:sp>
        <p:nvSpPr>
          <p:cNvPr id="133" name="Google Shape;133;g3181ce1f653_0_0"/>
          <p:cNvSpPr txBox="1"/>
          <p:nvPr/>
        </p:nvSpPr>
        <p:spPr>
          <a:xfrm>
            <a:off x="4669374" y="3113525"/>
            <a:ext cx="18114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Inter"/>
                <a:ea typeface="Inter"/>
                <a:cs typeface="Inter"/>
                <a:sym typeface="Inter"/>
              </a:rPr>
              <a:t>Dr. Kamran Malik</a:t>
            </a:r>
            <a:endParaRPr sz="1400" b="1" i="0" u="none" strike="noStrike" cap="none">
              <a:solidFill>
                <a:schemeClr val="dk1"/>
              </a:solidFill>
              <a:latin typeface="Inter"/>
              <a:ea typeface="Inter"/>
              <a:cs typeface="Inter"/>
              <a:sym typeface="Inter"/>
            </a:endParaRPr>
          </a:p>
        </p:txBody>
      </p:sp>
      <p:sp>
        <p:nvSpPr>
          <p:cNvPr id="134" name="Google Shape;134;g3181ce1f653_0_0"/>
          <p:cNvSpPr txBox="1"/>
          <p:nvPr/>
        </p:nvSpPr>
        <p:spPr>
          <a:xfrm>
            <a:off x="4642674" y="3469225"/>
            <a:ext cx="1864800" cy="6417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900"/>
              <a:buFont typeface="Arial"/>
              <a:buNone/>
            </a:pPr>
            <a:r>
              <a:rPr lang="en" sz="900" b="0" i="0" u="none" strike="noStrike" cap="none">
                <a:solidFill>
                  <a:srgbClr val="434343"/>
                </a:solidFill>
                <a:latin typeface="Inter"/>
                <a:ea typeface="Inter"/>
                <a:cs typeface="Inter"/>
                <a:sym typeface="Inter"/>
              </a:rPr>
              <a:t>Head of AI Operations</a:t>
            </a:r>
            <a:endParaRPr sz="900" b="0" i="0" u="none" strike="noStrike" cap="none">
              <a:solidFill>
                <a:srgbClr val="434343"/>
              </a:solidFill>
              <a:latin typeface="Inter"/>
              <a:ea typeface="Inter"/>
              <a:cs typeface="Inter"/>
              <a:sym typeface="Inter"/>
            </a:endParaRPr>
          </a:p>
          <a:p>
            <a:pPr marL="0" marR="0" lvl="0" indent="0" algn="ctr" rtl="0">
              <a:lnSpc>
                <a:spcPct val="115000"/>
              </a:lnSpc>
              <a:spcBef>
                <a:spcPts val="0"/>
              </a:spcBef>
              <a:spcAft>
                <a:spcPts val="0"/>
              </a:spcAft>
              <a:buClr>
                <a:srgbClr val="000000"/>
              </a:buClr>
              <a:buSzPts val="900"/>
              <a:buFont typeface="Arial"/>
              <a:buNone/>
            </a:pPr>
            <a:r>
              <a:rPr lang="en" sz="900" b="1" i="0" u="none" strike="noStrike" cap="none">
                <a:solidFill>
                  <a:srgbClr val="434343"/>
                </a:solidFill>
                <a:latin typeface="Inter"/>
                <a:ea typeface="Inter"/>
                <a:cs typeface="Inter"/>
                <a:sym typeface="Inter"/>
              </a:rPr>
              <a:t>Experience: </a:t>
            </a:r>
            <a:r>
              <a:rPr lang="en" sz="900" b="0" i="0" u="none" strike="noStrike" cap="none">
                <a:solidFill>
                  <a:srgbClr val="434343"/>
                </a:solidFill>
                <a:latin typeface="Inter"/>
                <a:ea typeface="Inter"/>
                <a:cs typeface="Inter"/>
                <a:sym typeface="Inter"/>
              </a:rPr>
              <a:t>18+ years in education and industry</a:t>
            </a:r>
            <a:endParaRPr sz="900" b="0" i="0" u="none" strike="noStrike" cap="none">
              <a:solidFill>
                <a:srgbClr val="434343"/>
              </a:solidFill>
              <a:latin typeface="Inter"/>
              <a:ea typeface="Inter"/>
              <a:cs typeface="Inter"/>
              <a:sym typeface="Inter"/>
            </a:endParaRPr>
          </a:p>
        </p:txBody>
      </p:sp>
      <p:pic>
        <p:nvPicPr>
          <p:cNvPr id="135" name="Google Shape;135;g3181ce1f653_0_0"/>
          <p:cNvPicPr preferRelativeResize="0"/>
          <p:nvPr/>
        </p:nvPicPr>
        <p:blipFill rotWithShape="1">
          <a:blip r:embed="rId4">
            <a:alphaModFix/>
          </a:blip>
          <a:srcRect/>
          <a:stretch/>
        </p:blipFill>
        <p:spPr>
          <a:xfrm>
            <a:off x="4881843" y="1572075"/>
            <a:ext cx="1386463" cy="1386463"/>
          </a:xfrm>
          <a:prstGeom prst="rect">
            <a:avLst/>
          </a:prstGeom>
          <a:noFill/>
          <a:ln>
            <a:noFill/>
          </a:ln>
        </p:spPr>
      </p:pic>
      <p:sp>
        <p:nvSpPr>
          <p:cNvPr id="136" name="Google Shape;136;g3181ce1f653_0_0"/>
          <p:cNvSpPr txBox="1"/>
          <p:nvPr/>
        </p:nvSpPr>
        <p:spPr>
          <a:xfrm>
            <a:off x="6554277" y="3113525"/>
            <a:ext cx="22545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Inter"/>
                <a:ea typeface="Inter"/>
                <a:cs typeface="Inter"/>
                <a:sym typeface="Inter"/>
              </a:rPr>
              <a:t>Dr. Humaira Waqas</a:t>
            </a:r>
            <a:endParaRPr sz="1400" b="1" i="0" u="none" strike="noStrike" cap="none">
              <a:solidFill>
                <a:schemeClr val="dk1"/>
              </a:solidFill>
              <a:latin typeface="Inter"/>
              <a:ea typeface="Inter"/>
              <a:cs typeface="Inter"/>
              <a:sym typeface="Inter"/>
            </a:endParaRPr>
          </a:p>
        </p:txBody>
      </p:sp>
      <p:sp>
        <p:nvSpPr>
          <p:cNvPr id="137" name="Google Shape;137;g3181ce1f653_0_0"/>
          <p:cNvSpPr txBox="1"/>
          <p:nvPr/>
        </p:nvSpPr>
        <p:spPr>
          <a:xfrm>
            <a:off x="6763850" y="3469225"/>
            <a:ext cx="1835400" cy="6417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900"/>
              <a:buFont typeface="Arial"/>
              <a:buNone/>
            </a:pPr>
            <a:r>
              <a:rPr lang="en" sz="900" b="0" i="0" u="none" strike="noStrike" cap="none">
                <a:solidFill>
                  <a:srgbClr val="434343"/>
                </a:solidFill>
                <a:latin typeface="Inter"/>
                <a:ea typeface="Inter"/>
                <a:cs typeface="Inter"/>
                <a:sym typeface="Inter"/>
              </a:rPr>
              <a:t>Head of Machine Learning </a:t>
            </a:r>
            <a:endParaRPr sz="900" b="0" i="0" u="none" strike="noStrike" cap="none">
              <a:solidFill>
                <a:srgbClr val="434343"/>
              </a:solidFill>
              <a:latin typeface="Inter"/>
              <a:ea typeface="Inter"/>
              <a:cs typeface="Inter"/>
              <a:sym typeface="Inter"/>
            </a:endParaRPr>
          </a:p>
          <a:p>
            <a:pPr marL="0" marR="0" lvl="0" indent="0" algn="ctr" rtl="0">
              <a:lnSpc>
                <a:spcPct val="115000"/>
              </a:lnSpc>
              <a:spcBef>
                <a:spcPts val="0"/>
              </a:spcBef>
              <a:spcAft>
                <a:spcPts val="0"/>
              </a:spcAft>
              <a:buClr>
                <a:srgbClr val="000000"/>
              </a:buClr>
              <a:buSzPts val="900"/>
              <a:buFont typeface="Arial"/>
              <a:buNone/>
            </a:pPr>
            <a:r>
              <a:rPr lang="en" sz="900" b="1" i="0" u="none" strike="noStrike" cap="none">
                <a:solidFill>
                  <a:srgbClr val="434343"/>
                </a:solidFill>
                <a:latin typeface="Inter"/>
                <a:ea typeface="Inter"/>
                <a:cs typeface="Inter"/>
                <a:sym typeface="Inter"/>
              </a:rPr>
              <a:t>Experience: </a:t>
            </a:r>
            <a:r>
              <a:rPr lang="en" sz="900" b="0" i="0" u="none" strike="noStrike" cap="none">
                <a:solidFill>
                  <a:srgbClr val="434343"/>
                </a:solidFill>
                <a:latin typeface="Inter"/>
                <a:ea typeface="Inter"/>
                <a:cs typeface="Inter"/>
                <a:sym typeface="Inter"/>
              </a:rPr>
              <a:t>4+ years, in education and industry</a:t>
            </a:r>
            <a:endParaRPr sz="900" b="0" i="0" u="none" strike="noStrike" cap="none">
              <a:solidFill>
                <a:srgbClr val="434343"/>
              </a:solidFill>
              <a:latin typeface="Inter"/>
              <a:ea typeface="Inter"/>
              <a:cs typeface="Inter"/>
              <a:sym typeface="Inter"/>
            </a:endParaRPr>
          </a:p>
        </p:txBody>
      </p:sp>
      <p:pic>
        <p:nvPicPr>
          <p:cNvPr id="138" name="Google Shape;138;g3181ce1f653_0_0"/>
          <p:cNvPicPr preferRelativeResize="0"/>
          <p:nvPr/>
        </p:nvPicPr>
        <p:blipFill rotWithShape="1">
          <a:blip r:embed="rId5">
            <a:alphaModFix/>
          </a:blip>
          <a:srcRect/>
          <a:stretch/>
        </p:blipFill>
        <p:spPr>
          <a:xfrm>
            <a:off x="6988296" y="1572075"/>
            <a:ext cx="1386462" cy="1386462"/>
          </a:xfrm>
          <a:prstGeom prst="rect">
            <a:avLst/>
          </a:prstGeom>
          <a:noFill/>
          <a:ln>
            <a:noFill/>
          </a:ln>
        </p:spPr>
      </p:pic>
      <p:sp>
        <p:nvSpPr>
          <p:cNvPr id="139" name="Google Shape;139;g3181ce1f653_0_0"/>
          <p:cNvSpPr txBox="1"/>
          <p:nvPr/>
        </p:nvSpPr>
        <p:spPr>
          <a:xfrm>
            <a:off x="2757063" y="3113525"/>
            <a:ext cx="15132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Inter"/>
                <a:ea typeface="Inter"/>
                <a:cs typeface="Inter"/>
                <a:sym typeface="Inter"/>
              </a:rPr>
              <a:t>Olga Skeen</a:t>
            </a:r>
            <a:endParaRPr sz="1400" b="1" i="0" u="none" strike="noStrike" cap="none">
              <a:solidFill>
                <a:schemeClr val="dk1"/>
              </a:solidFill>
              <a:latin typeface="Inter"/>
              <a:ea typeface="Inter"/>
              <a:cs typeface="Inter"/>
              <a:sym typeface="Inter"/>
            </a:endParaRPr>
          </a:p>
        </p:txBody>
      </p:sp>
      <p:sp>
        <p:nvSpPr>
          <p:cNvPr id="140" name="Google Shape;140;g3181ce1f653_0_0"/>
          <p:cNvSpPr txBox="1"/>
          <p:nvPr/>
        </p:nvSpPr>
        <p:spPr>
          <a:xfrm>
            <a:off x="2536775" y="3469225"/>
            <a:ext cx="1953900" cy="6417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900"/>
              <a:buFont typeface="Arial"/>
              <a:buNone/>
            </a:pPr>
            <a:r>
              <a:rPr lang="en" sz="900" b="0" i="0" u="none" strike="noStrike" cap="none">
                <a:solidFill>
                  <a:srgbClr val="434343"/>
                </a:solidFill>
                <a:latin typeface="Inter"/>
                <a:ea typeface="Inter"/>
                <a:cs typeface="Inter"/>
                <a:sym typeface="Inter"/>
              </a:rPr>
              <a:t>COO, AI Solutions Architect</a:t>
            </a:r>
            <a:endParaRPr sz="900" b="0" i="0" u="none" strike="noStrike" cap="none">
              <a:solidFill>
                <a:srgbClr val="434343"/>
              </a:solidFill>
              <a:latin typeface="Inter"/>
              <a:ea typeface="Inter"/>
              <a:cs typeface="Inter"/>
              <a:sym typeface="Inter"/>
            </a:endParaRPr>
          </a:p>
          <a:p>
            <a:pPr marL="0" marR="0" lvl="0" indent="0" algn="ctr" rtl="0">
              <a:lnSpc>
                <a:spcPct val="115000"/>
              </a:lnSpc>
              <a:spcBef>
                <a:spcPts val="0"/>
              </a:spcBef>
              <a:spcAft>
                <a:spcPts val="0"/>
              </a:spcAft>
              <a:buClr>
                <a:srgbClr val="000000"/>
              </a:buClr>
              <a:buSzPts val="900"/>
              <a:buFont typeface="Arial"/>
              <a:buNone/>
            </a:pPr>
            <a:r>
              <a:rPr lang="en" sz="900" b="1" i="0" u="none" strike="noStrike" cap="none">
                <a:solidFill>
                  <a:srgbClr val="434343"/>
                </a:solidFill>
                <a:latin typeface="Inter"/>
                <a:ea typeface="Inter"/>
                <a:cs typeface="Inter"/>
                <a:sym typeface="Inter"/>
              </a:rPr>
              <a:t>Experience: </a:t>
            </a:r>
            <a:r>
              <a:rPr lang="en" sz="900" b="0" i="0" u="none" strike="noStrike" cap="none">
                <a:solidFill>
                  <a:srgbClr val="434343"/>
                </a:solidFill>
                <a:latin typeface="Inter"/>
                <a:ea typeface="Inter"/>
                <a:cs typeface="Inter"/>
                <a:sym typeface="Inter"/>
              </a:rPr>
              <a:t>20+ years in technology Operations</a:t>
            </a:r>
            <a:endParaRPr sz="900" b="0" i="0" u="none" strike="noStrike" cap="none">
              <a:solidFill>
                <a:srgbClr val="434343"/>
              </a:solidFill>
              <a:latin typeface="Inter"/>
              <a:ea typeface="Inter"/>
              <a:cs typeface="Inter"/>
              <a:sym typeface="Inter"/>
            </a:endParaRPr>
          </a:p>
        </p:txBody>
      </p:sp>
      <p:pic>
        <p:nvPicPr>
          <p:cNvPr id="141" name="Google Shape;141;g3181ce1f653_0_0"/>
          <p:cNvPicPr preferRelativeResize="0"/>
          <p:nvPr/>
        </p:nvPicPr>
        <p:blipFill rotWithShape="1">
          <a:blip r:embed="rId6">
            <a:alphaModFix/>
          </a:blip>
          <a:srcRect/>
          <a:stretch/>
        </p:blipFill>
        <p:spPr>
          <a:xfrm>
            <a:off x="2820432" y="1572075"/>
            <a:ext cx="1386462" cy="138646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g3006d51d37c_0_5"/>
          <p:cNvSpPr txBox="1"/>
          <p:nvPr/>
        </p:nvSpPr>
        <p:spPr>
          <a:xfrm>
            <a:off x="1752938" y="1584469"/>
            <a:ext cx="4676700" cy="711600"/>
          </a:xfrm>
          <a:prstGeom prst="rect">
            <a:avLst/>
          </a:prstGeom>
          <a:noFill/>
          <a:ln>
            <a:noFill/>
          </a:ln>
        </p:spPr>
        <p:txBody>
          <a:bodyPr spcFirstLastPara="1" wrap="square" lIns="0" tIns="0" rIns="0" bIns="0" anchor="t" anchorCtr="0">
            <a:noAutofit/>
          </a:bodyPr>
          <a:lstStyle/>
          <a:p>
            <a:pPr marL="0" marR="0" lvl="0" indent="0" algn="l" rtl="0">
              <a:lnSpc>
                <a:spcPct val="140073"/>
              </a:lnSpc>
              <a:spcBef>
                <a:spcPts val="0"/>
              </a:spcBef>
              <a:spcAft>
                <a:spcPts val="0"/>
              </a:spcAft>
              <a:buClr>
                <a:srgbClr val="000000"/>
              </a:buClr>
              <a:buSzPts val="1100"/>
              <a:buFont typeface="Arial"/>
              <a:buNone/>
            </a:pPr>
            <a:r>
              <a:rPr lang="en" sz="1100" b="1" i="0" u="none" strike="noStrike" cap="none">
                <a:solidFill>
                  <a:srgbClr val="000000"/>
                </a:solidFill>
                <a:latin typeface="Inter"/>
                <a:ea typeface="Inter"/>
                <a:cs typeface="Inter"/>
                <a:sym typeface="Inter"/>
              </a:rPr>
              <a:t>10 PhDs</a:t>
            </a:r>
            <a:endParaRPr sz="1100" b="1" i="0" u="none" strike="noStrike" cap="none">
              <a:solidFill>
                <a:srgbClr val="000000"/>
              </a:solidFill>
              <a:latin typeface="Inter"/>
              <a:ea typeface="Inter"/>
              <a:cs typeface="Inter"/>
              <a:sym typeface="Inter"/>
            </a:endParaRPr>
          </a:p>
          <a:p>
            <a:pPr marL="0" marR="0" lvl="0" indent="0" algn="l" rtl="0">
              <a:lnSpc>
                <a:spcPct val="140073"/>
              </a:lnSpc>
              <a:spcBef>
                <a:spcPts val="0"/>
              </a:spcBef>
              <a:spcAft>
                <a:spcPts val="0"/>
              </a:spcAft>
              <a:buClr>
                <a:srgbClr val="000000"/>
              </a:buClr>
              <a:buSzPts val="1100"/>
              <a:buFont typeface="Arial"/>
              <a:buNone/>
            </a:pPr>
            <a:r>
              <a:rPr lang="en" sz="1100" b="0" i="0" u="none" strike="noStrike" cap="none">
                <a:solidFill>
                  <a:srgbClr val="434343"/>
                </a:solidFill>
                <a:latin typeface="Inter"/>
                <a:ea typeface="Inter"/>
                <a:cs typeface="Inter"/>
                <a:sym typeface="Inter"/>
              </a:rPr>
              <a:t>The team is lead by</a:t>
            </a:r>
            <a:r>
              <a:rPr lang="en" sz="1100" b="1" i="0" u="none" strike="noStrike" cap="none">
                <a:solidFill>
                  <a:srgbClr val="434343"/>
                </a:solidFill>
                <a:latin typeface="Inter"/>
                <a:ea typeface="Inter"/>
                <a:cs typeface="Inter"/>
                <a:sym typeface="Inter"/>
              </a:rPr>
              <a:t> 10 PhDs </a:t>
            </a:r>
            <a:r>
              <a:rPr lang="en" sz="1100" b="0" i="0" u="none" strike="noStrike" cap="none">
                <a:solidFill>
                  <a:srgbClr val="434343"/>
                </a:solidFill>
                <a:latin typeface="Inter"/>
                <a:ea typeface="Inter"/>
                <a:cs typeface="Inter"/>
                <a:sym typeface="Inter"/>
              </a:rPr>
              <a:t>and additional PhDs with domain specific expertise can be on-boarded based on project needs.</a:t>
            </a:r>
            <a:endParaRPr sz="1100" b="1" i="0" u="none" strike="noStrike" cap="none">
              <a:solidFill>
                <a:srgbClr val="434343"/>
              </a:solidFill>
              <a:latin typeface="Inter"/>
              <a:ea typeface="Inter"/>
              <a:cs typeface="Inter"/>
              <a:sym typeface="Inter"/>
            </a:endParaRPr>
          </a:p>
        </p:txBody>
      </p:sp>
      <p:sp>
        <p:nvSpPr>
          <p:cNvPr id="147" name="Google Shape;147;g3006d51d37c_0_5"/>
          <p:cNvSpPr txBox="1"/>
          <p:nvPr/>
        </p:nvSpPr>
        <p:spPr>
          <a:xfrm>
            <a:off x="1752938" y="2705994"/>
            <a:ext cx="4676700" cy="643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100"/>
              <a:buFont typeface="Arial"/>
              <a:buNone/>
            </a:pPr>
            <a:r>
              <a:rPr lang="en" sz="1100" b="1" i="0" u="none" strike="noStrike" cap="none">
                <a:solidFill>
                  <a:srgbClr val="000000"/>
                </a:solidFill>
                <a:latin typeface="Inter"/>
                <a:ea typeface="Inter"/>
                <a:cs typeface="Inter"/>
                <a:sym typeface="Inter"/>
              </a:rPr>
              <a:t>50 Solutions Architects, Engineers and Developers</a:t>
            </a:r>
            <a:endParaRPr sz="1100" b="1" i="0" u="none" strike="noStrike" cap="none">
              <a:solidFill>
                <a:srgbClr val="000000"/>
              </a:solidFill>
              <a:latin typeface="Inter"/>
              <a:ea typeface="Inter"/>
              <a:cs typeface="Inter"/>
              <a:sym typeface="Inter"/>
            </a:endParaRPr>
          </a:p>
          <a:p>
            <a:pPr marL="0" marR="0" lvl="0" indent="0" algn="l" rtl="0">
              <a:lnSpc>
                <a:spcPct val="140000"/>
              </a:lnSpc>
              <a:spcBef>
                <a:spcPts val="0"/>
              </a:spcBef>
              <a:spcAft>
                <a:spcPts val="0"/>
              </a:spcAft>
              <a:buClr>
                <a:srgbClr val="000000"/>
              </a:buClr>
              <a:buSzPts val="1100"/>
              <a:buFont typeface="Arial"/>
              <a:buNone/>
            </a:pPr>
            <a:r>
              <a:rPr lang="en" sz="1100" b="0" i="0" u="none" strike="noStrike" cap="none">
                <a:solidFill>
                  <a:srgbClr val="434343"/>
                </a:solidFill>
                <a:latin typeface="Inter"/>
                <a:ea typeface="Inter"/>
                <a:cs typeface="Inter"/>
                <a:sym typeface="Inter"/>
              </a:rPr>
              <a:t>Expertise in Software Engineering in Computer Vision, Natural Language Processing, Object Detection and Predictive Analytics</a:t>
            </a:r>
            <a:endParaRPr sz="1100" b="0" i="0" u="none" strike="noStrike" cap="none">
              <a:solidFill>
                <a:srgbClr val="434343"/>
              </a:solidFill>
              <a:latin typeface="Inter"/>
              <a:ea typeface="Inter"/>
              <a:cs typeface="Inter"/>
              <a:sym typeface="Inter"/>
            </a:endParaRPr>
          </a:p>
        </p:txBody>
      </p:sp>
      <p:sp>
        <p:nvSpPr>
          <p:cNvPr id="148" name="Google Shape;148;g3006d51d37c_0_5"/>
          <p:cNvSpPr txBox="1"/>
          <p:nvPr/>
        </p:nvSpPr>
        <p:spPr>
          <a:xfrm>
            <a:off x="656662" y="549469"/>
            <a:ext cx="4613700" cy="461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3000" b="1" i="0" u="none" strike="noStrike" cap="none">
                <a:solidFill>
                  <a:srgbClr val="1E1F20"/>
                </a:solidFill>
                <a:latin typeface="Inter"/>
                <a:ea typeface="Inter"/>
                <a:cs typeface="Inter"/>
                <a:sym typeface="Inter"/>
              </a:rPr>
              <a:t>Our Development Team</a:t>
            </a:r>
            <a:endParaRPr sz="3000" b="1" i="0" u="none" strike="noStrike" cap="none">
              <a:solidFill>
                <a:srgbClr val="1E1F20"/>
              </a:solidFill>
              <a:latin typeface="Inter"/>
              <a:ea typeface="Inter"/>
              <a:cs typeface="Inter"/>
              <a:sym typeface="Inter"/>
            </a:endParaRPr>
          </a:p>
        </p:txBody>
      </p:sp>
      <p:sp>
        <p:nvSpPr>
          <p:cNvPr id="149" name="Google Shape;149;g3006d51d37c_0_5"/>
          <p:cNvSpPr txBox="1"/>
          <p:nvPr/>
        </p:nvSpPr>
        <p:spPr>
          <a:xfrm>
            <a:off x="1752938" y="3659463"/>
            <a:ext cx="4676700" cy="937800"/>
          </a:xfrm>
          <a:prstGeom prst="rect">
            <a:avLst/>
          </a:prstGeom>
          <a:noFill/>
          <a:ln>
            <a:noFill/>
          </a:ln>
        </p:spPr>
        <p:txBody>
          <a:bodyPr spcFirstLastPara="1" wrap="square" lIns="45725" tIns="45725" rIns="45725" bIns="45725" anchor="t" anchorCtr="0">
            <a:noAutofit/>
          </a:bodyPr>
          <a:lstStyle/>
          <a:p>
            <a:pPr marL="0" marR="0" lvl="0" indent="0" algn="l" rtl="0">
              <a:lnSpc>
                <a:spcPct val="140073"/>
              </a:lnSpc>
              <a:spcBef>
                <a:spcPts val="0"/>
              </a:spcBef>
              <a:spcAft>
                <a:spcPts val="0"/>
              </a:spcAft>
              <a:buClr>
                <a:srgbClr val="000000"/>
              </a:buClr>
              <a:buSzPts val="1100"/>
              <a:buFont typeface="Arial"/>
              <a:buNone/>
            </a:pPr>
            <a:r>
              <a:rPr lang="en" sz="1100" b="1" i="0" u="none" strike="noStrike" cap="none">
                <a:solidFill>
                  <a:schemeClr val="dk1"/>
                </a:solidFill>
                <a:latin typeface="Inter"/>
                <a:ea typeface="Inter"/>
                <a:cs typeface="Inter"/>
                <a:sym typeface="Inter"/>
              </a:rPr>
              <a:t>Happy Clients</a:t>
            </a:r>
            <a:endParaRPr sz="1100" b="1" i="0" u="none" strike="noStrike" cap="none">
              <a:solidFill>
                <a:schemeClr val="dk1"/>
              </a:solidFill>
              <a:latin typeface="Inter"/>
              <a:ea typeface="Inter"/>
              <a:cs typeface="Inter"/>
              <a:sym typeface="Inter"/>
            </a:endParaRPr>
          </a:p>
          <a:p>
            <a:pPr marL="0" marR="0" lvl="0" indent="0" algn="l" rtl="0">
              <a:lnSpc>
                <a:spcPct val="140000"/>
              </a:lnSpc>
              <a:spcBef>
                <a:spcPts val="0"/>
              </a:spcBef>
              <a:spcAft>
                <a:spcPts val="0"/>
              </a:spcAft>
              <a:buClr>
                <a:srgbClr val="000000"/>
              </a:buClr>
              <a:buSzPts val="1100"/>
              <a:buFont typeface="Arial"/>
              <a:buNone/>
            </a:pPr>
            <a:r>
              <a:rPr lang="en" sz="1100" b="1" i="0" u="none" strike="noStrike" cap="none">
                <a:solidFill>
                  <a:srgbClr val="434343"/>
                </a:solidFill>
                <a:latin typeface="Inter"/>
                <a:ea typeface="Inter"/>
                <a:cs typeface="Inter"/>
                <a:sym typeface="Inter"/>
              </a:rPr>
              <a:t>USA, UK, EU &amp; UAE</a:t>
            </a:r>
            <a:endParaRPr sz="1100" b="1" i="0" u="none" strike="noStrike" cap="none">
              <a:solidFill>
                <a:srgbClr val="434343"/>
              </a:solidFill>
              <a:latin typeface="Inter"/>
              <a:ea typeface="Inter"/>
              <a:cs typeface="Inter"/>
              <a:sym typeface="Inter"/>
            </a:endParaRPr>
          </a:p>
          <a:p>
            <a:pPr marL="0" marR="0" lvl="0" indent="0" algn="l" rtl="0">
              <a:lnSpc>
                <a:spcPct val="140000"/>
              </a:lnSpc>
              <a:spcBef>
                <a:spcPts val="0"/>
              </a:spcBef>
              <a:spcAft>
                <a:spcPts val="0"/>
              </a:spcAft>
              <a:buClr>
                <a:srgbClr val="000000"/>
              </a:buClr>
              <a:buSzPts val="1100"/>
              <a:buFont typeface="Arial"/>
              <a:buNone/>
            </a:pPr>
            <a:r>
              <a:rPr lang="en" sz="1100" b="0" i="0" u="none" strike="noStrike" cap="none">
                <a:solidFill>
                  <a:srgbClr val="434343"/>
                </a:solidFill>
                <a:latin typeface="Inter"/>
                <a:ea typeface="Inter"/>
                <a:cs typeface="Inter"/>
                <a:sym typeface="Inter"/>
              </a:rPr>
              <a:t>Successfully implemented 50+ innovative software solutions across various industries.</a:t>
            </a:r>
            <a:endParaRPr sz="1100" b="0" i="0" u="none" strike="noStrike" cap="none">
              <a:solidFill>
                <a:srgbClr val="434343"/>
              </a:solidFill>
              <a:latin typeface="Inter"/>
              <a:ea typeface="Inter"/>
              <a:cs typeface="Inter"/>
              <a:sym typeface="Inter"/>
            </a:endParaRPr>
          </a:p>
        </p:txBody>
      </p:sp>
      <p:grpSp>
        <p:nvGrpSpPr>
          <p:cNvPr id="150" name="Google Shape;150;g3006d51d37c_0_5"/>
          <p:cNvGrpSpPr/>
          <p:nvPr/>
        </p:nvGrpSpPr>
        <p:grpSpPr>
          <a:xfrm>
            <a:off x="656639" y="1471339"/>
            <a:ext cx="937852" cy="937852"/>
            <a:chOff x="755625" y="686000"/>
            <a:chExt cx="935700" cy="935700"/>
          </a:xfrm>
        </p:grpSpPr>
        <p:sp>
          <p:nvSpPr>
            <p:cNvPr id="151" name="Google Shape;151;g3006d51d37c_0_5"/>
            <p:cNvSpPr/>
            <p:nvPr/>
          </p:nvSpPr>
          <p:spPr>
            <a:xfrm>
              <a:off x="755625" y="686000"/>
              <a:ext cx="935700" cy="935700"/>
            </a:xfrm>
            <a:prstGeom prst="roundRect">
              <a:avLst>
                <a:gd name="adj" fmla="val 17236"/>
              </a:avLst>
            </a:prstGeom>
            <a:solidFill>
              <a:srgbClr val="E5F5F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Inter"/>
                <a:ea typeface="Inter"/>
                <a:cs typeface="Inter"/>
                <a:sym typeface="Inter"/>
              </a:endParaRPr>
            </a:p>
          </p:txBody>
        </p:sp>
        <p:pic>
          <p:nvPicPr>
            <p:cNvPr id="152" name="Google Shape;152;g3006d51d37c_0_5"/>
            <p:cNvPicPr preferRelativeResize="0"/>
            <p:nvPr/>
          </p:nvPicPr>
          <p:blipFill rotWithShape="1">
            <a:blip r:embed="rId3">
              <a:alphaModFix/>
            </a:blip>
            <a:srcRect/>
            <a:stretch/>
          </p:blipFill>
          <p:spPr>
            <a:xfrm>
              <a:off x="940513" y="879231"/>
              <a:ext cx="565926" cy="565926"/>
            </a:xfrm>
            <a:prstGeom prst="rect">
              <a:avLst/>
            </a:prstGeom>
            <a:noFill/>
            <a:ln>
              <a:noFill/>
            </a:ln>
          </p:spPr>
        </p:pic>
      </p:grpSp>
      <p:grpSp>
        <p:nvGrpSpPr>
          <p:cNvPr id="153" name="Google Shape;153;g3006d51d37c_0_5"/>
          <p:cNvGrpSpPr/>
          <p:nvPr/>
        </p:nvGrpSpPr>
        <p:grpSpPr>
          <a:xfrm>
            <a:off x="656639" y="2565315"/>
            <a:ext cx="937852" cy="937852"/>
            <a:chOff x="755625" y="2110300"/>
            <a:chExt cx="935700" cy="935700"/>
          </a:xfrm>
        </p:grpSpPr>
        <p:sp>
          <p:nvSpPr>
            <p:cNvPr id="154" name="Google Shape;154;g3006d51d37c_0_5"/>
            <p:cNvSpPr/>
            <p:nvPr/>
          </p:nvSpPr>
          <p:spPr>
            <a:xfrm>
              <a:off x="755625" y="2110300"/>
              <a:ext cx="935700" cy="935700"/>
            </a:xfrm>
            <a:prstGeom prst="roundRect">
              <a:avLst>
                <a:gd name="adj" fmla="val 17236"/>
              </a:avLst>
            </a:prstGeom>
            <a:solidFill>
              <a:srgbClr val="E5F5F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Inter"/>
                <a:ea typeface="Inter"/>
                <a:cs typeface="Inter"/>
                <a:sym typeface="Inter"/>
              </a:endParaRPr>
            </a:p>
          </p:txBody>
        </p:sp>
        <p:pic>
          <p:nvPicPr>
            <p:cNvPr id="155" name="Google Shape;155;g3006d51d37c_0_5"/>
            <p:cNvPicPr preferRelativeResize="0"/>
            <p:nvPr/>
          </p:nvPicPr>
          <p:blipFill rotWithShape="1">
            <a:blip r:embed="rId4">
              <a:alphaModFix/>
            </a:blip>
            <a:srcRect/>
            <a:stretch/>
          </p:blipFill>
          <p:spPr>
            <a:xfrm>
              <a:off x="940525" y="2295188"/>
              <a:ext cx="565926" cy="565926"/>
            </a:xfrm>
            <a:prstGeom prst="rect">
              <a:avLst/>
            </a:prstGeom>
            <a:noFill/>
            <a:ln>
              <a:noFill/>
            </a:ln>
          </p:spPr>
        </p:pic>
      </p:grpSp>
      <p:grpSp>
        <p:nvGrpSpPr>
          <p:cNvPr id="156" name="Google Shape;156;g3006d51d37c_0_5"/>
          <p:cNvGrpSpPr/>
          <p:nvPr/>
        </p:nvGrpSpPr>
        <p:grpSpPr>
          <a:xfrm>
            <a:off x="656676" y="3659301"/>
            <a:ext cx="937852" cy="937759"/>
            <a:chOff x="755625" y="3623625"/>
            <a:chExt cx="935700" cy="935700"/>
          </a:xfrm>
        </p:grpSpPr>
        <p:sp>
          <p:nvSpPr>
            <p:cNvPr id="157" name="Google Shape;157;g3006d51d37c_0_5"/>
            <p:cNvSpPr/>
            <p:nvPr/>
          </p:nvSpPr>
          <p:spPr>
            <a:xfrm>
              <a:off x="755625" y="3623625"/>
              <a:ext cx="935700" cy="935700"/>
            </a:xfrm>
            <a:prstGeom prst="roundRect">
              <a:avLst>
                <a:gd name="adj" fmla="val 17236"/>
              </a:avLst>
            </a:prstGeom>
            <a:solidFill>
              <a:srgbClr val="E5F5F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Inter"/>
                <a:ea typeface="Inter"/>
                <a:cs typeface="Inter"/>
                <a:sym typeface="Inter"/>
              </a:endParaRPr>
            </a:p>
          </p:txBody>
        </p:sp>
        <p:pic>
          <p:nvPicPr>
            <p:cNvPr id="158" name="Google Shape;158;g3006d51d37c_0_5"/>
            <p:cNvPicPr preferRelativeResize="0"/>
            <p:nvPr/>
          </p:nvPicPr>
          <p:blipFill rotWithShape="1">
            <a:blip r:embed="rId5">
              <a:alphaModFix/>
            </a:blip>
            <a:srcRect/>
            <a:stretch/>
          </p:blipFill>
          <p:spPr>
            <a:xfrm>
              <a:off x="940525" y="3817669"/>
              <a:ext cx="565926" cy="565926"/>
            </a:xfrm>
            <a:prstGeom prst="rect">
              <a:avLst/>
            </a:prstGeom>
            <a:noFill/>
            <a:ln>
              <a:noFill/>
            </a:ln>
          </p:spPr>
        </p:pic>
      </p:grpSp>
      <p:sp>
        <p:nvSpPr>
          <p:cNvPr id="159" name="Google Shape;159;g3006d51d37c_0_5"/>
          <p:cNvSpPr txBox="1"/>
          <p:nvPr/>
        </p:nvSpPr>
        <p:spPr>
          <a:xfrm>
            <a:off x="619178" y="1030783"/>
            <a:ext cx="1253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Islamabad </a:t>
            </a:r>
            <a:endParaRPr sz="1400" b="0" i="0" u="none" strike="noStrike" cap="none">
              <a:solidFill>
                <a:srgbClr val="000000"/>
              </a:solidFill>
              <a:latin typeface="Arial"/>
              <a:ea typeface="Arial"/>
              <a:cs typeface="Arial"/>
              <a:sym typeface="Arial"/>
            </a:endParaRPr>
          </a:p>
        </p:txBody>
      </p:sp>
      <p:sp>
        <p:nvSpPr>
          <p:cNvPr id="160" name="Google Shape;160;g3006d51d37c_0_5"/>
          <p:cNvSpPr txBox="1"/>
          <p:nvPr/>
        </p:nvSpPr>
        <p:spPr>
          <a:xfrm>
            <a:off x="1594491" y="1030783"/>
            <a:ext cx="1253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Lahore</a:t>
            </a:r>
            <a:endParaRPr sz="1400" b="0" i="0" u="none" strike="noStrike" cap="none">
              <a:solidFill>
                <a:srgbClr val="000000"/>
              </a:solidFill>
              <a:latin typeface="Arial"/>
              <a:ea typeface="Arial"/>
              <a:cs typeface="Arial"/>
              <a:sym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646393-C08E-4F4A-8486-5144110D8210}"/>
              </a:ext>
            </a:extLst>
          </p:cNvPr>
          <p:cNvSpPr txBox="1"/>
          <p:nvPr/>
        </p:nvSpPr>
        <p:spPr>
          <a:xfrm>
            <a:off x="660400" y="1016000"/>
            <a:ext cx="5334000" cy="1651000"/>
          </a:xfrm>
          <a:prstGeom prst="rect">
            <a:avLst/>
          </a:prstGeom>
          <a:noFill/>
        </p:spPr>
        <p:txBody>
          <a:bodyPr vertOverflow="overflow" vert="horz" wrap="square" rtlCol="0" anchor="t">
            <a:noAutofit/>
          </a:bodyPr>
          <a:lstStyle/>
          <a:p>
            <a:pPr algn="l"/>
            <a:r>
              <a:rPr lang="en-US" sz="4000" b="1">
                <a:solidFill>
                  <a:srgbClr val="1E1F20"/>
                </a:solidFill>
                <a:latin typeface="Inter"/>
                <a:ea typeface="Inter"/>
              </a:rPr>
              <a:t>Building Your
AI Workforce</a:t>
            </a:r>
          </a:p>
        </p:txBody>
      </p:sp>
      <p:sp>
        <p:nvSpPr>
          <p:cNvPr id="3" name="TextBox 2">
            <a:extLst>
              <a:ext uri="{FF2B5EF4-FFF2-40B4-BE49-F238E27FC236}">
                <a16:creationId xmlns:a16="http://schemas.microsoft.com/office/drawing/2014/main" id="{D059F630-0DC2-49AB-8D11-80572980E4D8}"/>
              </a:ext>
            </a:extLst>
          </p:cNvPr>
          <p:cNvSpPr txBox="1"/>
          <p:nvPr/>
        </p:nvSpPr>
        <p:spPr>
          <a:xfrm>
            <a:off x="660400" y="2730500"/>
            <a:ext cx="5334000" cy="571500"/>
          </a:xfrm>
          <a:prstGeom prst="rect">
            <a:avLst/>
          </a:prstGeom>
          <a:noFill/>
        </p:spPr>
        <p:txBody>
          <a:bodyPr vertOverflow="overflow" vert="horz" wrap="square" rtlCol="0" anchor="t">
            <a:noAutofit/>
          </a:bodyPr>
          <a:lstStyle/>
          <a:p>
            <a:pPr algn="l"/>
            <a:r>
              <a:rPr lang="en-US" sz="2400" b="1">
                <a:solidFill>
                  <a:srgbClr val="0088CC"/>
                </a:solidFill>
                <a:latin typeface="Inter"/>
                <a:ea typeface="Inter"/>
              </a:rPr>
              <a:t>What's Actually Working</a:t>
            </a:r>
          </a:p>
        </p:txBody>
      </p:sp>
      <p:sp>
        <p:nvSpPr>
          <p:cNvPr id="4" name="TextBox 3">
            <a:extLst>
              <a:ext uri="{FF2B5EF4-FFF2-40B4-BE49-F238E27FC236}">
                <a16:creationId xmlns:a16="http://schemas.microsoft.com/office/drawing/2014/main" id="{651BB71F-FF65-4897-A917-957F0D4732D7}"/>
              </a:ext>
            </a:extLst>
          </p:cNvPr>
          <p:cNvSpPr txBox="1"/>
          <p:nvPr/>
        </p:nvSpPr>
        <p:spPr>
          <a:xfrm>
            <a:off x="660400" y="3556000"/>
            <a:ext cx="5334000" cy="635000"/>
          </a:xfrm>
          <a:prstGeom prst="rect">
            <a:avLst/>
          </a:prstGeom>
          <a:noFill/>
        </p:spPr>
        <p:txBody>
          <a:bodyPr vertOverflow="overflow" vert="horz" wrap="square" rtlCol="0" anchor="t">
            <a:noAutofit/>
          </a:bodyPr>
          <a:lstStyle/>
          <a:p>
            <a:pPr algn="l"/>
            <a:r>
              <a:rPr lang="en-US">
                <a:solidFill>
                  <a:srgbClr val="666666"/>
                </a:solidFill>
                <a:latin typeface="Inter"/>
                <a:ea typeface="Inter"/>
              </a:rPr>
              <a:t>Kehr Technologies  |  Feb 19, 2026
5360 Legacy Dr  |  9:30–11:00 AM CST</a:t>
            </a:r>
          </a:p>
        </p:txBody>
      </p:sp>
    </p:spTree>
    <p:extLst>
      <p:ext uri="{BB962C8B-B14F-4D97-AF65-F5344CB8AC3E}">
        <p14:creationId xmlns:p14="http://schemas.microsoft.com/office/powerpoint/2010/main" val="2212781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9E35F6-291F-4819-BA2D-CD0E9202CA5D}"/>
              </a:ext>
            </a:extLst>
          </p:cNvPr>
          <p:cNvSpPr txBox="1"/>
          <p:nvPr/>
        </p:nvSpPr>
        <p:spPr>
          <a:xfrm>
            <a:off x="660400" y="254000"/>
            <a:ext cx="2540000" cy="698500"/>
          </a:xfrm>
          <a:prstGeom prst="rect">
            <a:avLst/>
          </a:prstGeom>
          <a:noFill/>
        </p:spPr>
        <p:txBody>
          <a:bodyPr vertOverflow="overflow" vert="horz" wrap="square" rtlCol="0" anchor="t">
            <a:noAutofit/>
          </a:bodyPr>
          <a:lstStyle/>
          <a:p>
            <a:pPr algn="l"/>
            <a:r>
              <a:rPr lang="en-US" sz="4000" b="1">
                <a:solidFill>
                  <a:srgbClr val="0088CC"/>
                </a:solidFill>
                <a:latin typeface="Inter"/>
                <a:ea typeface="Inter"/>
              </a:rPr>
              <a:t>1900</a:t>
            </a:r>
          </a:p>
        </p:txBody>
      </p:sp>
      <p:sp>
        <p:nvSpPr>
          <p:cNvPr id="3" name="TextBox 2">
            <a:extLst>
              <a:ext uri="{FF2B5EF4-FFF2-40B4-BE49-F238E27FC236}">
                <a16:creationId xmlns:a16="http://schemas.microsoft.com/office/drawing/2014/main" id="{A0168B80-3FDC-4A8D-A6DF-9217ECE4CC7C}"/>
              </a:ext>
            </a:extLst>
          </p:cNvPr>
          <p:cNvSpPr txBox="1"/>
          <p:nvPr/>
        </p:nvSpPr>
        <p:spPr>
          <a:xfrm>
            <a:off x="660400" y="990600"/>
            <a:ext cx="4572000" cy="698500"/>
          </a:xfrm>
          <a:prstGeom prst="rect">
            <a:avLst/>
          </a:prstGeom>
          <a:noFill/>
        </p:spPr>
        <p:txBody>
          <a:bodyPr vertOverflow="overflow" vert="horz" wrap="square" rtlCol="0" anchor="t">
            <a:noAutofit/>
          </a:bodyPr>
          <a:lstStyle/>
          <a:p>
            <a:pPr algn="l"/>
            <a:r>
              <a:rPr lang="en-US" sz="1600">
                <a:solidFill>
                  <a:srgbClr val="333333"/>
                </a:solidFill>
                <a:latin typeface="Inter"/>
                <a:ea typeface="Inter"/>
              </a:rPr>
              <a:t>Dozens of laborers. Weeks of work.
Children in fields with scythes.</a:t>
            </a:r>
          </a:p>
        </p:txBody>
      </p:sp>
      <p:sp>
        <p:nvSpPr>
          <p:cNvPr id="4" name="Rectangle: Rounded Corners 3">
            <a:extLst>
              <a:ext uri="{FF2B5EF4-FFF2-40B4-BE49-F238E27FC236}">
                <a16:creationId xmlns:a16="http://schemas.microsoft.com/office/drawing/2014/main" id="{37424F45-15CB-4D55-9B34-1FE1B999BF42}"/>
              </a:ext>
            </a:extLst>
          </p:cNvPr>
          <p:cNvSpPr/>
          <p:nvPr/>
        </p:nvSpPr>
        <p:spPr>
          <a:xfrm>
            <a:off x="660400" y="1778000"/>
            <a:ext cx="2794000" cy="1651000"/>
          </a:xfrm>
          <a:prstGeom prst="roundRect">
            <a:avLst/>
          </a:prstGeom>
          <a:solidFill>
            <a:srgbClr val="E8F4FD"/>
          </a:solidFill>
          <a:ln w="12700" cap="flat" cmpd="sng" algn="ctr">
            <a:solidFill>
              <a:srgbClr val="0088C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AF909E75-DD4A-469F-AB2D-5340B7B3F660}"/>
              </a:ext>
            </a:extLst>
          </p:cNvPr>
          <p:cNvSpPr txBox="1"/>
          <p:nvPr/>
        </p:nvSpPr>
        <p:spPr>
          <a:xfrm>
            <a:off x="787400" y="2159000"/>
            <a:ext cx="2540000" cy="635000"/>
          </a:xfrm>
          <a:prstGeom prst="rect">
            <a:avLst/>
          </a:prstGeom>
          <a:noFill/>
        </p:spPr>
        <p:txBody>
          <a:bodyPr vertOverflow="overflow" vert="horz" wrap="square" rtlCol="0" anchor="t">
            <a:noAutofit/>
          </a:bodyPr>
          <a:lstStyle/>
          <a:p>
            <a:pPr algn="l"/>
            <a:r>
              <a:rPr lang="en-US">
                <a:solidFill>
                  <a:srgbClr val="0088CC"/>
                </a:solidFill>
                <a:latin typeface="Inter"/>
                <a:ea typeface="Inter"/>
              </a:rPr>
              <a:t>INSERT IMAGE:
Historical Harvest</a:t>
            </a:r>
          </a:p>
        </p:txBody>
      </p:sp>
      <p:sp>
        <p:nvSpPr>
          <p:cNvPr id="6" name="TextBox 5">
            <a:extLst>
              <a:ext uri="{FF2B5EF4-FFF2-40B4-BE49-F238E27FC236}">
                <a16:creationId xmlns:a16="http://schemas.microsoft.com/office/drawing/2014/main" id="{CB699B1C-46BC-4B33-88A6-14D3C40A4D77}"/>
              </a:ext>
            </a:extLst>
          </p:cNvPr>
          <p:cNvSpPr txBox="1"/>
          <p:nvPr/>
        </p:nvSpPr>
        <p:spPr>
          <a:xfrm>
            <a:off x="3810000" y="1778000"/>
            <a:ext cx="2540000" cy="571500"/>
          </a:xfrm>
          <a:prstGeom prst="rect">
            <a:avLst/>
          </a:prstGeom>
          <a:noFill/>
        </p:spPr>
        <p:txBody>
          <a:bodyPr vertOverflow="overflow" vert="horz" wrap="square" rtlCol="0" anchor="t">
            <a:noAutofit/>
          </a:bodyPr>
          <a:lstStyle/>
          <a:p>
            <a:pPr algn="l"/>
            <a:r>
              <a:rPr lang="en-US" sz="3200" b="1">
                <a:solidFill>
                  <a:srgbClr val="1E1F20"/>
                </a:solidFill>
                <a:latin typeface="Inter"/>
                <a:ea typeface="Inter"/>
              </a:rPr>
              <a:t>Today</a:t>
            </a:r>
          </a:p>
        </p:txBody>
      </p:sp>
      <p:sp>
        <p:nvSpPr>
          <p:cNvPr id="7" name="TextBox 6">
            <a:extLst>
              <a:ext uri="{FF2B5EF4-FFF2-40B4-BE49-F238E27FC236}">
                <a16:creationId xmlns:a16="http://schemas.microsoft.com/office/drawing/2014/main" id="{43A63FE2-A7F4-4EFF-93E3-B03BD5D44608}"/>
              </a:ext>
            </a:extLst>
          </p:cNvPr>
          <p:cNvSpPr txBox="1"/>
          <p:nvPr/>
        </p:nvSpPr>
        <p:spPr>
          <a:xfrm>
            <a:off x="3810000" y="2387600"/>
            <a:ext cx="3810000" cy="508000"/>
          </a:xfrm>
          <a:prstGeom prst="rect">
            <a:avLst/>
          </a:prstGeom>
          <a:noFill/>
        </p:spPr>
        <p:txBody>
          <a:bodyPr vertOverflow="overflow" vert="horz" wrap="square" rtlCol="0" anchor="t">
            <a:noAutofit/>
          </a:bodyPr>
          <a:lstStyle/>
          <a:p>
            <a:pPr algn="l"/>
            <a:r>
              <a:rPr lang="en-US" sz="1600">
                <a:solidFill>
                  <a:srgbClr val="333333"/>
                </a:solidFill>
                <a:latin typeface="Inter"/>
                <a:ea typeface="Inter"/>
              </a:rPr>
              <a:t>One machine. One operator. Hours.</a:t>
            </a:r>
          </a:p>
        </p:txBody>
      </p:sp>
      <p:sp>
        <p:nvSpPr>
          <p:cNvPr id="8" name="Rectangle: Rounded Corners 7">
            <a:extLst>
              <a:ext uri="{FF2B5EF4-FFF2-40B4-BE49-F238E27FC236}">
                <a16:creationId xmlns:a16="http://schemas.microsoft.com/office/drawing/2014/main" id="{D3024502-FB82-4CCE-8BB7-1A2C1FBE3003}"/>
              </a:ext>
            </a:extLst>
          </p:cNvPr>
          <p:cNvSpPr/>
          <p:nvPr/>
        </p:nvSpPr>
        <p:spPr>
          <a:xfrm>
            <a:off x="3810000" y="2984500"/>
            <a:ext cx="2794000" cy="1651000"/>
          </a:xfrm>
          <a:prstGeom prst="roundRect">
            <a:avLst/>
          </a:prstGeom>
          <a:solidFill>
            <a:srgbClr val="E8F4FD"/>
          </a:solidFill>
          <a:ln w="12700" cap="flat" cmpd="sng" algn="ctr">
            <a:solidFill>
              <a:srgbClr val="0088C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E499BC46-1C26-492B-873A-97177392BBEB}"/>
              </a:ext>
            </a:extLst>
          </p:cNvPr>
          <p:cNvSpPr txBox="1"/>
          <p:nvPr/>
        </p:nvSpPr>
        <p:spPr>
          <a:xfrm>
            <a:off x="3937000" y="3365500"/>
            <a:ext cx="2540000" cy="635000"/>
          </a:xfrm>
          <a:prstGeom prst="rect">
            <a:avLst/>
          </a:prstGeom>
          <a:noFill/>
        </p:spPr>
        <p:txBody>
          <a:bodyPr vertOverflow="overflow" vert="horz" wrap="square" rtlCol="0" anchor="t">
            <a:noAutofit/>
          </a:bodyPr>
          <a:lstStyle/>
          <a:p>
            <a:pPr algn="l"/>
            <a:r>
              <a:rPr lang="en-US" dirty="0">
                <a:solidFill>
                  <a:srgbClr val="0088CC"/>
                </a:solidFill>
                <a:latin typeface="Inter"/>
                <a:ea typeface="Inter"/>
              </a:rPr>
              <a:t>INSERT IMAGE:
Modern Combine</a:t>
            </a:r>
          </a:p>
        </p:txBody>
      </p:sp>
    </p:spTree>
    <p:extLst>
      <p:ext uri="{BB962C8B-B14F-4D97-AF65-F5344CB8AC3E}">
        <p14:creationId xmlns:p14="http://schemas.microsoft.com/office/powerpoint/2010/main" val="484045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DA09C-6062-4D67-BE39-11F8427502D9}"/>
              </a:ext>
            </a:extLst>
          </p:cNvPr>
          <p:cNvSpPr txBox="1"/>
          <p:nvPr/>
        </p:nvSpPr>
        <p:spPr>
          <a:xfrm>
            <a:off x="660400" y="381000"/>
            <a:ext cx="5715000" cy="698500"/>
          </a:xfrm>
          <a:prstGeom prst="rect">
            <a:avLst/>
          </a:prstGeom>
          <a:noFill/>
        </p:spPr>
        <p:txBody>
          <a:bodyPr vertOverflow="overflow" vert="horz" wrap="square" rtlCol="0" anchor="t">
            <a:noAutofit/>
          </a:bodyPr>
          <a:lstStyle/>
          <a:p>
            <a:pPr algn="l"/>
            <a:r>
              <a:rPr lang="en-US" sz="3600" b="1" i="1">
                <a:solidFill>
                  <a:srgbClr val="0088CC"/>
                </a:solidFill>
                <a:latin typeface="Inter"/>
                <a:ea typeface="Inter"/>
              </a:rPr>
              <a:t>"Number please."</a:t>
            </a:r>
          </a:p>
        </p:txBody>
      </p:sp>
      <p:sp>
        <p:nvSpPr>
          <p:cNvPr id="3" name="TextBox 2">
            <a:extLst>
              <a:ext uri="{FF2B5EF4-FFF2-40B4-BE49-F238E27FC236}">
                <a16:creationId xmlns:a16="http://schemas.microsoft.com/office/drawing/2014/main" id="{922AF24D-6910-4E33-A9C9-8D766AF9B7C7}"/>
              </a:ext>
            </a:extLst>
          </p:cNvPr>
          <p:cNvSpPr txBox="1"/>
          <p:nvPr/>
        </p:nvSpPr>
        <p:spPr>
          <a:xfrm>
            <a:off x="660400" y="1270000"/>
            <a:ext cx="5461000" cy="2032000"/>
          </a:xfrm>
          <a:prstGeom prst="rect">
            <a:avLst/>
          </a:prstGeom>
          <a:noFill/>
        </p:spPr>
        <p:txBody>
          <a:bodyPr vertOverflow="overflow" vert="horz" wrap="square" rtlCol="0" anchor="t">
            <a:noAutofit/>
          </a:bodyPr>
          <a:lstStyle/>
          <a:p>
            <a:pPr algn="l"/>
            <a:r>
              <a:rPr lang="en-US" sz="2000">
                <a:solidFill>
                  <a:srgbClr val="1E1F20"/>
                </a:solidFill>
                <a:latin typeface="Inter"/>
                <a:ea typeface="Inter"/>
              </a:rPr>
              <a:t>200,000 operators in 1920.
Entire buildings full of them.
Then: direct dial.
Now: the job is gone.</a:t>
            </a:r>
          </a:p>
        </p:txBody>
      </p:sp>
      <p:sp>
        <p:nvSpPr>
          <p:cNvPr id="4" name="Rectangle: Rounded Corners 3">
            <a:extLst>
              <a:ext uri="{FF2B5EF4-FFF2-40B4-BE49-F238E27FC236}">
                <a16:creationId xmlns:a16="http://schemas.microsoft.com/office/drawing/2014/main" id="{E12A75F8-5607-468A-A5D2-603CE8E9BD84}"/>
              </a:ext>
            </a:extLst>
          </p:cNvPr>
          <p:cNvSpPr/>
          <p:nvPr/>
        </p:nvSpPr>
        <p:spPr>
          <a:xfrm>
            <a:off x="1270000" y="3365500"/>
            <a:ext cx="4445000" cy="1460500"/>
          </a:xfrm>
          <a:prstGeom prst="roundRect">
            <a:avLst/>
          </a:prstGeom>
          <a:solidFill>
            <a:srgbClr val="E8F4FD"/>
          </a:solidFill>
          <a:ln w="12700" cap="flat" cmpd="sng" algn="ctr">
            <a:solidFill>
              <a:srgbClr val="0088C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BFFCA54F-23F8-4B0B-8E09-38363D4E46C2}"/>
              </a:ext>
            </a:extLst>
          </p:cNvPr>
          <p:cNvSpPr txBox="1"/>
          <p:nvPr/>
        </p:nvSpPr>
        <p:spPr>
          <a:xfrm>
            <a:off x="1651000" y="3873500"/>
            <a:ext cx="3683000" cy="381000"/>
          </a:xfrm>
          <a:prstGeom prst="rect">
            <a:avLst/>
          </a:prstGeom>
          <a:noFill/>
        </p:spPr>
        <p:txBody>
          <a:bodyPr vertOverflow="overflow" vert="horz" wrap="square" rtlCol="0" anchor="t">
            <a:noAutofit/>
          </a:bodyPr>
          <a:lstStyle/>
          <a:p>
            <a:pPr algn="l"/>
            <a:r>
              <a:rPr lang="en-US">
                <a:solidFill>
                  <a:srgbClr val="0088CC"/>
                </a:solidFill>
                <a:latin typeface="Inter"/>
                <a:ea typeface="Inter"/>
              </a:rPr>
              <a:t>INSERT IMAGE: Switchboard Operator</a:t>
            </a:r>
          </a:p>
        </p:txBody>
      </p:sp>
    </p:spTree>
    <p:extLst>
      <p:ext uri="{BB962C8B-B14F-4D97-AF65-F5344CB8AC3E}">
        <p14:creationId xmlns:p14="http://schemas.microsoft.com/office/powerpoint/2010/main" val="3340533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3B9D04-E545-4420-A03A-14E4E5F9C457}"/>
              </a:ext>
            </a:extLst>
          </p:cNvPr>
          <p:cNvSpPr txBox="1"/>
          <p:nvPr/>
        </p:nvSpPr>
        <p:spPr>
          <a:xfrm>
            <a:off x="660400" y="381000"/>
            <a:ext cx="6096000" cy="698500"/>
          </a:xfrm>
          <a:prstGeom prst="rect">
            <a:avLst/>
          </a:prstGeom>
          <a:noFill/>
        </p:spPr>
        <p:txBody>
          <a:bodyPr vertOverflow="overflow" vert="horz" wrap="square" rtlCol="0" anchor="t">
            <a:noAutofit/>
          </a:bodyPr>
          <a:lstStyle/>
          <a:p>
            <a:pPr algn="l"/>
            <a:r>
              <a:rPr lang="en-US" sz="3200" b="1">
                <a:solidFill>
                  <a:srgbClr val="1E1F20"/>
                </a:solidFill>
                <a:latin typeface="Inter"/>
                <a:ea typeface="Inter"/>
              </a:rPr>
              <a:t>"Computer" was a job title.</a:t>
            </a:r>
          </a:p>
        </p:txBody>
      </p:sp>
      <p:sp>
        <p:nvSpPr>
          <p:cNvPr id="3" name="TextBox 2">
            <a:extLst>
              <a:ext uri="{FF2B5EF4-FFF2-40B4-BE49-F238E27FC236}">
                <a16:creationId xmlns:a16="http://schemas.microsoft.com/office/drawing/2014/main" id="{0ECEC713-7D1F-4B8F-B3DA-3FD2B3CED78C}"/>
              </a:ext>
            </a:extLst>
          </p:cNvPr>
          <p:cNvSpPr txBox="1"/>
          <p:nvPr/>
        </p:nvSpPr>
        <p:spPr>
          <a:xfrm>
            <a:off x="660400" y="1206500"/>
            <a:ext cx="5461000" cy="2032000"/>
          </a:xfrm>
          <a:prstGeom prst="rect">
            <a:avLst/>
          </a:prstGeom>
          <a:noFill/>
        </p:spPr>
        <p:txBody>
          <a:bodyPr vertOverflow="overflow" vert="horz" wrap="square" rtlCol="0" anchor="t">
            <a:noAutofit/>
          </a:bodyPr>
          <a:lstStyle/>
          <a:p>
            <a:pPr algn="l"/>
            <a:r>
              <a:rPr lang="en-US" sz="1800">
                <a:solidFill>
                  <a:srgbClr val="333333"/>
                </a:solidFill>
                <a:latin typeface="Inter"/>
                <a:ea typeface="Inter"/>
              </a:rPr>
              <a:t>Capital C. Printed on civil service paperwork.
30–40 hours of hand calculations
for one trajectory.
Now your phone does it in milliseconds.</a:t>
            </a:r>
          </a:p>
        </p:txBody>
      </p:sp>
      <p:sp>
        <p:nvSpPr>
          <p:cNvPr id="4" name="Rectangle: Rounded Corners 3">
            <a:extLst>
              <a:ext uri="{FF2B5EF4-FFF2-40B4-BE49-F238E27FC236}">
                <a16:creationId xmlns:a16="http://schemas.microsoft.com/office/drawing/2014/main" id="{D1BC1C65-AE73-4D3D-B3BC-954A404D5145}"/>
              </a:ext>
            </a:extLst>
          </p:cNvPr>
          <p:cNvSpPr/>
          <p:nvPr/>
        </p:nvSpPr>
        <p:spPr>
          <a:xfrm>
            <a:off x="1270000" y="3365500"/>
            <a:ext cx="4445000" cy="1460500"/>
          </a:xfrm>
          <a:prstGeom prst="roundRect">
            <a:avLst/>
          </a:prstGeom>
          <a:solidFill>
            <a:srgbClr val="E8F4FD"/>
          </a:solidFill>
          <a:ln w="12700" cap="flat" cmpd="sng" algn="ctr">
            <a:solidFill>
              <a:srgbClr val="0088C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5428B9AE-A4BD-4930-A298-9A05FBDA0E5B}"/>
              </a:ext>
            </a:extLst>
          </p:cNvPr>
          <p:cNvSpPr txBox="1"/>
          <p:nvPr/>
        </p:nvSpPr>
        <p:spPr>
          <a:xfrm>
            <a:off x="1460500" y="3873500"/>
            <a:ext cx="4064000" cy="381000"/>
          </a:xfrm>
          <a:prstGeom prst="rect">
            <a:avLst/>
          </a:prstGeom>
          <a:noFill/>
        </p:spPr>
        <p:txBody>
          <a:bodyPr vertOverflow="overflow" vert="horz" wrap="square" rtlCol="0" anchor="t">
            <a:noAutofit/>
          </a:bodyPr>
          <a:lstStyle/>
          <a:p>
            <a:pPr algn="l"/>
            <a:r>
              <a:rPr lang="en-US">
                <a:solidFill>
                  <a:srgbClr val="0088CC"/>
                </a:solidFill>
                <a:latin typeface="Inter"/>
                <a:ea typeface="Inter"/>
              </a:rPr>
              <a:t>INSERT IMAGE: Human Computers / Katherine Johnson</a:t>
            </a:r>
          </a:p>
        </p:txBody>
      </p:sp>
    </p:spTree>
    <p:extLst>
      <p:ext uri="{BB962C8B-B14F-4D97-AF65-F5344CB8AC3E}">
        <p14:creationId xmlns:p14="http://schemas.microsoft.com/office/powerpoint/2010/main" val="4153414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B9EFB6-9CD1-48EE-960B-6B5E794DA391}"/>
              </a:ext>
            </a:extLst>
          </p:cNvPr>
          <p:cNvSpPr txBox="1"/>
          <p:nvPr/>
        </p:nvSpPr>
        <p:spPr>
          <a:xfrm>
            <a:off x="660400" y="762000"/>
            <a:ext cx="6350000" cy="1397000"/>
          </a:xfrm>
          <a:prstGeom prst="rect">
            <a:avLst/>
          </a:prstGeom>
          <a:noFill/>
        </p:spPr>
        <p:txBody>
          <a:bodyPr vertOverflow="overflow" vert="horz" wrap="square" rtlCol="0" anchor="t">
            <a:noAutofit/>
          </a:bodyPr>
          <a:lstStyle/>
          <a:p>
            <a:pPr algn="l"/>
            <a:r>
              <a:rPr lang="en-US" sz="3800" b="1">
                <a:solidFill>
                  <a:srgbClr val="1E1F20"/>
                </a:solidFill>
                <a:latin typeface="Inter"/>
                <a:ea typeface="Inter"/>
              </a:rPr>
              <a:t>None of us mourn
these jobs.</a:t>
            </a:r>
          </a:p>
        </p:txBody>
      </p:sp>
      <p:sp>
        <p:nvSpPr>
          <p:cNvPr id="3" name="TextBox 2">
            <a:extLst>
              <a:ext uri="{FF2B5EF4-FFF2-40B4-BE49-F238E27FC236}">
                <a16:creationId xmlns:a16="http://schemas.microsoft.com/office/drawing/2014/main" id="{B690B88F-938D-4D67-8FAA-B9D4DD887059}"/>
              </a:ext>
            </a:extLst>
          </p:cNvPr>
          <p:cNvSpPr txBox="1"/>
          <p:nvPr/>
        </p:nvSpPr>
        <p:spPr>
          <a:xfrm>
            <a:off x="660400" y="2476500"/>
            <a:ext cx="6350000" cy="1524000"/>
          </a:xfrm>
          <a:prstGeom prst="rect">
            <a:avLst/>
          </a:prstGeom>
          <a:noFill/>
        </p:spPr>
        <p:txBody>
          <a:bodyPr vertOverflow="overflow" vert="horz" wrap="square" rtlCol="0" anchor="t">
            <a:noAutofit/>
          </a:bodyPr>
          <a:lstStyle/>
          <a:p>
            <a:pPr algn="l"/>
            <a:r>
              <a:rPr lang="en-US" sz="2000">
                <a:solidFill>
                  <a:srgbClr val="333333"/>
                </a:solidFill>
                <a:latin typeface="Inter"/>
                <a:ea typeface="Inter"/>
              </a:rPr>
              <a:t>The work that was eliminated was work
that should have been eliminated.
The people deserved better than that work.</a:t>
            </a:r>
          </a:p>
        </p:txBody>
      </p:sp>
    </p:spTree>
    <p:extLst>
      <p:ext uri="{BB962C8B-B14F-4D97-AF65-F5344CB8AC3E}">
        <p14:creationId xmlns:p14="http://schemas.microsoft.com/office/powerpoint/2010/main" val="1020505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29881A-7157-4A73-B7DB-9830B88CF596}"/>
              </a:ext>
            </a:extLst>
          </p:cNvPr>
          <p:cNvSpPr txBox="1"/>
          <p:nvPr/>
        </p:nvSpPr>
        <p:spPr>
          <a:xfrm>
            <a:off x="660400" y="635000"/>
            <a:ext cx="6604000" cy="1905000"/>
          </a:xfrm>
          <a:prstGeom prst="rect">
            <a:avLst/>
          </a:prstGeom>
          <a:noFill/>
        </p:spPr>
        <p:txBody>
          <a:bodyPr vertOverflow="overflow" vert="horz" wrap="square" rtlCol="0" anchor="t">
            <a:noAutofit/>
          </a:bodyPr>
          <a:lstStyle/>
          <a:p>
            <a:pPr algn="l"/>
            <a:r>
              <a:rPr lang="en-US" sz="3600" b="1">
                <a:solidFill>
                  <a:srgbClr val="1E1F20"/>
                </a:solidFill>
                <a:latin typeface="Inter"/>
                <a:ea typeface="Inter"/>
              </a:rPr>
              <a:t>What's the equivalent
in YOUR business
today?</a:t>
            </a:r>
          </a:p>
        </p:txBody>
      </p:sp>
      <p:sp>
        <p:nvSpPr>
          <p:cNvPr id="3" name="TextBox 2">
            <a:extLst>
              <a:ext uri="{FF2B5EF4-FFF2-40B4-BE49-F238E27FC236}">
                <a16:creationId xmlns:a16="http://schemas.microsoft.com/office/drawing/2014/main" id="{24D45000-FAFA-49A6-84E1-F0D2F8D7E7BA}"/>
              </a:ext>
            </a:extLst>
          </p:cNvPr>
          <p:cNvSpPr txBox="1"/>
          <p:nvPr/>
        </p:nvSpPr>
        <p:spPr>
          <a:xfrm>
            <a:off x="660400" y="2857500"/>
            <a:ext cx="6350000" cy="1397000"/>
          </a:xfrm>
          <a:prstGeom prst="rect">
            <a:avLst/>
          </a:prstGeom>
          <a:noFill/>
        </p:spPr>
        <p:txBody>
          <a:bodyPr vertOverflow="overflow" vert="horz" wrap="square" rtlCol="0" anchor="t">
            <a:noAutofit/>
          </a:bodyPr>
          <a:lstStyle/>
          <a:p>
            <a:pPr algn="l"/>
            <a:r>
              <a:rPr lang="en-US" sz="2000">
                <a:solidFill>
                  <a:srgbClr val="0088CC"/>
                </a:solidFill>
                <a:latin typeface="Inter"/>
                <a:ea typeface="Inter"/>
              </a:rPr>
              <a:t>What work should be eliminated?
What work are your people doing
that they deserve better than?</a:t>
            </a:r>
          </a:p>
        </p:txBody>
      </p:sp>
    </p:spTree>
    <p:extLst>
      <p:ext uri="{BB962C8B-B14F-4D97-AF65-F5344CB8AC3E}">
        <p14:creationId xmlns:p14="http://schemas.microsoft.com/office/powerpoint/2010/main" val="745887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14B17D-61AE-4098-8B99-5DA66934985C}"/>
              </a:ext>
            </a:extLst>
          </p:cNvPr>
          <p:cNvSpPr txBox="1"/>
          <p:nvPr/>
        </p:nvSpPr>
        <p:spPr>
          <a:xfrm>
            <a:off x="660400" y="762000"/>
            <a:ext cx="6350000" cy="1270000"/>
          </a:xfrm>
          <a:prstGeom prst="rect">
            <a:avLst/>
          </a:prstGeom>
          <a:noFill/>
        </p:spPr>
        <p:txBody>
          <a:bodyPr vertOverflow="overflow" vert="horz" wrap="square" rtlCol="0" anchor="t">
            <a:noAutofit/>
          </a:bodyPr>
          <a:lstStyle/>
          <a:p>
            <a:pPr algn="l"/>
            <a:r>
              <a:rPr lang="en-US" sz="3400" b="1">
                <a:solidFill>
                  <a:srgbClr val="1E1F20"/>
                </a:solidFill>
                <a:latin typeface="Inter"/>
                <a:ea typeface="Inter"/>
              </a:rPr>
              <a:t>How to think,
not what to purchase.</a:t>
            </a:r>
          </a:p>
        </p:txBody>
      </p:sp>
      <p:sp>
        <p:nvSpPr>
          <p:cNvPr id="3" name="TextBox 2">
            <a:extLst>
              <a:ext uri="{FF2B5EF4-FFF2-40B4-BE49-F238E27FC236}">
                <a16:creationId xmlns:a16="http://schemas.microsoft.com/office/drawing/2014/main" id="{FB4B3D0C-6762-4A37-9DAA-B4EBCB28938C}"/>
              </a:ext>
            </a:extLst>
          </p:cNvPr>
          <p:cNvSpPr txBox="1"/>
          <p:nvPr/>
        </p:nvSpPr>
        <p:spPr>
          <a:xfrm>
            <a:off x="660400" y="2413000"/>
            <a:ext cx="6350000" cy="1524000"/>
          </a:xfrm>
          <a:prstGeom prst="rect">
            <a:avLst/>
          </a:prstGeom>
          <a:noFill/>
        </p:spPr>
        <p:txBody>
          <a:bodyPr vertOverflow="overflow" vert="horz" wrap="square" rtlCol="0" anchor="t">
            <a:noAutofit/>
          </a:bodyPr>
          <a:lstStyle/>
          <a:p>
            <a:pPr algn="l"/>
            <a:r>
              <a:rPr lang="en-US" sz="2000">
                <a:solidFill>
                  <a:srgbClr val="333333"/>
                </a:solidFill>
                <a:latin typeface="Inter"/>
                <a:ea typeface="Inter"/>
              </a:rPr>
              <a:t>For business owners and firm leaders
who want to understand where AI fits.
And where it doesn't.</a:t>
            </a:r>
          </a:p>
        </p:txBody>
      </p:sp>
    </p:spTree>
    <p:extLst>
      <p:ext uri="{BB962C8B-B14F-4D97-AF65-F5344CB8AC3E}">
        <p14:creationId xmlns:p14="http://schemas.microsoft.com/office/powerpoint/2010/main" val="2045466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A74D8A-73B8-4F47-A6FF-C4F9296897AB}"/>
              </a:ext>
            </a:extLst>
          </p:cNvPr>
          <p:cNvSpPr txBox="1"/>
          <p:nvPr/>
        </p:nvSpPr>
        <p:spPr>
          <a:xfrm>
            <a:off x="660400" y="635000"/>
            <a:ext cx="6350000" cy="825500"/>
          </a:xfrm>
          <a:prstGeom prst="rect">
            <a:avLst/>
          </a:prstGeom>
          <a:noFill/>
        </p:spPr>
        <p:txBody>
          <a:bodyPr vertOverflow="overflow" vert="horz" wrap="square" rtlCol="0" anchor="t">
            <a:noAutofit/>
          </a:bodyPr>
          <a:lstStyle/>
          <a:p>
            <a:pPr algn="l"/>
            <a:r>
              <a:rPr lang="en-US" sz="4000" b="1">
                <a:solidFill>
                  <a:srgbClr val="0088CC"/>
                </a:solidFill>
                <a:latin typeface="Inter"/>
                <a:ea typeface="Inter"/>
              </a:rPr>
              <a:t>Participate Well.</a:t>
            </a:r>
          </a:p>
        </p:txBody>
      </p:sp>
      <p:sp>
        <p:nvSpPr>
          <p:cNvPr id="3" name="TextBox 2">
            <a:extLst>
              <a:ext uri="{FF2B5EF4-FFF2-40B4-BE49-F238E27FC236}">
                <a16:creationId xmlns:a16="http://schemas.microsoft.com/office/drawing/2014/main" id="{679FDDC0-9C86-4D93-8750-2A3E17F0CA4C}"/>
              </a:ext>
            </a:extLst>
          </p:cNvPr>
          <p:cNvSpPr txBox="1"/>
          <p:nvPr/>
        </p:nvSpPr>
        <p:spPr>
          <a:xfrm>
            <a:off x="660400" y="1714500"/>
            <a:ext cx="6350000" cy="2540000"/>
          </a:xfrm>
          <a:prstGeom prst="rect">
            <a:avLst/>
          </a:prstGeom>
          <a:noFill/>
        </p:spPr>
        <p:txBody>
          <a:bodyPr vertOverflow="overflow" vert="horz" wrap="square" rtlCol="0" anchor="t">
            <a:noAutofit/>
          </a:bodyPr>
          <a:lstStyle/>
          <a:p>
            <a:pPr algn="l"/>
            <a:r>
              <a:rPr lang="en-US" sz="2000">
                <a:solidFill>
                  <a:srgbClr val="1E1F20"/>
                </a:solidFill>
                <a:latin typeface="Inter"/>
                <a:ea typeface="Inter"/>
              </a:rPr>
              <a:t>You're inside a transition
that has happened before.
You know how these end.
Your job isn't to resist or accept.
Your job is to participate well.</a:t>
            </a:r>
          </a:p>
        </p:txBody>
      </p:sp>
    </p:spTree>
    <p:extLst>
      <p:ext uri="{BB962C8B-B14F-4D97-AF65-F5344CB8AC3E}">
        <p14:creationId xmlns:p14="http://schemas.microsoft.com/office/powerpoint/2010/main" val="4239351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8677BE-CD75-45EA-9BFD-36AD2E80E25E}"/>
              </a:ext>
            </a:extLst>
          </p:cNvPr>
          <p:cNvSpPr txBox="1"/>
          <p:nvPr/>
        </p:nvSpPr>
        <p:spPr>
          <a:xfrm>
            <a:off x="660400" y="508000"/>
            <a:ext cx="6350000" cy="1206500"/>
          </a:xfrm>
          <a:prstGeom prst="rect">
            <a:avLst/>
          </a:prstGeom>
          <a:noFill/>
        </p:spPr>
        <p:txBody>
          <a:bodyPr vertOverflow="overflow" vert="horz" wrap="square" rtlCol="0" anchor="t">
            <a:noAutofit/>
          </a:bodyPr>
          <a:lstStyle/>
          <a:p>
            <a:pPr algn="l"/>
            <a:r>
              <a:rPr lang="en-US" sz="3600" b="1">
                <a:solidFill>
                  <a:srgbClr val="1E1F20"/>
                </a:solidFill>
                <a:latin typeface="Inter"/>
                <a:ea typeface="Inter"/>
              </a:rPr>
              <a:t>You've Bought
Technology Before.</a:t>
            </a:r>
          </a:p>
        </p:txBody>
      </p:sp>
      <p:sp>
        <p:nvSpPr>
          <p:cNvPr id="3" name="Rectangle: Rounded Corners 2">
            <a:extLst>
              <a:ext uri="{FF2B5EF4-FFF2-40B4-BE49-F238E27FC236}">
                <a16:creationId xmlns:a16="http://schemas.microsoft.com/office/drawing/2014/main" id="{648EAB82-8BBD-47CD-BE6E-5530A4C5689B}"/>
              </a:ext>
            </a:extLst>
          </p:cNvPr>
          <p:cNvSpPr/>
          <p:nvPr/>
        </p:nvSpPr>
        <p:spPr>
          <a:xfrm>
            <a:off x="660400" y="1968500"/>
            <a:ext cx="6096000" cy="2286000"/>
          </a:xfrm>
          <a:prstGeom prst="roundRect">
            <a:avLst/>
          </a:prstGeom>
          <a:solidFill>
            <a:srgbClr val="E8F4FD"/>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9D6EAA2D-DBE7-4C13-88AA-416B96478670}"/>
              </a:ext>
            </a:extLst>
          </p:cNvPr>
          <p:cNvSpPr txBox="1"/>
          <p:nvPr/>
        </p:nvSpPr>
        <p:spPr>
          <a:xfrm>
            <a:off x="914400" y="2133600"/>
            <a:ext cx="5588000" cy="1968500"/>
          </a:xfrm>
          <a:prstGeom prst="rect">
            <a:avLst/>
          </a:prstGeom>
          <a:noFill/>
        </p:spPr>
        <p:txBody>
          <a:bodyPr vertOverflow="overflow" vert="horz" wrap="square" rtlCol="0" anchor="t">
            <a:noAutofit/>
          </a:bodyPr>
          <a:lstStyle/>
          <a:p>
            <a:pPr algn="l"/>
            <a:r>
              <a:rPr lang="en-US" sz="1800">
                <a:solidFill>
                  <a:srgbClr val="1E1F20"/>
                </a:solidFill>
                <a:latin typeface="Inter"/>
                <a:ea typeface="Inter"/>
              </a:rPr>
              <a:t>Technology is a tool.
Evaluate features.
Compare vendors.
Buy, configure, roll out.
This frame has been sold to you for decades.</a:t>
            </a:r>
          </a:p>
        </p:txBody>
      </p:sp>
    </p:spTree>
    <p:extLst>
      <p:ext uri="{BB962C8B-B14F-4D97-AF65-F5344CB8AC3E}">
        <p14:creationId xmlns:p14="http://schemas.microsoft.com/office/powerpoint/2010/main" val="159902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2540C5-C161-476B-B9C1-721EEFE64242}"/>
              </a:ext>
            </a:extLst>
          </p:cNvPr>
          <p:cNvSpPr txBox="1"/>
          <p:nvPr/>
        </p:nvSpPr>
        <p:spPr>
          <a:xfrm>
            <a:off x="660400" y="889000"/>
            <a:ext cx="6350000" cy="1397000"/>
          </a:xfrm>
          <a:prstGeom prst="rect">
            <a:avLst/>
          </a:prstGeom>
          <a:noFill/>
        </p:spPr>
        <p:txBody>
          <a:bodyPr vertOverflow="overflow" vert="horz" wrap="square" rtlCol="0" anchor="t">
            <a:noAutofit/>
          </a:bodyPr>
          <a:lstStyle/>
          <a:p>
            <a:pPr algn="l"/>
            <a:r>
              <a:rPr lang="en-US" sz="3800" b="1" i="1">
                <a:solidFill>
                  <a:srgbClr val="1E1F20"/>
                </a:solidFill>
                <a:latin typeface="Inter"/>
                <a:ea typeface="Inter"/>
              </a:rPr>
              <a:t>"Buy this,
your revenue will grow."</a:t>
            </a:r>
          </a:p>
        </p:txBody>
      </p:sp>
      <p:sp>
        <p:nvSpPr>
          <p:cNvPr id="3" name="TextBox 2">
            <a:extLst>
              <a:ext uri="{FF2B5EF4-FFF2-40B4-BE49-F238E27FC236}">
                <a16:creationId xmlns:a16="http://schemas.microsoft.com/office/drawing/2014/main" id="{2EE6DC64-53B9-44C5-8058-1A6EE059227A}"/>
              </a:ext>
            </a:extLst>
          </p:cNvPr>
          <p:cNvSpPr txBox="1"/>
          <p:nvPr/>
        </p:nvSpPr>
        <p:spPr>
          <a:xfrm>
            <a:off x="660400" y="2794000"/>
            <a:ext cx="6350000" cy="571500"/>
          </a:xfrm>
          <a:prstGeom prst="rect">
            <a:avLst/>
          </a:prstGeom>
          <a:noFill/>
        </p:spPr>
        <p:txBody>
          <a:bodyPr vertOverflow="overflow" vert="horz" wrap="square" rtlCol="0" anchor="t">
            <a:noAutofit/>
          </a:bodyPr>
          <a:lstStyle/>
          <a:p>
            <a:pPr algn="l"/>
            <a:r>
              <a:rPr lang="en-US" sz="2200">
                <a:solidFill>
                  <a:srgbClr val="0088CC"/>
                </a:solidFill>
                <a:latin typeface="Inter"/>
                <a:ea typeface="Inter"/>
              </a:rPr>
              <a:t>The technology causes the outcome.</a:t>
            </a:r>
          </a:p>
        </p:txBody>
      </p:sp>
    </p:spTree>
    <p:extLst>
      <p:ext uri="{BB962C8B-B14F-4D97-AF65-F5344CB8AC3E}">
        <p14:creationId xmlns:p14="http://schemas.microsoft.com/office/powerpoint/2010/main" val="41073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CE6DE4-1836-44DE-BB70-B49FB3074602}"/>
              </a:ext>
            </a:extLst>
          </p:cNvPr>
          <p:cNvSpPr txBox="1"/>
          <p:nvPr/>
        </p:nvSpPr>
        <p:spPr>
          <a:xfrm>
            <a:off x="660400" y="635000"/>
            <a:ext cx="6604000" cy="1270000"/>
          </a:xfrm>
          <a:prstGeom prst="rect">
            <a:avLst/>
          </a:prstGeom>
          <a:noFill/>
        </p:spPr>
        <p:txBody>
          <a:bodyPr vertOverflow="overflow" vert="horz" wrap="square" rtlCol="0" anchor="t">
            <a:noAutofit/>
          </a:bodyPr>
          <a:lstStyle/>
          <a:p>
            <a:pPr algn="l"/>
            <a:r>
              <a:rPr lang="en-US" sz="3400" b="1">
                <a:solidFill>
                  <a:srgbClr val="1E1F20"/>
                </a:solidFill>
                <a:latin typeface="Inter"/>
                <a:ea typeface="Inter"/>
              </a:rPr>
              <a:t>Same technology.
Wildly different outcomes.</a:t>
            </a:r>
          </a:p>
        </p:txBody>
      </p:sp>
      <p:sp>
        <p:nvSpPr>
          <p:cNvPr id="3" name="TextBox 2">
            <a:extLst>
              <a:ext uri="{FF2B5EF4-FFF2-40B4-BE49-F238E27FC236}">
                <a16:creationId xmlns:a16="http://schemas.microsoft.com/office/drawing/2014/main" id="{609AF12D-DECD-4209-9CC8-F1A70647E7C4}"/>
              </a:ext>
            </a:extLst>
          </p:cNvPr>
          <p:cNvSpPr txBox="1"/>
          <p:nvPr/>
        </p:nvSpPr>
        <p:spPr>
          <a:xfrm>
            <a:off x="660400" y="2286000"/>
            <a:ext cx="6350000" cy="1778000"/>
          </a:xfrm>
          <a:prstGeom prst="rect">
            <a:avLst/>
          </a:prstGeom>
          <a:noFill/>
        </p:spPr>
        <p:txBody>
          <a:bodyPr vertOverflow="overflow" vert="horz" wrap="square" rtlCol="0" anchor="t">
            <a:noAutofit/>
          </a:bodyPr>
          <a:lstStyle/>
          <a:p>
            <a:pPr algn="l"/>
            <a:r>
              <a:rPr lang="en-US" sz="2200">
                <a:solidFill>
                  <a:srgbClr val="333333"/>
                </a:solidFill>
                <a:latin typeface="Inter"/>
                <a:ea typeface="Inter"/>
              </a:rPr>
              <a:t>Some got growth.
Some got an expensive database.
The difference was invisible at purchase time.</a:t>
            </a:r>
          </a:p>
        </p:txBody>
      </p:sp>
    </p:spTree>
    <p:extLst>
      <p:ext uri="{BB962C8B-B14F-4D97-AF65-F5344CB8AC3E}">
        <p14:creationId xmlns:p14="http://schemas.microsoft.com/office/powerpoint/2010/main" val="3605864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9C0EC2-44B0-4278-B143-BDBFC4FF8172}"/>
              </a:ext>
            </a:extLst>
          </p:cNvPr>
          <p:cNvSpPr txBox="1"/>
          <p:nvPr/>
        </p:nvSpPr>
        <p:spPr>
          <a:xfrm>
            <a:off x="381000" y="127000"/>
            <a:ext cx="6985000" cy="762000"/>
          </a:xfrm>
          <a:prstGeom prst="rect">
            <a:avLst/>
          </a:prstGeom>
          <a:noFill/>
        </p:spPr>
        <p:txBody>
          <a:bodyPr vertOverflow="overflow" vert="horz" wrap="square" rtlCol="0" anchor="t">
            <a:noAutofit/>
          </a:bodyPr>
          <a:lstStyle/>
          <a:p>
            <a:pPr algn="l"/>
            <a:r>
              <a:rPr lang="en-US" sz="2200" b="1">
                <a:solidFill>
                  <a:srgbClr val="1E1F20"/>
                </a:solidFill>
                <a:latin typeface="Inter"/>
                <a:ea typeface="Inter"/>
              </a:rPr>
              <a:t>What Your CRM Holds vs
What Your People Know</a:t>
            </a:r>
          </a:p>
        </p:txBody>
      </p:sp>
      <p:graphicFrame>
        <p:nvGraphicFramePr>
          <p:cNvPr id="4" name="Table 3">
            <a:extLst>
              <a:ext uri="{FF2B5EF4-FFF2-40B4-BE49-F238E27FC236}">
                <a16:creationId xmlns:a16="http://schemas.microsoft.com/office/drawing/2014/main" id="{B61F8806-B2FF-45E9-BE90-FD094B599D31}"/>
              </a:ext>
            </a:extLst>
          </p:cNvPr>
          <p:cNvGraphicFramePr>
            <a:graphicFrameLocks noGrp="1"/>
          </p:cNvGraphicFramePr>
          <p:nvPr>
            <p:extLst>
              <p:ext uri="{D42A27DB-BD31-4B8C-83A1-F6EECF244321}">
                <p14:modId xmlns:p14="http://schemas.microsoft.com/office/powerpoint/2010/main" val="168486533"/>
              </p:ext>
            </p:extLst>
          </p:nvPr>
        </p:nvGraphicFramePr>
        <p:xfrm>
          <a:off x="381000" y="990600"/>
          <a:ext cx="7366000" cy="3175000"/>
        </p:xfrm>
        <a:graphic>
          <a:graphicData uri="http://schemas.openxmlformats.org/drawingml/2006/table">
            <a:tbl>
              <a:tblPr firstRow="1" bandRow="1">
                <a:tableStyleId>{5C22544A-7EE6-4342-B048-85BDC9FD1C3A}</a:tableStyleId>
              </a:tblPr>
              <a:tblGrid>
                <a:gridCol w="3683000">
                  <a:extLst>
                    <a:ext uri="{9D8B030D-6E8A-4147-A177-3AD203B41FA5}">
                      <a16:colId xmlns:a16="http://schemas.microsoft.com/office/drawing/2014/main" val="809936975"/>
                    </a:ext>
                  </a:extLst>
                </a:gridCol>
                <a:gridCol w="3683000">
                  <a:extLst>
                    <a:ext uri="{9D8B030D-6E8A-4147-A177-3AD203B41FA5}">
                      <a16:colId xmlns:a16="http://schemas.microsoft.com/office/drawing/2014/main" val="2923563077"/>
                    </a:ext>
                  </a:extLst>
                </a:gridCol>
              </a:tblGrid>
              <a:tr h="635000">
                <a:tc>
                  <a:txBody>
                    <a:bodyPr/>
                    <a:lstStyle/>
                    <a:p>
                      <a:pPr algn="ctr"/>
                      <a:r>
                        <a:rPr lang="en-US" sz="1400" b="1">
                          <a:solidFill>
                            <a:srgbClr val="1E1F20"/>
                          </a:solidFill>
                          <a:latin typeface="Inter"/>
                          <a:ea typeface="Inter"/>
                        </a:rPr>
                        <a:t>What HubSpot Holds</a:t>
                      </a:r>
                    </a:p>
                  </a:txBody>
                  <a:tcPr anchor="ctr">
                    <a:solidFill>
                      <a:srgbClr val="E8F4FD"/>
                    </a:solidFill>
                  </a:tcPr>
                </a:tc>
                <a:tc>
                  <a:txBody>
                    <a:bodyPr/>
                    <a:lstStyle/>
                    <a:p>
                      <a:pPr algn="ctr"/>
                      <a:r>
                        <a:rPr lang="en-US" sz="1400" b="1">
                          <a:solidFill>
                            <a:srgbClr val="FFFFFF"/>
                          </a:solidFill>
                          <a:latin typeface="Inter"/>
                          <a:ea typeface="Inter"/>
                        </a:rPr>
                        <a:t>What Sarah Actually Knows</a:t>
                      </a:r>
                    </a:p>
                  </a:txBody>
                  <a:tcPr anchor="ctr">
                    <a:solidFill>
                      <a:srgbClr val="0088CC"/>
                    </a:solidFill>
                  </a:tcPr>
                </a:tc>
                <a:extLst>
                  <a:ext uri="{0D108BD9-81ED-4DB2-BD59-A6C34878D82A}">
                    <a16:rowId xmlns:a16="http://schemas.microsoft.com/office/drawing/2014/main" val="1544828828"/>
                  </a:ext>
                </a:extLst>
              </a:tr>
              <a:tr h="635000">
                <a:tc>
                  <a:txBody>
                    <a:bodyPr/>
                    <a:lstStyle/>
                    <a:p>
                      <a:r>
                        <a:rPr lang="en-US" sz="1400">
                          <a:solidFill>
                            <a:srgbClr val="1E1F20"/>
                          </a:solidFill>
                          <a:latin typeface="Inter"/>
                          <a:ea typeface="Inter"/>
                        </a:rPr>
                        <a:t>Contact name, title, deal stage</a:t>
                      </a:r>
                    </a:p>
                  </a:txBody>
                  <a:tcPr anchor="ctr">
                    <a:solidFill>
                      <a:srgbClr val="FFFFFF"/>
                    </a:solidFill>
                  </a:tcPr>
                </a:tc>
                <a:tc>
                  <a:txBody>
                    <a:bodyPr/>
                    <a:lstStyle/>
                    <a:p>
                      <a:r>
                        <a:rPr lang="en-US" sz="1400" b="1">
                          <a:solidFill>
                            <a:srgbClr val="1E1F20"/>
                          </a:solidFill>
                          <a:latin typeface="Inter"/>
                          <a:ea typeface="Inter"/>
                        </a:rPr>
                        <a:t>CEO just went through leadership transition, evaluating all vendors</a:t>
                      </a:r>
                    </a:p>
                  </a:txBody>
                  <a:tcPr anchor="ctr">
                    <a:solidFill>
                      <a:srgbClr val="FFF8E1"/>
                    </a:solidFill>
                  </a:tcPr>
                </a:tc>
                <a:extLst>
                  <a:ext uri="{0D108BD9-81ED-4DB2-BD59-A6C34878D82A}">
                    <a16:rowId xmlns:a16="http://schemas.microsoft.com/office/drawing/2014/main" val="3399241250"/>
                  </a:ext>
                </a:extLst>
              </a:tr>
              <a:tr h="635000">
                <a:tc>
                  <a:txBody>
                    <a:bodyPr/>
                    <a:lstStyle/>
                    <a:p>
                      <a:r>
                        <a:rPr lang="en-US" sz="1400">
                          <a:solidFill>
                            <a:srgbClr val="1E1F20"/>
                          </a:solidFill>
                          <a:latin typeface="Inter"/>
                          <a:ea typeface="Inter"/>
                        </a:rPr>
                        <a:t>Deal value: $60,000</a:t>
                      </a:r>
                    </a:p>
                  </a:txBody>
                  <a:tcPr anchor="ctr">
                    <a:solidFill>
                      <a:srgbClr val="FFFFFF"/>
                    </a:solidFill>
                  </a:tcPr>
                </a:tc>
                <a:tc>
                  <a:txBody>
                    <a:bodyPr/>
                    <a:lstStyle/>
                    <a:p>
                      <a:r>
                        <a:rPr lang="en-US" sz="1400" b="1">
                          <a:solidFill>
                            <a:srgbClr val="1E1F20"/>
                          </a:solidFill>
                          <a:latin typeface="Inter"/>
                          <a:ea typeface="Inter"/>
                        </a:rPr>
                        <a:t>Really worth $180K over 3 years if we lead with advisory</a:t>
                      </a:r>
                    </a:p>
                  </a:txBody>
                  <a:tcPr anchor="ctr">
                    <a:solidFill>
                      <a:srgbClr val="FFF8E1"/>
                    </a:solidFill>
                  </a:tcPr>
                </a:tc>
                <a:extLst>
                  <a:ext uri="{0D108BD9-81ED-4DB2-BD59-A6C34878D82A}">
                    <a16:rowId xmlns:a16="http://schemas.microsoft.com/office/drawing/2014/main" val="4159396543"/>
                  </a:ext>
                </a:extLst>
              </a:tr>
              <a:tr h="635000">
                <a:tc>
                  <a:txBody>
                    <a:bodyPr/>
                    <a:lstStyle/>
                    <a:p>
                      <a:r>
                        <a:rPr lang="en-US" sz="1400">
                          <a:solidFill>
                            <a:srgbClr val="1E1F20"/>
                          </a:solidFill>
                          <a:latin typeface="Inter"/>
                          <a:ea typeface="Inter"/>
                        </a:rPr>
                        <a:t>Status: "Proposal Sent"</a:t>
                      </a:r>
                    </a:p>
                  </a:txBody>
                  <a:tcPr anchor="ctr">
                    <a:solidFill>
                      <a:srgbClr val="FFFFFF"/>
                    </a:solidFill>
                  </a:tcPr>
                </a:tc>
                <a:tc>
                  <a:txBody>
                    <a:bodyPr/>
                    <a:lstStyle/>
                    <a:p>
                      <a:r>
                        <a:rPr lang="en-US" sz="1400" b="1">
                          <a:solidFill>
                            <a:srgbClr val="1E1F20"/>
                          </a:solidFill>
                          <a:latin typeface="Inter"/>
                          <a:ea typeface="Inter"/>
                        </a:rPr>
                        <a:t>CFO takes 3 weeks to review — following up now is counterproductive</a:t>
                      </a:r>
                    </a:p>
                  </a:txBody>
                  <a:tcPr anchor="ctr">
                    <a:solidFill>
                      <a:srgbClr val="FFF8E1"/>
                    </a:solidFill>
                  </a:tcPr>
                </a:tc>
                <a:extLst>
                  <a:ext uri="{0D108BD9-81ED-4DB2-BD59-A6C34878D82A}">
                    <a16:rowId xmlns:a16="http://schemas.microsoft.com/office/drawing/2014/main" val="295261749"/>
                  </a:ext>
                </a:extLst>
              </a:tr>
              <a:tr h="635000">
                <a:tc>
                  <a:txBody>
                    <a:bodyPr/>
                    <a:lstStyle/>
                    <a:p>
                      <a:r>
                        <a:rPr lang="en-US" sz="1400">
                          <a:solidFill>
                            <a:srgbClr val="1E1F20"/>
                          </a:solidFill>
                          <a:latin typeface="Inter"/>
                          <a:ea typeface="Inter"/>
                        </a:rPr>
                        <a:t>Industry: Manufacturing</a:t>
                      </a:r>
                    </a:p>
                  </a:txBody>
                  <a:tcPr anchor="ctr">
                    <a:solidFill>
                      <a:srgbClr val="FFFFFF"/>
                    </a:solidFill>
                  </a:tcPr>
                </a:tc>
                <a:tc>
                  <a:txBody>
                    <a:bodyPr/>
                    <a:lstStyle/>
                    <a:p>
                      <a:r>
                        <a:rPr lang="en-US" sz="1400" b="1">
                          <a:solidFill>
                            <a:srgbClr val="1E1F20"/>
                          </a:solidFill>
                          <a:latin typeface="Inter"/>
                          <a:ea typeface="Inter"/>
                        </a:rPr>
                        <a:t>Manufacturing prospects respond to operational language, not compliance</a:t>
                      </a:r>
                    </a:p>
                  </a:txBody>
                  <a:tcPr anchor="ctr">
                    <a:solidFill>
                      <a:srgbClr val="FFF8E1"/>
                    </a:solidFill>
                  </a:tcPr>
                </a:tc>
                <a:extLst>
                  <a:ext uri="{0D108BD9-81ED-4DB2-BD59-A6C34878D82A}">
                    <a16:rowId xmlns:a16="http://schemas.microsoft.com/office/drawing/2014/main" val="970082016"/>
                  </a:ext>
                </a:extLst>
              </a:tr>
            </a:tbl>
          </a:graphicData>
        </a:graphic>
      </p:graphicFrame>
      <p:sp>
        <p:nvSpPr>
          <p:cNvPr id="5" name="TextBox 4">
            <a:extLst>
              <a:ext uri="{FF2B5EF4-FFF2-40B4-BE49-F238E27FC236}">
                <a16:creationId xmlns:a16="http://schemas.microsoft.com/office/drawing/2014/main" id="{1A621423-D314-4619-BA64-F9FDD39B1DFB}"/>
              </a:ext>
            </a:extLst>
          </p:cNvPr>
          <p:cNvSpPr txBox="1"/>
          <p:nvPr/>
        </p:nvSpPr>
        <p:spPr>
          <a:xfrm>
            <a:off x="381000" y="4318000"/>
            <a:ext cx="6985000" cy="698500"/>
          </a:xfrm>
          <a:prstGeom prst="rect">
            <a:avLst/>
          </a:prstGeom>
          <a:noFill/>
        </p:spPr>
        <p:txBody>
          <a:bodyPr vertOverflow="overflow" vert="horz" wrap="square" rtlCol="0" anchor="t">
            <a:noAutofit/>
          </a:bodyPr>
          <a:lstStyle/>
          <a:p>
            <a:pPr algn="l"/>
            <a:r>
              <a:rPr lang="en-US" sz="1600" b="1">
                <a:solidFill>
                  <a:srgbClr val="0088CC"/>
                </a:solidFill>
                <a:latin typeface="Inter"/>
                <a:ea typeface="Inter"/>
              </a:rPr>
              <a:t>Every firm in this room has a Sarah.
Where does her knowledge live when she leaves?</a:t>
            </a:r>
          </a:p>
        </p:txBody>
      </p:sp>
    </p:spTree>
    <p:extLst>
      <p:ext uri="{BB962C8B-B14F-4D97-AF65-F5344CB8AC3E}">
        <p14:creationId xmlns:p14="http://schemas.microsoft.com/office/powerpoint/2010/main" val="4281263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9CB77F-39CF-42D3-A7A8-521DF3E4039A}"/>
              </a:ext>
            </a:extLst>
          </p:cNvPr>
          <p:cNvSpPr txBox="1"/>
          <p:nvPr/>
        </p:nvSpPr>
        <p:spPr>
          <a:xfrm>
            <a:off x="660400" y="508000"/>
            <a:ext cx="6350000" cy="1206500"/>
          </a:xfrm>
          <a:prstGeom prst="rect">
            <a:avLst/>
          </a:prstGeom>
          <a:noFill/>
        </p:spPr>
        <p:txBody>
          <a:bodyPr vertOverflow="overflow" vert="horz" wrap="square" rtlCol="0" anchor="t">
            <a:noAutofit/>
          </a:bodyPr>
          <a:lstStyle/>
          <a:p>
            <a:pPr algn="l"/>
            <a:r>
              <a:rPr lang="en-US" sz="3800" b="1">
                <a:solidFill>
                  <a:srgbClr val="1E1F20"/>
                </a:solidFill>
                <a:latin typeface="Inter"/>
                <a:ea typeface="Inter"/>
              </a:rPr>
              <a:t>Technology Is
an Amplifier.</a:t>
            </a:r>
          </a:p>
        </p:txBody>
      </p:sp>
      <p:sp>
        <p:nvSpPr>
          <p:cNvPr id="3" name="TextBox 2">
            <a:extLst>
              <a:ext uri="{FF2B5EF4-FFF2-40B4-BE49-F238E27FC236}">
                <a16:creationId xmlns:a16="http://schemas.microsoft.com/office/drawing/2014/main" id="{12FABBB8-9DF7-4565-A5F7-DBA10CC3A73A}"/>
              </a:ext>
            </a:extLst>
          </p:cNvPr>
          <p:cNvSpPr txBox="1"/>
          <p:nvPr/>
        </p:nvSpPr>
        <p:spPr>
          <a:xfrm>
            <a:off x="660400" y="1968500"/>
            <a:ext cx="6477000" cy="2540000"/>
          </a:xfrm>
          <a:prstGeom prst="rect">
            <a:avLst/>
          </a:prstGeom>
          <a:noFill/>
        </p:spPr>
        <p:txBody>
          <a:bodyPr vertOverflow="overflow" vert="horz" wrap="square" rtlCol="0" anchor="t">
            <a:noAutofit/>
          </a:bodyPr>
          <a:lstStyle/>
          <a:p>
            <a:pPr algn="l"/>
            <a:r>
              <a:rPr lang="en-US" sz="1800">
                <a:solidFill>
                  <a:srgbClr val="333333"/>
                </a:solidFill>
                <a:latin typeface="Inter"/>
                <a:ea typeface="Inter"/>
              </a:rPr>
              <a:t>It amplifies what's there.
Good process + CRM = better process
No process + CRM = expensive nothing
Sarah's patterns, Tom's vendor knowledge,
Katie's hiring instincts — that walks out
the door when they leave.</a:t>
            </a:r>
          </a:p>
        </p:txBody>
      </p:sp>
    </p:spTree>
    <p:extLst>
      <p:ext uri="{BB962C8B-B14F-4D97-AF65-F5344CB8AC3E}">
        <p14:creationId xmlns:p14="http://schemas.microsoft.com/office/powerpoint/2010/main" val="3310136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3078B-C1B2-45A6-8DB3-7A2D966CB33C}"/>
              </a:ext>
            </a:extLst>
          </p:cNvPr>
          <p:cNvSpPr txBox="1"/>
          <p:nvPr/>
        </p:nvSpPr>
        <p:spPr>
          <a:xfrm>
            <a:off x="660400" y="762000"/>
            <a:ext cx="6604000" cy="1397000"/>
          </a:xfrm>
          <a:prstGeom prst="rect">
            <a:avLst/>
          </a:prstGeom>
          <a:noFill/>
        </p:spPr>
        <p:txBody>
          <a:bodyPr vertOverflow="overflow" vert="horz" wrap="square" rtlCol="0" anchor="t">
            <a:noAutofit/>
          </a:bodyPr>
          <a:lstStyle/>
          <a:p>
            <a:pPr algn="l"/>
            <a:r>
              <a:rPr lang="en-US" sz="3400" b="1" i="1">
                <a:solidFill>
                  <a:srgbClr val="1E1F20"/>
                </a:solidFill>
                <a:latin typeface="Inter"/>
                <a:ea typeface="Inter"/>
              </a:rPr>
              <a:t>"Buy AI. Automate
workflows. Get productivity."</a:t>
            </a:r>
          </a:p>
        </p:txBody>
      </p:sp>
      <p:sp>
        <p:nvSpPr>
          <p:cNvPr id="3" name="TextBox 2">
            <a:extLst>
              <a:ext uri="{FF2B5EF4-FFF2-40B4-BE49-F238E27FC236}">
                <a16:creationId xmlns:a16="http://schemas.microsoft.com/office/drawing/2014/main" id="{C85F728A-0184-4058-953E-04A0E5C6B2B7}"/>
              </a:ext>
            </a:extLst>
          </p:cNvPr>
          <p:cNvSpPr txBox="1"/>
          <p:nvPr/>
        </p:nvSpPr>
        <p:spPr>
          <a:xfrm>
            <a:off x="660400" y="2667000"/>
            <a:ext cx="6350000" cy="1143000"/>
          </a:xfrm>
          <a:prstGeom prst="rect">
            <a:avLst/>
          </a:prstGeom>
          <a:noFill/>
        </p:spPr>
        <p:txBody>
          <a:bodyPr vertOverflow="overflow" vert="horz" wrap="square" rtlCol="0" anchor="t">
            <a:noAutofit/>
          </a:bodyPr>
          <a:lstStyle/>
          <a:p>
            <a:pPr algn="l"/>
            <a:r>
              <a:rPr lang="en-US" sz="2200">
                <a:solidFill>
                  <a:srgbClr val="0088CC"/>
                </a:solidFill>
                <a:latin typeface="Inter"/>
                <a:ea typeface="Inter"/>
              </a:rPr>
              <a:t>Same pattern loading.
But there's a compounding problem.</a:t>
            </a:r>
          </a:p>
        </p:txBody>
      </p:sp>
    </p:spTree>
    <p:extLst>
      <p:ext uri="{BB962C8B-B14F-4D97-AF65-F5344CB8AC3E}">
        <p14:creationId xmlns:p14="http://schemas.microsoft.com/office/powerpoint/2010/main" val="3979391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D52E56-3CA2-41D4-841E-2622BCE4CABF}"/>
              </a:ext>
            </a:extLst>
          </p:cNvPr>
          <p:cNvSpPr txBox="1"/>
          <p:nvPr/>
        </p:nvSpPr>
        <p:spPr>
          <a:xfrm>
            <a:off x="660400" y="317500"/>
            <a:ext cx="6604000" cy="1143000"/>
          </a:xfrm>
          <a:prstGeom prst="rect">
            <a:avLst/>
          </a:prstGeom>
          <a:noFill/>
        </p:spPr>
        <p:txBody>
          <a:bodyPr vertOverflow="overflow" vert="horz" wrap="square" rtlCol="0" anchor="t">
            <a:noAutofit/>
          </a:bodyPr>
          <a:lstStyle/>
          <a:p>
            <a:pPr algn="l"/>
            <a:r>
              <a:rPr lang="en-US" sz="3200" b="1">
                <a:solidFill>
                  <a:srgbClr val="1E1F20"/>
                </a:solidFill>
                <a:latin typeface="Inter"/>
                <a:ea typeface="Inter"/>
              </a:rPr>
              <a:t>For AI, "tool" is the
wrong category entirely.</a:t>
            </a:r>
          </a:p>
        </p:txBody>
      </p:sp>
      <p:sp>
        <p:nvSpPr>
          <p:cNvPr id="3" name="Rectangle: Rounded Corners 2">
            <a:extLst>
              <a:ext uri="{FF2B5EF4-FFF2-40B4-BE49-F238E27FC236}">
                <a16:creationId xmlns:a16="http://schemas.microsoft.com/office/drawing/2014/main" id="{200185D1-DDF0-4B6D-9C28-68A5C1E5B64A}"/>
              </a:ext>
            </a:extLst>
          </p:cNvPr>
          <p:cNvSpPr/>
          <p:nvPr/>
        </p:nvSpPr>
        <p:spPr>
          <a:xfrm>
            <a:off x="660400" y="1651000"/>
            <a:ext cx="6350000" cy="2921000"/>
          </a:xfrm>
          <a:prstGeom prst="roundRect">
            <a:avLst/>
          </a:prstGeom>
          <a:solidFill>
            <a:srgbClr val="E8F4FD"/>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23EE6982-8E49-4143-9DD3-DA63229F3618}"/>
              </a:ext>
            </a:extLst>
          </p:cNvPr>
          <p:cNvSpPr txBox="1"/>
          <p:nvPr/>
        </p:nvSpPr>
        <p:spPr>
          <a:xfrm>
            <a:off x="914400" y="1803400"/>
            <a:ext cx="5842000" cy="2667000"/>
          </a:xfrm>
          <a:prstGeom prst="rect">
            <a:avLst/>
          </a:prstGeom>
          <a:noFill/>
        </p:spPr>
        <p:txBody>
          <a:bodyPr vertOverflow="overflow" vert="horz" wrap="square" rtlCol="0" anchor="t">
            <a:noAutofit/>
          </a:bodyPr>
          <a:lstStyle/>
          <a:p>
            <a:pPr algn="l"/>
            <a:r>
              <a:rPr lang="en-US" sz="1600">
                <a:solidFill>
                  <a:srgbClr val="1E1F20"/>
                </a:solidFill>
                <a:latin typeface="Inter"/>
                <a:ea typeface="Inter"/>
              </a:rPr>
              <a:t>AI initiates.
It doesn't wait for you to act.
AI has judgment.
Not human judgment, but something you calibrate.
AI operates with autonomy.
Autonomy you design.
AI develops over time.
It changes with use, feedback, context.</a:t>
            </a:r>
          </a:p>
        </p:txBody>
      </p:sp>
    </p:spTree>
    <p:extLst>
      <p:ext uri="{BB962C8B-B14F-4D97-AF65-F5344CB8AC3E}">
        <p14:creationId xmlns:p14="http://schemas.microsoft.com/office/powerpoint/2010/main" val="888474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614CD4-8821-4CE3-B0B6-650B7F76E1BE}"/>
              </a:ext>
            </a:extLst>
          </p:cNvPr>
          <p:cNvSpPr txBox="1"/>
          <p:nvPr/>
        </p:nvSpPr>
        <p:spPr>
          <a:xfrm>
            <a:off x="660400" y="635000"/>
            <a:ext cx="6350000" cy="1333500"/>
          </a:xfrm>
          <a:prstGeom prst="rect">
            <a:avLst/>
          </a:prstGeom>
          <a:noFill/>
        </p:spPr>
        <p:txBody>
          <a:bodyPr vertOverflow="overflow" vert="horz" wrap="square" rtlCol="0" anchor="t">
            <a:noAutofit/>
          </a:bodyPr>
          <a:lstStyle/>
          <a:p>
            <a:pPr algn="l"/>
            <a:r>
              <a:rPr lang="en-US" sz="4200" b="1">
                <a:solidFill>
                  <a:srgbClr val="0088CC"/>
                </a:solidFill>
                <a:latin typeface="Inter"/>
                <a:ea typeface="Inter"/>
              </a:rPr>
              <a:t>AI Workers
Are Workers.</a:t>
            </a:r>
          </a:p>
        </p:txBody>
      </p:sp>
      <p:sp>
        <p:nvSpPr>
          <p:cNvPr id="3" name="TextBox 2">
            <a:extLst>
              <a:ext uri="{FF2B5EF4-FFF2-40B4-BE49-F238E27FC236}">
                <a16:creationId xmlns:a16="http://schemas.microsoft.com/office/drawing/2014/main" id="{303C865D-0270-42E3-8495-FF303A627DC8}"/>
              </a:ext>
            </a:extLst>
          </p:cNvPr>
          <p:cNvSpPr txBox="1"/>
          <p:nvPr/>
        </p:nvSpPr>
        <p:spPr>
          <a:xfrm>
            <a:off x="660400" y="2286000"/>
            <a:ext cx="6350000" cy="2286000"/>
          </a:xfrm>
          <a:prstGeom prst="rect">
            <a:avLst/>
          </a:prstGeom>
          <a:noFill/>
        </p:spPr>
        <p:txBody>
          <a:bodyPr vertOverflow="overflow" vert="horz" wrap="square" rtlCol="0" anchor="t">
            <a:noAutofit/>
          </a:bodyPr>
          <a:lstStyle/>
          <a:p>
            <a:pPr algn="l"/>
            <a:r>
              <a:rPr lang="en-US" sz="2000">
                <a:solidFill>
                  <a:srgbClr val="1E1F20"/>
                </a:solidFill>
                <a:latin typeface="Inter"/>
                <a:ea typeface="Inter"/>
              </a:rPr>
              <a:t>Not software. Workers.
You don't ask "what can this tool do?"
You ask:
What's the job?
Who supervises?
Is the workflow ready?</a:t>
            </a:r>
          </a:p>
        </p:txBody>
      </p:sp>
    </p:spTree>
    <p:extLst>
      <p:ext uri="{BB962C8B-B14F-4D97-AF65-F5344CB8AC3E}">
        <p14:creationId xmlns:p14="http://schemas.microsoft.com/office/powerpoint/2010/main" val="848480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092775-D12D-4354-953B-4C43FD5748D4}"/>
              </a:ext>
            </a:extLst>
          </p:cNvPr>
          <p:cNvSpPr txBox="1"/>
          <p:nvPr/>
        </p:nvSpPr>
        <p:spPr>
          <a:xfrm>
            <a:off x="660400" y="317500"/>
            <a:ext cx="6350000" cy="1016000"/>
          </a:xfrm>
          <a:prstGeom prst="rect">
            <a:avLst/>
          </a:prstGeom>
          <a:noFill/>
        </p:spPr>
        <p:txBody>
          <a:bodyPr vertOverflow="overflow" vert="horz" wrap="square" rtlCol="0" anchor="t">
            <a:noAutofit/>
          </a:bodyPr>
          <a:lstStyle/>
          <a:p>
            <a:pPr algn="l"/>
            <a:r>
              <a:rPr lang="en-US" sz="3200" b="1">
                <a:solidFill>
                  <a:srgbClr val="1E1F20"/>
                </a:solidFill>
                <a:latin typeface="Inter"/>
                <a:ea typeface="Inter"/>
              </a:rPr>
              <a:t>One outcome
per worker.</a:t>
            </a:r>
          </a:p>
        </p:txBody>
      </p:sp>
      <p:sp>
        <p:nvSpPr>
          <p:cNvPr id="3" name="Rectangle: Rounded Corners 2">
            <a:extLst>
              <a:ext uri="{FF2B5EF4-FFF2-40B4-BE49-F238E27FC236}">
                <a16:creationId xmlns:a16="http://schemas.microsoft.com/office/drawing/2014/main" id="{9201A953-EEBC-4180-AF41-CE2DA1D010E4}"/>
              </a:ext>
            </a:extLst>
          </p:cNvPr>
          <p:cNvSpPr/>
          <p:nvPr/>
        </p:nvSpPr>
        <p:spPr>
          <a:xfrm>
            <a:off x="660400" y="1524000"/>
            <a:ext cx="6350000" cy="1016000"/>
          </a:xfrm>
          <a:prstGeom prst="roundRect">
            <a:avLst/>
          </a:prstGeom>
          <a:solidFill>
            <a:srgbClr val="F8F9FA"/>
          </a:solidFill>
          <a:ln w="25400" cap="flat" cmpd="sng" algn="ctr">
            <a:solidFill>
              <a:srgbClr val="0088C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6AC82EC2-FA0A-4E9E-A56B-29A7A56DC0BD}"/>
              </a:ext>
            </a:extLst>
          </p:cNvPr>
          <p:cNvSpPr txBox="1"/>
          <p:nvPr/>
        </p:nvSpPr>
        <p:spPr>
          <a:xfrm>
            <a:off x="914400" y="1651000"/>
            <a:ext cx="2540000" cy="355600"/>
          </a:xfrm>
          <a:prstGeom prst="rect">
            <a:avLst/>
          </a:prstGeom>
          <a:noFill/>
        </p:spPr>
        <p:txBody>
          <a:bodyPr vertOverflow="overflow" vert="horz" wrap="square" rtlCol="0" anchor="t">
            <a:noAutofit/>
          </a:bodyPr>
          <a:lstStyle/>
          <a:p>
            <a:pPr algn="l"/>
            <a:r>
              <a:rPr lang="en-US" sz="1600" b="1">
                <a:solidFill>
                  <a:srgbClr val="0088CC"/>
                </a:solidFill>
                <a:latin typeface="Inter"/>
                <a:ea typeface="Inter"/>
              </a:rPr>
              <a:t>AP Processor</a:t>
            </a:r>
          </a:p>
        </p:txBody>
      </p:sp>
      <p:sp>
        <p:nvSpPr>
          <p:cNvPr id="5" name="TextBox 4">
            <a:extLst>
              <a:ext uri="{FF2B5EF4-FFF2-40B4-BE49-F238E27FC236}">
                <a16:creationId xmlns:a16="http://schemas.microsoft.com/office/drawing/2014/main" id="{74B131EF-126D-4B89-8C12-0696B511EC76}"/>
              </a:ext>
            </a:extLst>
          </p:cNvPr>
          <p:cNvSpPr txBox="1"/>
          <p:nvPr/>
        </p:nvSpPr>
        <p:spPr>
          <a:xfrm>
            <a:off x="914400" y="2032000"/>
            <a:ext cx="5842000" cy="355600"/>
          </a:xfrm>
          <a:prstGeom prst="rect">
            <a:avLst/>
          </a:prstGeom>
          <a:noFill/>
        </p:spPr>
        <p:txBody>
          <a:bodyPr vertOverflow="overflow" vert="horz" wrap="square" rtlCol="0" anchor="t">
            <a:noAutofit/>
          </a:bodyPr>
          <a:lstStyle/>
          <a:p>
            <a:pPr algn="l"/>
            <a:r>
              <a:rPr lang="en-US" sz="1500">
                <a:solidFill>
                  <a:srgbClr val="333333"/>
                </a:solidFill>
                <a:latin typeface="Inter"/>
                <a:ea typeface="Inter"/>
              </a:rPr>
              <a:t>Invoices processed accurately and timely</a:t>
            </a:r>
          </a:p>
        </p:txBody>
      </p:sp>
      <p:sp>
        <p:nvSpPr>
          <p:cNvPr id="6" name="Rectangle: Rounded Corners 5">
            <a:extLst>
              <a:ext uri="{FF2B5EF4-FFF2-40B4-BE49-F238E27FC236}">
                <a16:creationId xmlns:a16="http://schemas.microsoft.com/office/drawing/2014/main" id="{D15D7E8C-81FA-4FFC-B794-0AF0D9738B96}"/>
              </a:ext>
            </a:extLst>
          </p:cNvPr>
          <p:cNvSpPr/>
          <p:nvPr/>
        </p:nvSpPr>
        <p:spPr>
          <a:xfrm>
            <a:off x="660400" y="2730500"/>
            <a:ext cx="6350000" cy="1016000"/>
          </a:xfrm>
          <a:prstGeom prst="roundRect">
            <a:avLst/>
          </a:prstGeom>
          <a:solidFill>
            <a:srgbClr val="F8F9FA"/>
          </a:solidFill>
          <a:ln w="25400" cap="flat" cmpd="sng" algn="ctr">
            <a:solidFill>
              <a:srgbClr val="2E7D32"/>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749E91D6-E0FE-4954-8E30-D09D9D377CEC}"/>
              </a:ext>
            </a:extLst>
          </p:cNvPr>
          <p:cNvSpPr txBox="1"/>
          <p:nvPr/>
        </p:nvSpPr>
        <p:spPr>
          <a:xfrm>
            <a:off x="914400" y="2857500"/>
            <a:ext cx="2540000" cy="355600"/>
          </a:xfrm>
          <a:prstGeom prst="rect">
            <a:avLst/>
          </a:prstGeom>
          <a:noFill/>
        </p:spPr>
        <p:txBody>
          <a:bodyPr vertOverflow="overflow" vert="horz" wrap="square" rtlCol="0" anchor="t">
            <a:noAutofit/>
          </a:bodyPr>
          <a:lstStyle/>
          <a:p>
            <a:pPr algn="l"/>
            <a:r>
              <a:rPr lang="en-US" sz="1600" b="1">
                <a:solidFill>
                  <a:srgbClr val="2E7D32"/>
                </a:solidFill>
                <a:latin typeface="Inter"/>
                <a:ea typeface="Inter"/>
              </a:rPr>
              <a:t>Pipeline Builder</a:t>
            </a:r>
          </a:p>
        </p:txBody>
      </p:sp>
      <p:sp>
        <p:nvSpPr>
          <p:cNvPr id="8" name="TextBox 7">
            <a:extLst>
              <a:ext uri="{FF2B5EF4-FFF2-40B4-BE49-F238E27FC236}">
                <a16:creationId xmlns:a16="http://schemas.microsoft.com/office/drawing/2014/main" id="{C54E34E2-3C14-4518-B817-1FDA25C714A8}"/>
              </a:ext>
            </a:extLst>
          </p:cNvPr>
          <p:cNvSpPr txBox="1"/>
          <p:nvPr/>
        </p:nvSpPr>
        <p:spPr>
          <a:xfrm>
            <a:off x="914400" y="3238500"/>
            <a:ext cx="5842000" cy="355600"/>
          </a:xfrm>
          <a:prstGeom prst="rect">
            <a:avLst/>
          </a:prstGeom>
          <a:noFill/>
        </p:spPr>
        <p:txBody>
          <a:bodyPr vertOverflow="overflow" vert="horz" wrap="square" rtlCol="0" anchor="t">
            <a:noAutofit/>
          </a:bodyPr>
          <a:lstStyle/>
          <a:p>
            <a:pPr algn="l"/>
            <a:r>
              <a:rPr lang="en-US" sz="1500">
                <a:solidFill>
                  <a:srgbClr val="333333"/>
                </a:solidFill>
                <a:latin typeface="Inter"/>
                <a:ea typeface="Inter"/>
              </a:rPr>
              <a:t>Qualified prospects surfaced for open opportunities</a:t>
            </a:r>
          </a:p>
        </p:txBody>
      </p:sp>
      <p:sp>
        <p:nvSpPr>
          <p:cNvPr id="9" name="Rectangle: Rounded Corners 8">
            <a:extLst>
              <a:ext uri="{FF2B5EF4-FFF2-40B4-BE49-F238E27FC236}">
                <a16:creationId xmlns:a16="http://schemas.microsoft.com/office/drawing/2014/main" id="{64E88BE5-D198-44F8-A27B-A2AF60269220}"/>
              </a:ext>
            </a:extLst>
          </p:cNvPr>
          <p:cNvSpPr/>
          <p:nvPr/>
        </p:nvSpPr>
        <p:spPr>
          <a:xfrm>
            <a:off x="660400" y="3937000"/>
            <a:ext cx="6350000" cy="1016000"/>
          </a:xfrm>
          <a:prstGeom prst="roundRect">
            <a:avLst/>
          </a:prstGeom>
          <a:solidFill>
            <a:srgbClr val="F8F9FA"/>
          </a:solidFill>
          <a:ln w="25400" cap="flat" cmpd="sng" algn="ctr">
            <a:solidFill>
              <a:srgbClr val="E651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B16D4D7C-3126-4274-827E-3B542AA27A8B}"/>
              </a:ext>
            </a:extLst>
          </p:cNvPr>
          <p:cNvSpPr txBox="1"/>
          <p:nvPr/>
        </p:nvSpPr>
        <p:spPr>
          <a:xfrm>
            <a:off x="914400" y="4064000"/>
            <a:ext cx="2540000" cy="355600"/>
          </a:xfrm>
          <a:prstGeom prst="rect">
            <a:avLst/>
          </a:prstGeom>
          <a:noFill/>
        </p:spPr>
        <p:txBody>
          <a:bodyPr vertOverflow="overflow" vert="horz" wrap="square" rtlCol="0" anchor="t">
            <a:noAutofit/>
          </a:bodyPr>
          <a:lstStyle/>
          <a:p>
            <a:pPr algn="l"/>
            <a:r>
              <a:rPr lang="en-US" sz="1600" b="1">
                <a:solidFill>
                  <a:srgbClr val="E65100"/>
                </a:solidFill>
                <a:latin typeface="Inter"/>
                <a:ea typeface="Inter"/>
              </a:rPr>
              <a:t>Talent Hunter</a:t>
            </a:r>
          </a:p>
        </p:txBody>
      </p:sp>
      <p:sp>
        <p:nvSpPr>
          <p:cNvPr id="11" name="TextBox 10">
            <a:extLst>
              <a:ext uri="{FF2B5EF4-FFF2-40B4-BE49-F238E27FC236}">
                <a16:creationId xmlns:a16="http://schemas.microsoft.com/office/drawing/2014/main" id="{0318743E-311F-4942-B19A-6534DC281766}"/>
              </a:ext>
            </a:extLst>
          </p:cNvPr>
          <p:cNvSpPr txBox="1"/>
          <p:nvPr/>
        </p:nvSpPr>
        <p:spPr>
          <a:xfrm>
            <a:off x="914400" y="4445000"/>
            <a:ext cx="5842000" cy="355600"/>
          </a:xfrm>
          <a:prstGeom prst="rect">
            <a:avLst/>
          </a:prstGeom>
          <a:noFill/>
        </p:spPr>
        <p:txBody>
          <a:bodyPr vertOverflow="overflow" vert="horz" wrap="square" rtlCol="0" anchor="t">
            <a:noAutofit/>
          </a:bodyPr>
          <a:lstStyle/>
          <a:p>
            <a:pPr algn="l"/>
            <a:r>
              <a:rPr lang="en-US" sz="1500">
                <a:solidFill>
                  <a:srgbClr val="333333"/>
                </a:solidFill>
                <a:latin typeface="Inter"/>
                <a:ea typeface="Inter"/>
              </a:rPr>
              <a:t>Qualified candidates surfaced for open roles</a:t>
            </a:r>
          </a:p>
        </p:txBody>
      </p:sp>
    </p:spTree>
    <p:extLst>
      <p:ext uri="{BB962C8B-B14F-4D97-AF65-F5344CB8AC3E}">
        <p14:creationId xmlns:p14="http://schemas.microsoft.com/office/powerpoint/2010/main" val="37209661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F1EA2A-AD55-458D-96DD-44563C026897}"/>
              </a:ext>
            </a:extLst>
          </p:cNvPr>
          <p:cNvSpPr txBox="1"/>
          <p:nvPr/>
        </p:nvSpPr>
        <p:spPr>
          <a:xfrm>
            <a:off x="660400" y="254000"/>
            <a:ext cx="6350000" cy="635000"/>
          </a:xfrm>
          <a:prstGeom prst="rect">
            <a:avLst/>
          </a:prstGeom>
          <a:noFill/>
        </p:spPr>
        <p:txBody>
          <a:bodyPr vertOverflow="overflow" vert="horz" wrap="square" rtlCol="0" anchor="t">
            <a:noAutofit/>
          </a:bodyPr>
          <a:lstStyle/>
          <a:p>
            <a:pPr algn="l"/>
            <a:r>
              <a:rPr lang="en-US" sz="3000" b="1">
                <a:solidFill>
                  <a:srgbClr val="1E1F20"/>
                </a:solidFill>
                <a:latin typeface="Inter"/>
                <a:ea typeface="Inter"/>
              </a:rPr>
              <a:t>Different Questions.</a:t>
            </a:r>
          </a:p>
        </p:txBody>
      </p:sp>
      <p:sp>
        <p:nvSpPr>
          <p:cNvPr id="3" name="Rectangle: Rounded Corners 2">
            <a:extLst>
              <a:ext uri="{FF2B5EF4-FFF2-40B4-BE49-F238E27FC236}">
                <a16:creationId xmlns:a16="http://schemas.microsoft.com/office/drawing/2014/main" id="{4DA0BF89-ACBF-4856-B2D1-2C8A9D276537}"/>
              </a:ext>
            </a:extLst>
          </p:cNvPr>
          <p:cNvSpPr/>
          <p:nvPr/>
        </p:nvSpPr>
        <p:spPr>
          <a:xfrm>
            <a:off x="660400" y="1079500"/>
            <a:ext cx="3175000" cy="1651000"/>
          </a:xfrm>
          <a:prstGeom prst="roundRect">
            <a:avLst/>
          </a:prstGeom>
          <a:solidFill>
            <a:srgbClr val="FFF3E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2644D8B2-8859-43D0-B34D-2C37302931CF}"/>
              </a:ext>
            </a:extLst>
          </p:cNvPr>
          <p:cNvSpPr txBox="1"/>
          <p:nvPr/>
        </p:nvSpPr>
        <p:spPr>
          <a:xfrm>
            <a:off x="914400" y="1168400"/>
            <a:ext cx="2667000" cy="355600"/>
          </a:xfrm>
          <a:prstGeom prst="rect">
            <a:avLst/>
          </a:prstGeom>
          <a:noFill/>
        </p:spPr>
        <p:txBody>
          <a:bodyPr vertOverflow="overflow" vert="horz" wrap="square" rtlCol="0" anchor="t">
            <a:noAutofit/>
          </a:bodyPr>
          <a:lstStyle/>
          <a:p>
            <a:pPr algn="l"/>
            <a:r>
              <a:rPr lang="en-US" sz="1600" b="1">
                <a:solidFill>
                  <a:srgbClr val="E65100"/>
                </a:solidFill>
                <a:latin typeface="Inter"/>
                <a:ea typeface="Inter"/>
              </a:rPr>
              <a:t>Tool Frame</a:t>
            </a:r>
          </a:p>
        </p:txBody>
      </p:sp>
      <p:sp>
        <p:nvSpPr>
          <p:cNvPr id="5" name="TextBox 4">
            <a:extLst>
              <a:ext uri="{FF2B5EF4-FFF2-40B4-BE49-F238E27FC236}">
                <a16:creationId xmlns:a16="http://schemas.microsoft.com/office/drawing/2014/main" id="{D1AD828E-3A4F-44EE-8E6C-914576B9B183}"/>
              </a:ext>
            </a:extLst>
          </p:cNvPr>
          <p:cNvSpPr txBox="1"/>
          <p:nvPr/>
        </p:nvSpPr>
        <p:spPr>
          <a:xfrm>
            <a:off x="914400" y="1549400"/>
            <a:ext cx="2794000" cy="1016000"/>
          </a:xfrm>
          <a:prstGeom prst="rect">
            <a:avLst/>
          </a:prstGeom>
          <a:noFill/>
        </p:spPr>
        <p:txBody>
          <a:bodyPr vertOverflow="overflow" vert="horz" wrap="square" rtlCol="0" anchor="t">
            <a:noAutofit/>
          </a:bodyPr>
          <a:lstStyle/>
          <a:p>
            <a:pPr algn="l"/>
            <a:r>
              <a:rPr lang="en-US" sz="1600">
                <a:solidFill>
                  <a:srgbClr val="333333"/>
                </a:solidFill>
                <a:latin typeface="Inter"/>
                <a:ea typeface="Inter"/>
              </a:rPr>
              <a:t>"Does this software have
invoice processing?"</a:t>
            </a:r>
          </a:p>
        </p:txBody>
      </p:sp>
      <p:sp>
        <p:nvSpPr>
          <p:cNvPr id="6" name="Rectangle: Rounded Corners 5">
            <a:extLst>
              <a:ext uri="{FF2B5EF4-FFF2-40B4-BE49-F238E27FC236}">
                <a16:creationId xmlns:a16="http://schemas.microsoft.com/office/drawing/2014/main" id="{9B0287A1-3960-4F53-86D8-1B652A5C4BB4}"/>
              </a:ext>
            </a:extLst>
          </p:cNvPr>
          <p:cNvSpPr/>
          <p:nvPr/>
        </p:nvSpPr>
        <p:spPr>
          <a:xfrm>
            <a:off x="4064000" y="1079500"/>
            <a:ext cx="3556000" cy="1651000"/>
          </a:xfrm>
          <a:prstGeom prst="roundRect">
            <a:avLst/>
          </a:prstGeom>
          <a:solidFill>
            <a:srgbClr val="E8F4FD"/>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F52E0D1F-F8D3-412F-9BAC-762C4410C96A}"/>
              </a:ext>
            </a:extLst>
          </p:cNvPr>
          <p:cNvSpPr txBox="1"/>
          <p:nvPr/>
        </p:nvSpPr>
        <p:spPr>
          <a:xfrm>
            <a:off x="4318000" y="1168400"/>
            <a:ext cx="3048000" cy="355600"/>
          </a:xfrm>
          <a:prstGeom prst="rect">
            <a:avLst/>
          </a:prstGeom>
          <a:noFill/>
        </p:spPr>
        <p:txBody>
          <a:bodyPr vertOverflow="overflow" vert="horz" wrap="square" rtlCol="0" anchor="t">
            <a:noAutofit/>
          </a:bodyPr>
          <a:lstStyle/>
          <a:p>
            <a:pPr algn="l"/>
            <a:r>
              <a:rPr lang="en-US" sz="1600" b="1">
                <a:solidFill>
                  <a:srgbClr val="0088CC"/>
                </a:solidFill>
                <a:latin typeface="Inter"/>
                <a:ea typeface="Inter"/>
              </a:rPr>
              <a:t>Worker Frame</a:t>
            </a:r>
          </a:p>
        </p:txBody>
      </p:sp>
      <p:sp>
        <p:nvSpPr>
          <p:cNvPr id="8" name="TextBox 7">
            <a:extLst>
              <a:ext uri="{FF2B5EF4-FFF2-40B4-BE49-F238E27FC236}">
                <a16:creationId xmlns:a16="http://schemas.microsoft.com/office/drawing/2014/main" id="{EBCC2506-159E-48DB-AA6B-B80DF4897BEE}"/>
              </a:ext>
            </a:extLst>
          </p:cNvPr>
          <p:cNvSpPr txBox="1"/>
          <p:nvPr/>
        </p:nvSpPr>
        <p:spPr>
          <a:xfrm>
            <a:off x="4318000" y="1549400"/>
            <a:ext cx="3175000" cy="1016000"/>
          </a:xfrm>
          <a:prstGeom prst="rect">
            <a:avLst/>
          </a:prstGeom>
          <a:noFill/>
        </p:spPr>
        <p:txBody>
          <a:bodyPr vertOverflow="overflow" vert="horz" wrap="square" rtlCol="0" anchor="t">
            <a:noAutofit/>
          </a:bodyPr>
          <a:lstStyle/>
          <a:p>
            <a:pPr algn="l"/>
            <a:r>
              <a:rPr lang="en-US" sz="1500">
                <a:solidFill>
                  <a:srgbClr val="333333"/>
                </a:solidFill>
                <a:latin typeface="Inter"/>
                <a:ea typeface="Inter"/>
              </a:rPr>
              <a:t>What outcome does this worker own?
What decisions can they make alone?
Where do they need supervision?</a:t>
            </a:r>
          </a:p>
        </p:txBody>
      </p:sp>
      <p:sp>
        <p:nvSpPr>
          <p:cNvPr id="9" name="Arrow: Right 8">
            <a:extLst>
              <a:ext uri="{FF2B5EF4-FFF2-40B4-BE49-F238E27FC236}">
                <a16:creationId xmlns:a16="http://schemas.microsoft.com/office/drawing/2014/main" id="{FE72C423-1F19-4C65-921E-8C3DEE5A92E9}"/>
              </a:ext>
            </a:extLst>
          </p:cNvPr>
          <p:cNvSpPr/>
          <p:nvPr/>
        </p:nvSpPr>
        <p:spPr>
          <a:xfrm>
            <a:off x="3581400" y="1651000"/>
            <a:ext cx="609600" cy="381000"/>
          </a:xfrm>
          <a:prstGeom prst="rightArrow">
            <a:avLst/>
          </a:prstGeom>
          <a:solidFill>
            <a:srgbClr val="0088C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96AD0F76-79F9-4D52-ACD2-A7AE6F2C315E}"/>
              </a:ext>
            </a:extLst>
          </p:cNvPr>
          <p:cNvSpPr txBox="1"/>
          <p:nvPr/>
        </p:nvSpPr>
        <p:spPr>
          <a:xfrm>
            <a:off x="660400" y="3048000"/>
            <a:ext cx="6350000" cy="444500"/>
          </a:xfrm>
          <a:prstGeom prst="rect">
            <a:avLst/>
          </a:prstGeom>
          <a:noFill/>
        </p:spPr>
        <p:txBody>
          <a:bodyPr vertOverflow="overflow" vert="horz" wrap="square" rtlCol="0" anchor="t">
            <a:noAutofit/>
          </a:bodyPr>
          <a:lstStyle/>
          <a:p>
            <a:pPr algn="l"/>
            <a:r>
              <a:rPr lang="en-US" sz="1800" b="1">
                <a:solidFill>
                  <a:srgbClr val="0088CC"/>
                </a:solidFill>
                <a:latin typeface="Inter"/>
                <a:ea typeface="Inter"/>
              </a:rPr>
              <a:t>Different questions. Different downstream.</a:t>
            </a:r>
          </a:p>
        </p:txBody>
      </p:sp>
    </p:spTree>
    <p:extLst>
      <p:ext uri="{BB962C8B-B14F-4D97-AF65-F5344CB8AC3E}">
        <p14:creationId xmlns:p14="http://schemas.microsoft.com/office/powerpoint/2010/main" val="934502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8C3B85-1F41-446A-8EAC-8470B888365E}"/>
              </a:ext>
            </a:extLst>
          </p:cNvPr>
          <p:cNvSpPr txBox="1"/>
          <p:nvPr/>
        </p:nvSpPr>
        <p:spPr>
          <a:xfrm>
            <a:off x="660400" y="508000"/>
            <a:ext cx="6350000" cy="1206500"/>
          </a:xfrm>
          <a:prstGeom prst="rect">
            <a:avLst/>
          </a:prstGeom>
          <a:noFill/>
        </p:spPr>
        <p:txBody>
          <a:bodyPr vertOverflow="overflow" vert="horz" wrap="square" rtlCol="0" anchor="t">
            <a:noAutofit/>
          </a:bodyPr>
          <a:lstStyle/>
          <a:p>
            <a:pPr algn="l"/>
            <a:r>
              <a:rPr lang="en-US" sz="3800" b="1">
                <a:solidFill>
                  <a:srgbClr val="1E1F20"/>
                </a:solidFill>
                <a:latin typeface="Inter"/>
                <a:ea typeface="Inter"/>
              </a:rPr>
              <a:t>You Already
Know This.</a:t>
            </a:r>
          </a:p>
        </p:txBody>
      </p:sp>
      <p:sp>
        <p:nvSpPr>
          <p:cNvPr id="3" name="TextBox 2">
            <a:extLst>
              <a:ext uri="{FF2B5EF4-FFF2-40B4-BE49-F238E27FC236}">
                <a16:creationId xmlns:a16="http://schemas.microsoft.com/office/drawing/2014/main" id="{D6D9C719-1227-4B8E-B3D8-F6654F6529B3}"/>
              </a:ext>
            </a:extLst>
          </p:cNvPr>
          <p:cNvSpPr txBox="1"/>
          <p:nvPr/>
        </p:nvSpPr>
        <p:spPr>
          <a:xfrm>
            <a:off x="660400" y="1968500"/>
            <a:ext cx="6350000" cy="2540000"/>
          </a:xfrm>
          <a:prstGeom prst="rect">
            <a:avLst/>
          </a:prstGeom>
          <a:noFill/>
        </p:spPr>
        <p:txBody>
          <a:bodyPr vertOverflow="overflow" vert="horz" wrap="square" rtlCol="0" anchor="t">
            <a:noAutofit/>
          </a:bodyPr>
          <a:lstStyle/>
          <a:p>
            <a:pPr algn="l"/>
            <a:r>
              <a:rPr lang="en-US" sz="1800">
                <a:solidFill>
                  <a:srgbClr val="333333"/>
                </a:solidFill>
                <a:latin typeface="Inter"/>
                <a:ea typeface="Inter"/>
              </a:rPr>
              <a:t>The framework is management.
Define the role.
New hires ramp up.
Some need supervision. Others run.
Manage continuously.
You have the mental model.
It needs translating, not learning.</a:t>
            </a:r>
          </a:p>
        </p:txBody>
      </p:sp>
    </p:spTree>
    <p:extLst>
      <p:ext uri="{BB962C8B-B14F-4D97-AF65-F5344CB8AC3E}">
        <p14:creationId xmlns:p14="http://schemas.microsoft.com/office/powerpoint/2010/main" val="4272516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D4CFCC-4E4E-4300-AB8A-FDF3E99C4481}"/>
              </a:ext>
            </a:extLst>
          </p:cNvPr>
          <p:cNvSpPr txBox="1"/>
          <p:nvPr/>
        </p:nvSpPr>
        <p:spPr>
          <a:xfrm>
            <a:off x="660400" y="190500"/>
            <a:ext cx="6350000" cy="571500"/>
          </a:xfrm>
          <a:prstGeom prst="rect">
            <a:avLst/>
          </a:prstGeom>
          <a:noFill/>
        </p:spPr>
        <p:txBody>
          <a:bodyPr vertOverflow="overflow" vert="horz" wrap="square" rtlCol="0" anchor="t">
            <a:noAutofit/>
          </a:bodyPr>
          <a:lstStyle/>
          <a:p>
            <a:pPr algn="l"/>
            <a:r>
              <a:rPr lang="en-US" sz="3000" b="1">
                <a:solidFill>
                  <a:srgbClr val="1E1F20"/>
                </a:solidFill>
                <a:latin typeface="Inter"/>
                <a:ea typeface="Inter"/>
              </a:rPr>
              <a:t>Autonomy as Design.</a:t>
            </a:r>
          </a:p>
        </p:txBody>
      </p:sp>
      <p:sp>
        <p:nvSpPr>
          <p:cNvPr id="3" name="Rectangle: Rounded Corners 2">
            <a:extLst>
              <a:ext uri="{FF2B5EF4-FFF2-40B4-BE49-F238E27FC236}">
                <a16:creationId xmlns:a16="http://schemas.microsoft.com/office/drawing/2014/main" id="{E6DCB7A5-7C13-4BB7-980F-F7D80DD0ED03}"/>
              </a:ext>
            </a:extLst>
          </p:cNvPr>
          <p:cNvSpPr/>
          <p:nvPr/>
        </p:nvSpPr>
        <p:spPr>
          <a:xfrm>
            <a:off x="660400" y="889000"/>
            <a:ext cx="2159000" cy="2921000"/>
          </a:xfrm>
          <a:prstGeom prst="roundRect">
            <a:avLst/>
          </a:prstGeom>
          <a:solidFill>
            <a:srgbClr val="E8F5E9"/>
          </a:solidFill>
          <a:ln w="25400" cap="flat" cmpd="sng" algn="ctr">
            <a:solidFill>
              <a:srgbClr val="2E7D32"/>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5BC377B4-4E45-472D-B416-D2A82A09D306}"/>
              </a:ext>
            </a:extLst>
          </p:cNvPr>
          <p:cNvSpPr txBox="1"/>
          <p:nvPr/>
        </p:nvSpPr>
        <p:spPr>
          <a:xfrm>
            <a:off x="787400" y="1016000"/>
            <a:ext cx="1905000" cy="381000"/>
          </a:xfrm>
          <a:prstGeom prst="rect">
            <a:avLst/>
          </a:prstGeom>
          <a:noFill/>
        </p:spPr>
        <p:txBody>
          <a:bodyPr vertOverflow="overflow" vert="horz" wrap="square" rtlCol="0" anchor="t">
            <a:noAutofit/>
          </a:bodyPr>
          <a:lstStyle/>
          <a:p>
            <a:pPr algn="l"/>
            <a:r>
              <a:rPr lang="en-US" sz="1600" b="1">
                <a:solidFill>
                  <a:srgbClr val="2E7D32"/>
                </a:solidFill>
                <a:latin typeface="Inter"/>
                <a:ea typeface="Inter"/>
              </a:rPr>
              <a:t>Autonomous</a:t>
            </a:r>
          </a:p>
        </p:txBody>
      </p:sp>
      <p:sp>
        <p:nvSpPr>
          <p:cNvPr id="5" name="TextBox 4">
            <a:extLst>
              <a:ext uri="{FF2B5EF4-FFF2-40B4-BE49-F238E27FC236}">
                <a16:creationId xmlns:a16="http://schemas.microsoft.com/office/drawing/2014/main" id="{59F981D9-5850-48E2-BD88-A775A48E8AEE}"/>
              </a:ext>
            </a:extLst>
          </p:cNvPr>
          <p:cNvSpPr txBox="1"/>
          <p:nvPr/>
        </p:nvSpPr>
        <p:spPr>
          <a:xfrm>
            <a:off x="787400" y="1460500"/>
            <a:ext cx="1905000" cy="2032000"/>
          </a:xfrm>
          <a:prstGeom prst="rect">
            <a:avLst/>
          </a:prstGeom>
          <a:noFill/>
        </p:spPr>
        <p:txBody>
          <a:bodyPr vertOverflow="overflow" vert="horz" wrap="square" rtlCol="0" anchor="t">
            <a:noAutofit/>
          </a:bodyPr>
          <a:lstStyle/>
          <a:p>
            <a:pPr algn="l"/>
            <a:r>
              <a:rPr lang="en-US">
                <a:solidFill>
                  <a:srgbClr val="333333"/>
                </a:solidFill>
                <a:latin typeface="Inter"/>
                <a:ea typeface="Inter"/>
              </a:rPr>
              <a:t>Runs independently,
surfaces exceptions.
Internal processes,
clear rules.</a:t>
            </a:r>
          </a:p>
        </p:txBody>
      </p:sp>
      <p:sp>
        <p:nvSpPr>
          <p:cNvPr id="6" name="Rectangle: Rounded Corners 5">
            <a:extLst>
              <a:ext uri="{FF2B5EF4-FFF2-40B4-BE49-F238E27FC236}">
                <a16:creationId xmlns:a16="http://schemas.microsoft.com/office/drawing/2014/main" id="{65E4A214-6F43-43F7-9735-5BDB49F76C34}"/>
              </a:ext>
            </a:extLst>
          </p:cNvPr>
          <p:cNvSpPr/>
          <p:nvPr/>
        </p:nvSpPr>
        <p:spPr>
          <a:xfrm>
            <a:off x="3009900" y="889000"/>
            <a:ext cx="2159000" cy="2921000"/>
          </a:xfrm>
          <a:prstGeom prst="roundRect">
            <a:avLst/>
          </a:prstGeom>
          <a:solidFill>
            <a:srgbClr val="FFF3E0"/>
          </a:solidFill>
          <a:ln w="25400" cap="flat" cmpd="sng" algn="ctr">
            <a:solidFill>
              <a:srgbClr val="E651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91C3F2F6-9326-498E-A528-5637CD18BCAE}"/>
              </a:ext>
            </a:extLst>
          </p:cNvPr>
          <p:cNvSpPr txBox="1"/>
          <p:nvPr/>
        </p:nvSpPr>
        <p:spPr>
          <a:xfrm>
            <a:off x="3136900" y="1016000"/>
            <a:ext cx="1905000" cy="381000"/>
          </a:xfrm>
          <a:prstGeom prst="rect">
            <a:avLst/>
          </a:prstGeom>
          <a:noFill/>
        </p:spPr>
        <p:txBody>
          <a:bodyPr vertOverflow="overflow" vert="horz" wrap="square" rtlCol="0" anchor="t">
            <a:noAutofit/>
          </a:bodyPr>
          <a:lstStyle/>
          <a:p>
            <a:pPr algn="l"/>
            <a:r>
              <a:rPr lang="en-US" sz="1600" b="1">
                <a:solidFill>
                  <a:srgbClr val="E65100"/>
                </a:solidFill>
                <a:latin typeface="Inter"/>
                <a:ea typeface="Inter"/>
              </a:rPr>
              <a:t>Supervised</a:t>
            </a:r>
          </a:p>
        </p:txBody>
      </p:sp>
      <p:sp>
        <p:nvSpPr>
          <p:cNvPr id="8" name="TextBox 7">
            <a:extLst>
              <a:ext uri="{FF2B5EF4-FFF2-40B4-BE49-F238E27FC236}">
                <a16:creationId xmlns:a16="http://schemas.microsoft.com/office/drawing/2014/main" id="{C70696C3-FD72-4DE9-B7FB-312C123EB94B}"/>
              </a:ext>
            </a:extLst>
          </p:cNvPr>
          <p:cNvSpPr txBox="1"/>
          <p:nvPr/>
        </p:nvSpPr>
        <p:spPr>
          <a:xfrm>
            <a:off x="3136900" y="1460500"/>
            <a:ext cx="1905000" cy="2032000"/>
          </a:xfrm>
          <a:prstGeom prst="rect">
            <a:avLst/>
          </a:prstGeom>
          <a:noFill/>
        </p:spPr>
        <p:txBody>
          <a:bodyPr vertOverflow="overflow" vert="horz" wrap="square" rtlCol="0" anchor="t">
            <a:noAutofit/>
          </a:bodyPr>
          <a:lstStyle/>
          <a:p>
            <a:pPr algn="l"/>
            <a:r>
              <a:rPr lang="en-US">
                <a:solidFill>
                  <a:srgbClr val="333333"/>
                </a:solidFill>
                <a:latin typeface="Inter"/>
                <a:ea typeface="Inter"/>
              </a:rPr>
              <a:t>Recommends,
human approves.
External communication,
higher stakes.</a:t>
            </a:r>
          </a:p>
        </p:txBody>
      </p:sp>
      <p:sp>
        <p:nvSpPr>
          <p:cNvPr id="9" name="Rectangle: Rounded Corners 8">
            <a:extLst>
              <a:ext uri="{FF2B5EF4-FFF2-40B4-BE49-F238E27FC236}">
                <a16:creationId xmlns:a16="http://schemas.microsoft.com/office/drawing/2014/main" id="{FA69FC06-BA78-4005-B6C2-2DDF3C340ECB}"/>
              </a:ext>
            </a:extLst>
          </p:cNvPr>
          <p:cNvSpPr/>
          <p:nvPr/>
        </p:nvSpPr>
        <p:spPr>
          <a:xfrm>
            <a:off x="5359400" y="889000"/>
            <a:ext cx="2159000" cy="2921000"/>
          </a:xfrm>
          <a:prstGeom prst="roundRect">
            <a:avLst/>
          </a:prstGeom>
          <a:solidFill>
            <a:srgbClr val="E8F4FD"/>
          </a:solidFill>
          <a:ln w="25400" cap="flat" cmpd="sng" algn="ctr">
            <a:solidFill>
              <a:srgbClr val="0088C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EB266F3C-18EB-443B-B81A-2E371733E09F}"/>
              </a:ext>
            </a:extLst>
          </p:cNvPr>
          <p:cNvSpPr txBox="1"/>
          <p:nvPr/>
        </p:nvSpPr>
        <p:spPr>
          <a:xfrm>
            <a:off x="5486400" y="1016000"/>
            <a:ext cx="1905000" cy="381000"/>
          </a:xfrm>
          <a:prstGeom prst="rect">
            <a:avLst/>
          </a:prstGeom>
          <a:noFill/>
        </p:spPr>
        <p:txBody>
          <a:bodyPr vertOverflow="overflow" vert="horz" wrap="square" rtlCol="0" anchor="t">
            <a:noAutofit/>
          </a:bodyPr>
          <a:lstStyle/>
          <a:p>
            <a:pPr algn="l"/>
            <a:r>
              <a:rPr lang="en-US" sz="1600" b="1">
                <a:solidFill>
                  <a:srgbClr val="0088CC"/>
                </a:solidFill>
                <a:latin typeface="Inter"/>
                <a:ea typeface="Inter"/>
              </a:rPr>
              <a:t>Human-Led</a:t>
            </a:r>
          </a:p>
        </p:txBody>
      </p:sp>
      <p:sp>
        <p:nvSpPr>
          <p:cNvPr id="11" name="TextBox 10">
            <a:extLst>
              <a:ext uri="{FF2B5EF4-FFF2-40B4-BE49-F238E27FC236}">
                <a16:creationId xmlns:a16="http://schemas.microsoft.com/office/drawing/2014/main" id="{E478AB02-5CB3-4574-B2C3-A2B3189DCC95}"/>
              </a:ext>
            </a:extLst>
          </p:cNvPr>
          <p:cNvSpPr txBox="1"/>
          <p:nvPr/>
        </p:nvSpPr>
        <p:spPr>
          <a:xfrm>
            <a:off x="5486400" y="1460500"/>
            <a:ext cx="1905000" cy="2032000"/>
          </a:xfrm>
          <a:prstGeom prst="rect">
            <a:avLst/>
          </a:prstGeom>
          <a:noFill/>
        </p:spPr>
        <p:txBody>
          <a:bodyPr vertOverflow="overflow" vert="horz" wrap="square" rtlCol="0" anchor="t">
            <a:noAutofit/>
          </a:bodyPr>
          <a:lstStyle/>
          <a:p>
            <a:pPr algn="l"/>
            <a:r>
              <a:rPr lang="en-US">
                <a:solidFill>
                  <a:srgbClr val="333333"/>
                </a:solidFill>
                <a:latin typeface="Inter"/>
                <a:ea typeface="Inter"/>
              </a:rPr>
              <a:t>Assists, never owns.
Creative work,
brand voice,
judgment-heavy.</a:t>
            </a:r>
          </a:p>
        </p:txBody>
      </p:sp>
      <p:sp>
        <p:nvSpPr>
          <p:cNvPr id="12" name="TextBox 11">
            <a:extLst>
              <a:ext uri="{FF2B5EF4-FFF2-40B4-BE49-F238E27FC236}">
                <a16:creationId xmlns:a16="http://schemas.microsoft.com/office/drawing/2014/main" id="{7CCB7215-1B3F-442B-AB4B-97BEE6D8C882}"/>
              </a:ext>
            </a:extLst>
          </p:cNvPr>
          <p:cNvSpPr txBox="1"/>
          <p:nvPr/>
        </p:nvSpPr>
        <p:spPr>
          <a:xfrm>
            <a:off x="660400" y="4064000"/>
            <a:ext cx="6985000" cy="444500"/>
          </a:xfrm>
          <a:prstGeom prst="rect">
            <a:avLst/>
          </a:prstGeom>
          <a:noFill/>
        </p:spPr>
        <p:txBody>
          <a:bodyPr vertOverflow="overflow" vert="horz" wrap="square" rtlCol="0" anchor="t">
            <a:noAutofit/>
          </a:bodyPr>
          <a:lstStyle/>
          <a:p>
            <a:pPr algn="l"/>
            <a:r>
              <a:rPr lang="en-US" sz="1800" b="1">
                <a:solidFill>
                  <a:srgbClr val="0088CC"/>
                </a:solidFill>
                <a:latin typeface="Inter"/>
                <a:ea typeface="Inter"/>
              </a:rPr>
              <a:t>Same technology. Different relationship. Your choice.</a:t>
            </a:r>
          </a:p>
        </p:txBody>
      </p:sp>
    </p:spTree>
    <p:extLst>
      <p:ext uri="{BB962C8B-B14F-4D97-AF65-F5344CB8AC3E}">
        <p14:creationId xmlns:p14="http://schemas.microsoft.com/office/powerpoint/2010/main" val="3888943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E791A0-7644-4D85-B09F-BCB91FD1ED1B}"/>
              </a:ext>
            </a:extLst>
          </p:cNvPr>
          <p:cNvSpPr txBox="1"/>
          <p:nvPr/>
        </p:nvSpPr>
        <p:spPr>
          <a:xfrm>
            <a:off x="660400" y="152400"/>
            <a:ext cx="6350000" cy="863600"/>
          </a:xfrm>
          <a:prstGeom prst="rect">
            <a:avLst/>
          </a:prstGeom>
          <a:noFill/>
        </p:spPr>
        <p:txBody>
          <a:bodyPr vertOverflow="overflow" vert="horz" wrap="square" rtlCol="0" anchor="t">
            <a:noAutofit/>
          </a:bodyPr>
          <a:lstStyle/>
          <a:p>
            <a:pPr algn="l"/>
            <a:r>
              <a:rPr lang="en-US" sz="2800" b="1">
                <a:solidFill>
                  <a:srgbClr val="1E1F20"/>
                </a:solidFill>
                <a:latin typeface="Inter"/>
                <a:ea typeface="Inter"/>
              </a:rPr>
              <a:t>Where the Value
Actually Lives.</a:t>
            </a:r>
          </a:p>
        </p:txBody>
      </p:sp>
      <p:sp>
        <p:nvSpPr>
          <p:cNvPr id="3" name="Rectangle: Rounded Corners 2">
            <a:extLst>
              <a:ext uri="{FF2B5EF4-FFF2-40B4-BE49-F238E27FC236}">
                <a16:creationId xmlns:a16="http://schemas.microsoft.com/office/drawing/2014/main" id="{7B825683-FE9B-4268-9AFE-B269DB99D79F}"/>
              </a:ext>
            </a:extLst>
          </p:cNvPr>
          <p:cNvSpPr/>
          <p:nvPr/>
        </p:nvSpPr>
        <p:spPr>
          <a:xfrm>
            <a:off x="660400" y="1079500"/>
            <a:ext cx="4064000" cy="381000"/>
          </a:xfrm>
          <a:prstGeom prst="roundRect">
            <a:avLst/>
          </a:prstGeom>
          <a:solidFill>
            <a:srgbClr val="0D47A1"/>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Inter"/>
                <a:ea typeface="Inter"/>
              </a:rPr>
              <a:t>Foresight</a:t>
            </a:r>
          </a:p>
        </p:txBody>
      </p:sp>
      <p:sp>
        <p:nvSpPr>
          <p:cNvPr id="4" name="Rectangle: Rounded Corners 3">
            <a:extLst>
              <a:ext uri="{FF2B5EF4-FFF2-40B4-BE49-F238E27FC236}">
                <a16:creationId xmlns:a16="http://schemas.microsoft.com/office/drawing/2014/main" id="{DAB0ED00-9211-475F-8322-CE1469EEF60E}"/>
              </a:ext>
            </a:extLst>
          </p:cNvPr>
          <p:cNvSpPr/>
          <p:nvPr/>
        </p:nvSpPr>
        <p:spPr>
          <a:xfrm>
            <a:off x="660400" y="1524000"/>
            <a:ext cx="4064000" cy="381000"/>
          </a:xfrm>
          <a:prstGeom prst="roundRect">
            <a:avLst/>
          </a:prstGeom>
          <a:solidFill>
            <a:srgbClr val="1565C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Inter"/>
                <a:ea typeface="Inter"/>
              </a:rPr>
              <a:t>Insight</a:t>
            </a:r>
          </a:p>
        </p:txBody>
      </p:sp>
      <p:sp>
        <p:nvSpPr>
          <p:cNvPr id="5" name="Rectangle: Rounded Corners 4">
            <a:extLst>
              <a:ext uri="{FF2B5EF4-FFF2-40B4-BE49-F238E27FC236}">
                <a16:creationId xmlns:a16="http://schemas.microsoft.com/office/drawing/2014/main" id="{C5653CAF-4A6C-4E1D-9B47-1993202AB34C}"/>
              </a:ext>
            </a:extLst>
          </p:cNvPr>
          <p:cNvSpPr/>
          <p:nvPr/>
        </p:nvSpPr>
        <p:spPr>
          <a:xfrm>
            <a:off x="660400" y="1968500"/>
            <a:ext cx="4064000" cy="381000"/>
          </a:xfrm>
          <a:prstGeom prst="roundRect">
            <a:avLst/>
          </a:prstGeom>
          <a:solidFill>
            <a:srgbClr val="5C6BC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Inter"/>
                <a:ea typeface="Inter"/>
              </a:rPr>
              <a:t>Hindsight</a:t>
            </a:r>
          </a:p>
        </p:txBody>
      </p:sp>
      <p:sp>
        <p:nvSpPr>
          <p:cNvPr id="6" name="Rectangle: Rounded Corners 5">
            <a:extLst>
              <a:ext uri="{FF2B5EF4-FFF2-40B4-BE49-F238E27FC236}">
                <a16:creationId xmlns:a16="http://schemas.microsoft.com/office/drawing/2014/main" id="{6DD6D734-5E61-4776-9546-A5FEB6062CA5}"/>
              </a:ext>
            </a:extLst>
          </p:cNvPr>
          <p:cNvSpPr/>
          <p:nvPr/>
        </p:nvSpPr>
        <p:spPr>
          <a:xfrm>
            <a:off x="660400" y="2413000"/>
            <a:ext cx="4064000" cy="381000"/>
          </a:xfrm>
          <a:prstGeom prst="roundRect">
            <a:avLst/>
          </a:prstGeom>
          <a:solidFill>
            <a:srgbClr val="7986CB"/>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Inter"/>
                <a:ea typeface="Inter"/>
              </a:rPr>
              <a:t>Expertise</a:t>
            </a:r>
          </a:p>
        </p:txBody>
      </p:sp>
      <p:sp>
        <p:nvSpPr>
          <p:cNvPr id="7" name="Rectangle: Rounded Corners 6">
            <a:extLst>
              <a:ext uri="{FF2B5EF4-FFF2-40B4-BE49-F238E27FC236}">
                <a16:creationId xmlns:a16="http://schemas.microsoft.com/office/drawing/2014/main" id="{BAEB674C-EDF0-4C34-A97F-354DBA5ADABF}"/>
              </a:ext>
            </a:extLst>
          </p:cNvPr>
          <p:cNvSpPr/>
          <p:nvPr/>
        </p:nvSpPr>
        <p:spPr>
          <a:xfrm>
            <a:off x="660400" y="2857500"/>
            <a:ext cx="4064000" cy="381000"/>
          </a:xfrm>
          <a:prstGeom prst="roundRect">
            <a:avLst/>
          </a:prstGeom>
          <a:solidFill>
            <a:srgbClr val="42A5F5"/>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Inter"/>
                <a:ea typeface="Inter"/>
              </a:rPr>
              <a:t>Knowledge</a:t>
            </a:r>
          </a:p>
        </p:txBody>
      </p:sp>
      <p:sp>
        <p:nvSpPr>
          <p:cNvPr id="8" name="Rectangle: Rounded Corners 7">
            <a:extLst>
              <a:ext uri="{FF2B5EF4-FFF2-40B4-BE49-F238E27FC236}">
                <a16:creationId xmlns:a16="http://schemas.microsoft.com/office/drawing/2014/main" id="{E48914CE-85E7-4648-A9D1-90FA3A8848E5}"/>
              </a:ext>
            </a:extLst>
          </p:cNvPr>
          <p:cNvSpPr/>
          <p:nvPr/>
        </p:nvSpPr>
        <p:spPr>
          <a:xfrm>
            <a:off x="660400" y="3302000"/>
            <a:ext cx="4064000" cy="381000"/>
          </a:xfrm>
          <a:prstGeom prst="roundRect">
            <a:avLst/>
          </a:prstGeom>
          <a:solidFill>
            <a:srgbClr val="64B5F6"/>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Inter"/>
                <a:ea typeface="Inter"/>
              </a:rPr>
              <a:t>Information</a:t>
            </a:r>
          </a:p>
        </p:txBody>
      </p:sp>
      <p:sp>
        <p:nvSpPr>
          <p:cNvPr id="9" name="Rectangle: Rounded Corners 8">
            <a:extLst>
              <a:ext uri="{FF2B5EF4-FFF2-40B4-BE49-F238E27FC236}">
                <a16:creationId xmlns:a16="http://schemas.microsoft.com/office/drawing/2014/main" id="{DD7ECE20-C4FF-48D8-A6CC-055E5C85DC90}"/>
              </a:ext>
            </a:extLst>
          </p:cNvPr>
          <p:cNvSpPr/>
          <p:nvPr/>
        </p:nvSpPr>
        <p:spPr>
          <a:xfrm>
            <a:off x="660400" y="3746500"/>
            <a:ext cx="4064000" cy="381000"/>
          </a:xfrm>
          <a:prstGeom prst="roundRect">
            <a:avLst/>
          </a:prstGeom>
          <a:solidFill>
            <a:srgbClr val="90CAF9"/>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Inter"/>
                <a:ea typeface="Inter"/>
              </a:rPr>
              <a:t>Data</a:t>
            </a:r>
          </a:p>
        </p:txBody>
      </p:sp>
      <p:sp>
        <p:nvSpPr>
          <p:cNvPr id="10" name="TextBox 9">
            <a:extLst>
              <a:ext uri="{FF2B5EF4-FFF2-40B4-BE49-F238E27FC236}">
                <a16:creationId xmlns:a16="http://schemas.microsoft.com/office/drawing/2014/main" id="{33B3832C-14E4-4508-9889-80A5522DBCFA}"/>
              </a:ext>
            </a:extLst>
          </p:cNvPr>
          <p:cNvSpPr txBox="1"/>
          <p:nvPr/>
        </p:nvSpPr>
        <p:spPr>
          <a:xfrm>
            <a:off x="4953000" y="1143000"/>
            <a:ext cx="2286000" cy="381000"/>
          </a:xfrm>
          <a:prstGeom prst="rect">
            <a:avLst/>
          </a:prstGeom>
          <a:noFill/>
        </p:spPr>
        <p:txBody>
          <a:bodyPr vertOverflow="overflow" vert="horz" wrap="square" rtlCol="0" anchor="t">
            <a:noAutofit/>
          </a:bodyPr>
          <a:lstStyle/>
          <a:p>
            <a:pPr algn="l"/>
            <a:r>
              <a:rPr lang="en-US" b="1">
                <a:solidFill>
                  <a:srgbClr val="0D47A1"/>
                </a:solidFill>
                <a:latin typeface="Inter"/>
                <a:ea typeface="Inter"/>
              </a:rPr>
              <a:t>Humans Own</a:t>
            </a:r>
          </a:p>
        </p:txBody>
      </p:sp>
      <p:sp>
        <p:nvSpPr>
          <p:cNvPr id="11" name="TextBox 10">
            <a:extLst>
              <a:ext uri="{FF2B5EF4-FFF2-40B4-BE49-F238E27FC236}">
                <a16:creationId xmlns:a16="http://schemas.microsoft.com/office/drawing/2014/main" id="{88F5072E-8D9C-4751-8C6A-8C021823C05B}"/>
              </a:ext>
            </a:extLst>
          </p:cNvPr>
          <p:cNvSpPr txBox="1"/>
          <p:nvPr/>
        </p:nvSpPr>
        <p:spPr>
          <a:xfrm>
            <a:off x="4953000" y="2057400"/>
            <a:ext cx="2286000" cy="381000"/>
          </a:xfrm>
          <a:prstGeom prst="rect">
            <a:avLst/>
          </a:prstGeom>
          <a:noFill/>
        </p:spPr>
        <p:txBody>
          <a:bodyPr vertOverflow="overflow" vert="horz" wrap="square" rtlCol="0" anchor="t">
            <a:noAutofit/>
          </a:bodyPr>
          <a:lstStyle/>
          <a:p>
            <a:pPr algn="l"/>
            <a:r>
              <a:rPr lang="en-US" b="1">
                <a:solidFill>
                  <a:srgbClr val="5C6BC0"/>
                </a:solidFill>
                <a:latin typeface="Inter"/>
                <a:ea typeface="Inter"/>
              </a:rPr>
              <a:t>Humans + AI Share</a:t>
            </a:r>
          </a:p>
        </p:txBody>
      </p:sp>
      <p:sp>
        <p:nvSpPr>
          <p:cNvPr id="12" name="TextBox 11">
            <a:extLst>
              <a:ext uri="{FF2B5EF4-FFF2-40B4-BE49-F238E27FC236}">
                <a16:creationId xmlns:a16="http://schemas.microsoft.com/office/drawing/2014/main" id="{B9CF6E4F-AC06-4023-9D27-9E8196686FDE}"/>
              </a:ext>
            </a:extLst>
          </p:cNvPr>
          <p:cNvSpPr txBox="1"/>
          <p:nvPr/>
        </p:nvSpPr>
        <p:spPr>
          <a:xfrm>
            <a:off x="4953000" y="3200400"/>
            <a:ext cx="2286000" cy="381000"/>
          </a:xfrm>
          <a:prstGeom prst="rect">
            <a:avLst/>
          </a:prstGeom>
          <a:noFill/>
        </p:spPr>
        <p:txBody>
          <a:bodyPr vertOverflow="overflow" vert="horz" wrap="square" rtlCol="0" anchor="t">
            <a:noAutofit/>
          </a:bodyPr>
          <a:lstStyle/>
          <a:p>
            <a:pPr algn="l"/>
            <a:r>
              <a:rPr lang="en-US" b="1">
                <a:solidFill>
                  <a:srgbClr val="42A5F5"/>
                </a:solidFill>
                <a:latin typeface="Inter"/>
                <a:ea typeface="Inter"/>
              </a:rPr>
              <a:t>AI Handles Overnight</a:t>
            </a:r>
          </a:p>
        </p:txBody>
      </p:sp>
      <p:sp>
        <p:nvSpPr>
          <p:cNvPr id="13" name="Arrow: Right 12">
            <a:extLst>
              <a:ext uri="{FF2B5EF4-FFF2-40B4-BE49-F238E27FC236}">
                <a16:creationId xmlns:a16="http://schemas.microsoft.com/office/drawing/2014/main" id="{1D49722A-CBE7-4FB0-8DA2-07B1A549A127}"/>
              </a:ext>
            </a:extLst>
          </p:cNvPr>
          <p:cNvSpPr/>
          <p:nvPr/>
        </p:nvSpPr>
        <p:spPr>
          <a:xfrm>
            <a:off x="4800600" y="1244600"/>
            <a:ext cx="177800" cy="177800"/>
          </a:xfrm>
          <a:prstGeom prst="rightArrow">
            <a:avLst/>
          </a:prstGeom>
          <a:solidFill>
            <a:srgbClr val="0D47A1"/>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Arrow: Right 13">
            <a:extLst>
              <a:ext uri="{FF2B5EF4-FFF2-40B4-BE49-F238E27FC236}">
                <a16:creationId xmlns:a16="http://schemas.microsoft.com/office/drawing/2014/main" id="{5EC49D30-435A-4F49-9B26-A93EBBBC6C22}"/>
              </a:ext>
            </a:extLst>
          </p:cNvPr>
          <p:cNvSpPr/>
          <p:nvPr/>
        </p:nvSpPr>
        <p:spPr>
          <a:xfrm>
            <a:off x="4800600" y="2159000"/>
            <a:ext cx="177800" cy="177800"/>
          </a:xfrm>
          <a:prstGeom prst="rightArrow">
            <a:avLst/>
          </a:prstGeom>
          <a:solidFill>
            <a:srgbClr val="5C6BC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Arrow: Right 14">
            <a:extLst>
              <a:ext uri="{FF2B5EF4-FFF2-40B4-BE49-F238E27FC236}">
                <a16:creationId xmlns:a16="http://schemas.microsoft.com/office/drawing/2014/main" id="{D3E27F70-0E52-4BB5-821A-6E3987940055}"/>
              </a:ext>
            </a:extLst>
          </p:cNvPr>
          <p:cNvSpPr/>
          <p:nvPr/>
        </p:nvSpPr>
        <p:spPr>
          <a:xfrm>
            <a:off x="4800600" y="3302000"/>
            <a:ext cx="177800" cy="177800"/>
          </a:xfrm>
          <a:prstGeom prst="rightArrow">
            <a:avLst/>
          </a:prstGeom>
          <a:solidFill>
            <a:srgbClr val="42A5F5"/>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467395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9F17A6-46E7-476E-AD02-76B8CED4D181}"/>
              </a:ext>
            </a:extLst>
          </p:cNvPr>
          <p:cNvSpPr txBox="1"/>
          <p:nvPr/>
        </p:nvSpPr>
        <p:spPr>
          <a:xfrm>
            <a:off x="660400" y="190500"/>
            <a:ext cx="6350000" cy="571500"/>
          </a:xfrm>
          <a:prstGeom prst="rect">
            <a:avLst/>
          </a:prstGeom>
          <a:noFill/>
        </p:spPr>
        <p:txBody>
          <a:bodyPr vertOverflow="overflow" vert="horz" wrap="square" rtlCol="0" anchor="t">
            <a:noAutofit/>
          </a:bodyPr>
          <a:lstStyle/>
          <a:p>
            <a:pPr algn="l"/>
            <a:r>
              <a:rPr lang="en-US" sz="3000" b="1">
                <a:solidFill>
                  <a:srgbClr val="1E1F20"/>
                </a:solidFill>
                <a:latin typeface="Inter"/>
                <a:ea typeface="Inter"/>
              </a:rPr>
              <a:t>The Gradient Shifts.</a:t>
            </a:r>
          </a:p>
        </p:txBody>
      </p:sp>
      <p:graphicFrame>
        <p:nvGraphicFramePr>
          <p:cNvPr id="4" name="Table 3">
            <a:extLst>
              <a:ext uri="{FF2B5EF4-FFF2-40B4-BE49-F238E27FC236}">
                <a16:creationId xmlns:a16="http://schemas.microsoft.com/office/drawing/2014/main" id="{E586B390-A101-47A1-A53E-1EAFEB219BEE}"/>
              </a:ext>
            </a:extLst>
          </p:cNvPr>
          <p:cNvGraphicFramePr>
            <a:graphicFrameLocks noGrp="1"/>
          </p:cNvGraphicFramePr>
          <p:nvPr>
            <p:extLst>
              <p:ext uri="{D42A27DB-BD31-4B8C-83A1-F6EECF244321}">
                <p14:modId xmlns:p14="http://schemas.microsoft.com/office/powerpoint/2010/main" val="3214356475"/>
              </p:ext>
            </p:extLst>
          </p:nvPr>
        </p:nvGraphicFramePr>
        <p:xfrm>
          <a:off x="660400" y="914400"/>
          <a:ext cx="6731000" cy="26670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164640185"/>
                    </a:ext>
                  </a:extLst>
                </a:gridCol>
                <a:gridCol w="5207000">
                  <a:extLst>
                    <a:ext uri="{9D8B030D-6E8A-4147-A177-3AD203B41FA5}">
                      <a16:colId xmlns:a16="http://schemas.microsoft.com/office/drawing/2014/main" val="4109066246"/>
                    </a:ext>
                  </a:extLst>
                </a:gridCol>
              </a:tblGrid>
              <a:tr h="533400">
                <a:tc>
                  <a:txBody>
                    <a:bodyPr/>
                    <a:lstStyle/>
                    <a:p>
                      <a:pPr algn="ctr"/>
                      <a:r>
                        <a:rPr lang="en-US" sz="1400" b="1">
                          <a:solidFill>
                            <a:srgbClr val="FFFFFF"/>
                          </a:solidFill>
                          <a:latin typeface="Inter"/>
                          <a:ea typeface="Inter"/>
                        </a:rPr>
                        <a:t>Timeline</a:t>
                      </a:r>
                    </a:p>
                  </a:txBody>
                  <a:tcPr anchor="ctr">
                    <a:solidFill>
                      <a:srgbClr val="0088CC"/>
                    </a:solidFill>
                  </a:tcPr>
                </a:tc>
                <a:tc>
                  <a:txBody>
                    <a:bodyPr/>
                    <a:lstStyle/>
                    <a:p>
                      <a:pPr algn="ctr"/>
                      <a:r>
                        <a:rPr lang="en-US" sz="1400" b="1">
                          <a:solidFill>
                            <a:srgbClr val="FFFFFF"/>
                          </a:solidFill>
                          <a:latin typeface="Inter"/>
                          <a:ea typeface="Inter"/>
                        </a:rPr>
                        <a:t>What AI Handles</a:t>
                      </a:r>
                    </a:p>
                  </a:txBody>
                  <a:tcPr anchor="ctr">
                    <a:solidFill>
                      <a:srgbClr val="0088CC"/>
                    </a:solidFill>
                  </a:tcPr>
                </a:tc>
                <a:extLst>
                  <a:ext uri="{0D108BD9-81ED-4DB2-BD59-A6C34878D82A}">
                    <a16:rowId xmlns:a16="http://schemas.microsoft.com/office/drawing/2014/main" val="197787357"/>
                  </a:ext>
                </a:extLst>
              </a:tr>
              <a:tr h="533400">
                <a:tc>
                  <a:txBody>
                    <a:bodyPr/>
                    <a:lstStyle/>
                    <a:p>
                      <a:pPr algn="ctr"/>
                      <a:r>
                        <a:rPr lang="en-US" sz="1400" b="1">
                          <a:solidFill>
                            <a:srgbClr val="0088CC"/>
                          </a:solidFill>
                          <a:latin typeface="Inter"/>
                          <a:ea typeface="Inter"/>
                        </a:rPr>
                        <a:t>Week 1</a:t>
                      </a:r>
                    </a:p>
                  </a:txBody>
                  <a:tcPr anchor="ctr">
                    <a:solidFill>
                      <a:srgbClr val="E8F4FD"/>
                    </a:solidFill>
                  </a:tcPr>
                </a:tc>
                <a:tc>
                  <a:txBody>
                    <a:bodyPr/>
                    <a:lstStyle/>
                    <a:p>
                      <a:r>
                        <a:rPr lang="en-US" sz="1400">
                          <a:solidFill>
                            <a:srgbClr val="333333"/>
                          </a:solidFill>
                          <a:latin typeface="Inter"/>
                          <a:ea typeface="Inter"/>
                        </a:rPr>
                        <a:t>Data + Information</a:t>
                      </a:r>
                    </a:p>
                  </a:txBody>
                  <a:tcPr anchor="ctr">
                    <a:solidFill>
                      <a:srgbClr val="FFFFFF"/>
                    </a:solidFill>
                  </a:tcPr>
                </a:tc>
                <a:extLst>
                  <a:ext uri="{0D108BD9-81ED-4DB2-BD59-A6C34878D82A}">
                    <a16:rowId xmlns:a16="http://schemas.microsoft.com/office/drawing/2014/main" val="1081932934"/>
                  </a:ext>
                </a:extLst>
              </a:tr>
              <a:tr h="533400">
                <a:tc>
                  <a:txBody>
                    <a:bodyPr/>
                    <a:lstStyle/>
                    <a:p>
                      <a:pPr algn="ctr"/>
                      <a:r>
                        <a:rPr lang="en-US" sz="1400" b="1">
                          <a:solidFill>
                            <a:srgbClr val="0088CC"/>
                          </a:solidFill>
                          <a:latin typeface="Inter"/>
                          <a:ea typeface="Inter"/>
                        </a:rPr>
                        <a:t>Month 3</a:t>
                      </a:r>
                    </a:p>
                  </a:txBody>
                  <a:tcPr anchor="ctr">
                    <a:solidFill>
                      <a:srgbClr val="E8F4FD"/>
                    </a:solidFill>
                  </a:tcPr>
                </a:tc>
                <a:tc>
                  <a:txBody>
                    <a:bodyPr/>
                    <a:lstStyle/>
                    <a:p>
                      <a:r>
                        <a:rPr lang="en-US" sz="1400">
                          <a:solidFill>
                            <a:srgbClr val="333333"/>
                          </a:solidFill>
                          <a:latin typeface="Inter"/>
                          <a:ea typeface="Inter"/>
                        </a:rPr>
                        <a:t>Data + Information + most Knowledge</a:t>
                      </a:r>
                    </a:p>
                  </a:txBody>
                  <a:tcPr anchor="ctr">
                    <a:solidFill>
                      <a:srgbClr val="FFFFFF"/>
                    </a:solidFill>
                  </a:tcPr>
                </a:tc>
                <a:extLst>
                  <a:ext uri="{0D108BD9-81ED-4DB2-BD59-A6C34878D82A}">
                    <a16:rowId xmlns:a16="http://schemas.microsoft.com/office/drawing/2014/main" val="1997285653"/>
                  </a:ext>
                </a:extLst>
              </a:tr>
              <a:tr h="533400">
                <a:tc>
                  <a:txBody>
                    <a:bodyPr/>
                    <a:lstStyle/>
                    <a:p>
                      <a:pPr algn="ctr"/>
                      <a:r>
                        <a:rPr lang="en-US" sz="1400" b="1">
                          <a:solidFill>
                            <a:srgbClr val="0088CC"/>
                          </a:solidFill>
                          <a:latin typeface="Inter"/>
                          <a:ea typeface="Inter"/>
                        </a:rPr>
                        <a:t>Month 6</a:t>
                      </a:r>
                    </a:p>
                  </a:txBody>
                  <a:tcPr anchor="ctr">
                    <a:solidFill>
                      <a:srgbClr val="E8F4FD"/>
                    </a:solidFill>
                  </a:tcPr>
                </a:tc>
                <a:tc>
                  <a:txBody>
                    <a:bodyPr/>
                    <a:lstStyle/>
                    <a:p>
                      <a:r>
                        <a:rPr lang="en-US" sz="1400">
                          <a:solidFill>
                            <a:srgbClr val="333333"/>
                          </a:solidFill>
                          <a:latin typeface="Inter"/>
                          <a:ea typeface="Inter"/>
                        </a:rPr>
                        <a:t>Routine Expertise patterns too</a:t>
                      </a:r>
                    </a:p>
                  </a:txBody>
                  <a:tcPr anchor="ctr">
                    <a:solidFill>
                      <a:srgbClr val="FFFFFF"/>
                    </a:solidFill>
                  </a:tcPr>
                </a:tc>
                <a:extLst>
                  <a:ext uri="{0D108BD9-81ED-4DB2-BD59-A6C34878D82A}">
                    <a16:rowId xmlns:a16="http://schemas.microsoft.com/office/drawing/2014/main" val="4110115263"/>
                  </a:ext>
                </a:extLst>
              </a:tr>
              <a:tr h="533400">
                <a:tc>
                  <a:txBody>
                    <a:bodyPr/>
                    <a:lstStyle/>
                    <a:p>
                      <a:pPr algn="ctr"/>
                      <a:r>
                        <a:rPr lang="en-US" sz="1400" b="1">
                          <a:solidFill>
                            <a:srgbClr val="0088CC"/>
                          </a:solidFill>
                          <a:latin typeface="Inter"/>
                          <a:ea typeface="Inter"/>
                        </a:rPr>
                        <a:t>Year 1</a:t>
                      </a:r>
                    </a:p>
                  </a:txBody>
                  <a:tcPr anchor="ctr">
                    <a:solidFill>
                      <a:srgbClr val="E8F4FD"/>
                    </a:solidFill>
                  </a:tcPr>
                </a:tc>
                <a:tc>
                  <a:txBody>
                    <a:bodyPr/>
                    <a:lstStyle/>
                    <a:p>
                      <a:r>
                        <a:rPr lang="en-US" sz="1400">
                          <a:solidFill>
                            <a:srgbClr val="333333"/>
                          </a:solidFill>
                          <a:latin typeface="Inter"/>
                          <a:ea typeface="Inter"/>
                        </a:rPr>
                        <a:t>Humans focus on edge cases, insight, strategy</a:t>
                      </a:r>
                    </a:p>
                  </a:txBody>
                  <a:tcPr anchor="ctr">
                    <a:solidFill>
                      <a:srgbClr val="FFFFFF"/>
                    </a:solidFill>
                  </a:tcPr>
                </a:tc>
                <a:extLst>
                  <a:ext uri="{0D108BD9-81ED-4DB2-BD59-A6C34878D82A}">
                    <a16:rowId xmlns:a16="http://schemas.microsoft.com/office/drawing/2014/main" val="3182907970"/>
                  </a:ext>
                </a:extLst>
              </a:tr>
            </a:tbl>
          </a:graphicData>
        </a:graphic>
      </p:graphicFrame>
      <p:sp>
        <p:nvSpPr>
          <p:cNvPr id="5" name="TextBox 4">
            <a:extLst>
              <a:ext uri="{FF2B5EF4-FFF2-40B4-BE49-F238E27FC236}">
                <a16:creationId xmlns:a16="http://schemas.microsoft.com/office/drawing/2014/main" id="{7BAC8C46-D525-4E3B-AC92-3C80E36BC2B4}"/>
              </a:ext>
            </a:extLst>
          </p:cNvPr>
          <p:cNvSpPr txBox="1"/>
          <p:nvPr/>
        </p:nvSpPr>
        <p:spPr>
          <a:xfrm>
            <a:off x="660400" y="3810000"/>
            <a:ext cx="6731000" cy="952500"/>
          </a:xfrm>
          <a:prstGeom prst="rect">
            <a:avLst/>
          </a:prstGeom>
          <a:noFill/>
        </p:spPr>
        <p:txBody>
          <a:bodyPr vertOverflow="overflow" vert="horz" wrap="square" rtlCol="0" anchor="t">
            <a:noAutofit/>
          </a:bodyPr>
          <a:lstStyle/>
          <a:p>
            <a:pPr algn="l"/>
            <a:r>
              <a:rPr lang="en-US" sz="1600" b="1">
                <a:solidFill>
                  <a:srgbClr val="0088CC"/>
                </a:solidFill>
                <a:latin typeface="Inter"/>
                <a:ea typeface="Inter"/>
              </a:rPr>
              <a:t>The system doesn't replace humans.
It pushes the frontier of what it can handle,
freeing humans to operate higher.</a:t>
            </a:r>
          </a:p>
        </p:txBody>
      </p:sp>
    </p:spTree>
    <p:extLst>
      <p:ext uri="{BB962C8B-B14F-4D97-AF65-F5344CB8AC3E}">
        <p14:creationId xmlns:p14="http://schemas.microsoft.com/office/powerpoint/2010/main" val="1228499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3A527A-4F4E-44BE-87ED-D76717BA8D1F}"/>
              </a:ext>
            </a:extLst>
          </p:cNvPr>
          <p:cNvSpPr txBox="1"/>
          <p:nvPr/>
        </p:nvSpPr>
        <p:spPr>
          <a:xfrm>
            <a:off x="660400" y="508000"/>
            <a:ext cx="6731000" cy="1143000"/>
          </a:xfrm>
          <a:prstGeom prst="rect">
            <a:avLst/>
          </a:prstGeom>
          <a:noFill/>
        </p:spPr>
        <p:txBody>
          <a:bodyPr vertOverflow="overflow" vert="horz" wrap="square" rtlCol="0" anchor="t">
            <a:noAutofit/>
          </a:bodyPr>
          <a:lstStyle/>
          <a:p>
            <a:pPr algn="l"/>
            <a:r>
              <a:rPr lang="en-US" sz="3200" b="1">
                <a:solidFill>
                  <a:srgbClr val="1E1F20"/>
                </a:solidFill>
                <a:latin typeface="Inter"/>
                <a:ea typeface="Inter"/>
              </a:rPr>
              <a:t>Right now, your people
are the integration layer.</a:t>
            </a:r>
          </a:p>
        </p:txBody>
      </p:sp>
      <p:sp>
        <p:nvSpPr>
          <p:cNvPr id="3" name="TextBox 2">
            <a:extLst>
              <a:ext uri="{FF2B5EF4-FFF2-40B4-BE49-F238E27FC236}">
                <a16:creationId xmlns:a16="http://schemas.microsoft.com/office/drawing/2014/main" id="{10169EA8-24AA-467D-96CA-E23FA2A4385C}"/>
              </a:ext>
            </a:extLst>
          </p:cNvPr>
          <p:cNvSpPr txBox="1"/>
          <p:nvPr/>
        </p:nvSpPr>
        <p:spPr>
          <a:xfrm>
            <a:off x="660400" y="2032000"/>
            <a:ext cx="6731000" cy="2032000"/>
          </a:xfrm>
          <a:prstGeom prst="rect">
            <a:avLst/>
          </a:prstGeom>
          <a:noFill/>
        </p:spPr>
        <p:txBody>
          <a:bodyPr vertOverflow="overflow" vert="horz" wrap="square" rtlCol="0" anchor="t">
            <a:noAutofit/>
          </a:bodyPr>
          <a:lstStyle/>
          <a:p>
            <a:pPr algn="l"/>
            <a:r>
              <a:rPr lang="en-US" sz="2200">
                <a:solidFill>
                  <a:srgbClr val="333333"/>
                </a:solidFill>
                <a:latin typeface="Inter"/>
                <a:ea typeface="Inter"/>
              </a:rPr>
              <a:t>Copying data between systems.
Checking that things match.
Chasing discrepancies.
They're doing work the machines should do.</a:t>
            </a:r>
          </a:p>
        </p:txBody>
      </p:sp>
    </p:spTree>
    <p:extLst>
      <p:ext uri="{BB962C8B-B14F-4D97-AF65-F5344CB8AC3E}">
        <p14:creationId xmlns:p14="http://schemas.microsoft.com/office/powerpoint/2010/main" val="32114719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D89687-CF1D-48D0-BEB6-3A0C9203EAA9}"/>
              </a:ext>
            </a:extLst>
          </p:cNvPr>
          <p:cNvSpPr txBox="1"/>
          <p:nvPr/>
        </p:nvSpPr>
        <p:spPr>
          <a:xfrm>
            <a:off x="660400" y="508000"/>
            <a:ext cx="6731000" cy="1143000"/>
          </a:xfrm>
          <a:prstGeom prst="rect">
            <a:avLst/>
          </a:prstGeom>
          <a:noFill/>
        </p:spPr>
        <p:txBody>
          <a:bodyPr vertOverflow="overflow" vert="horz" wrap="square" rtlCol="0" anchor="t">
            <a:noAutofit/>
          </a:bodyPr>
          <a:lstStyle/>
          <a:p>
            <a:pPr algn="l"/>
            <a:r>
              <a:rPr lang="en-US" sz="3200" b="1">
                <a:solidFill>
                  <a:srgbClr val="0088CC"/>
                </a:solidFill>
                <a:latin typeface="Inter"/>
                <a:ea typeface="Inter"/>
              </a:rPr>
              <a:t>Your people become
the judgment layer.</a:t>
            </a:r>
          </a:p>
        </p:txBody>
      </p:sp>
      <p:sp>
        <p:nvSpPr>
          <p:cNvPr id="3" name="TextBox 2">
            <a:extLst>
              <a:ext uri="{FF2B5EF4-FFF2-40B4-BE49-F238E27FC236}">
                <a16:creationId xmlns:a16="http://schemas.microsoft.com/office/drawing/2014/main" id="{05E2A61D-59B1-4005-B853-93FE757BA368}"/>
              </a:ext>
            </a:extLst>
          </p:cNvPr>
          <p:cNvSpPr txBox="1"/>
          <p:nvPr/>
        </p:nvSpPr>
        <p:spPr>
          <a:xfrm>
            <a:off x="660400" y="2032000"/>
            <a:ext cx="6731000" cy="1651000"/>
          </a:xfrm>
          <a:prstGeom prst="rect">
            <a:avLst/>
          </a:prstGeom>
          <a:noFill/>
        </p:spPr>
        <p:txBody>
          <a:bodyPr vertOverflow="overflow" vert="horz" wrap="square" rtlCol="0" anchor="t">
            <a:noAutofit/>
          </a:bodyPr>
          <a:lstStyle/>
          <a:p>
            <a:pPr algn="l"/>
            <a:r>
              <a:rPr lang="en-US" sz="2200">
                <a:solidFill>
                  <a:srgbClr val="1E1F20"/>
                </a:solidFill>
                <a:latin typeface="Inter"/>
                <a:ea typeface="Inter"/>
              </a:rPr>
              <a:t>See exceptions. Make decisions.
Do work only humans should do.
The machines handle everything else.</a:t>
            </a:r>
          </a:p>
        </p:txBody>
      </p:sp>
      <p:sp>
        <p:nvSpPr>
          <p:cNvPr id="4" name="Arrow: Right 3">
            <a:extLst>
              <a:ext uri="{FF2B5EF4-FFF2-40B4-BE49-F238E27FC236}">
                <a16:creationId xmlns:a16="http://schemas.microsoft.com/office/drawing/2014/main" id="{FD130D97-6284-4E5B-A7D1-99C6CBB138AC}"/>
              </a:ext>
            </a:extLst>
          </p:cNvPr>
          <p:cNvSpPr/>
          <p:nvPr/>
        </p:nvSpPr>
        <p:spPr>
          <a:xfrm>
            <a:off x="1778000" y="3937000"/>
            <a:ext cx="762000" cy="381000"/>
          </a:xfrm>
          <a:prstGeom prst="rightArrow">
            <a:avLst/>
          </a:prstGeom>
          <a:solidFill>
            <a:srgbClr val="0088C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385ED9C9-4EF4-4B6A-B010-164168DFD19E}"/>
              </a:ext>
            </a:extLst>
          </p:cNvPr>
          <p:cNvSpPr txBox="1"/>
          <p:nvPr/>
        </p:nvSpPr>
        <p:spPr>
          <a:xfrm>
            <a:off x="660400" y="4381500"/>
            <a:ext cx="2032000" cy="355600"/>
          </a:xfrm>
          <a:prstGeom prst="rect">
            <a:avLst/>
          </a:prstGeom>
          <a:noFill/>
        </p:spPr>
        <p:txBody>
          <a:bodyPr vertOverflow="overflow" vert="horz" wrap="square" rtlCol="0" anchor="t">
            <a:noAutofit/>
          </a:bodyPr>
          <a:lstStyle/>
          <a:p>
            <a:pPr algn="l"/>
            <a:r>
              <a:rPr lang="en-US">
                <a:solidFill>
                  <a:srgbClr val="999999"/>
                </a:solidFill>
                <a:latin typeface="Inter"/>
                <a:ea typeface="Inter"/>
              </a:rPr>
              <a:t>Integration Layer</a:t>
            </a:r>
          </a:p>
        </p:txBody>
      </p:sp>
      <p:sp>
        <p:nvSpPr>
          <p:cNvPr id="6" name="TextBox 5">
            <a:extLst>
              <a:ext uri="{FF2B5EF4-FFF2-40B4-BE49-F238E27FC236}">
                <a16:creationId xmlns:a16="http://schemas.microsoft.com/office/drawing/2014/main" id="{74C39B46-3FA4-45D5-A0F2-1D32CE52F65A}"/>
              </a:ext>
            </a:extLst>
          </p:cNvPr>
          <p:cNvSpPr txBox="1"/>
          <p:nvPr/>
        </p:nvSpPr>
        <p:spPr>
          <a:xfrm>
            <a:off x="2794000" y="4381500"/>
            <a:ext cx="2032000" cy="355600"/>
          </a:xfrm>
          <a:prstGeom prst="rect">
            <a:avLst/>
          </a:prstGeom>
          <a:noFill/>
        </p:spPr>
        <p:txBody>
          <a:bodyPr vertOverflow="overflow" vert="horz" wrap="square" rtlCol="0" anchor="t">
            <a:noAutofit/>
          </a:bodyPr>
          <a:lstStyle/>
          <a:p>
            <a:pPr algn="l"/>
            <a:r>
              <a:rPr lang="en-US" b="1">
                <a:solidFill>
                  <a:srgbClr val="0088CC"/>
                </a:solidFill>
                <a:latin typeface="Inter"/>
                <a:ea typeface="Inter"/>
              </a:rPr>
              <a:t>Judgment Layer</a:t>
            </a:r>
          </a:p>
        </p:txBody>
      </p:sp>
    </p:spTree>
    <p:extLst>
      <p:ext uri="{BB962C8B-B14F-4D97-AF65-F5344CB8AC3E}">
        <p14:creationId xmlns:p14="http://schemas.microsoft.com/office/powerpoint/2010/main" val="13290780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F095C1-3EAF-46D4-A1FD-56BC9EED26EF}"/>
              </a:ext>
            </a:extLst>
          </p:cNvPr>
          <p:cNvSpPr txBox="1"/>
          <p:nvPr/>
        </p:nvSpPr>
        <p:spPr>
          <a:xfrm>
            <a:off x="660400" y="152400"/>
            <a:ext cx="6350000" cy="533400"/>
          </a:xfrm>
          <a:prstGeom prst="rect">
            <a:avLst/>
          </a:prstGeom>
          <a:noFill/>
        </p:spPr>
        <p:txBody>
          <a:bodyPr vertOverflow="overflow" vert="horz" wrap="square" rtlCol="0" anchor="t">
            <a:noAutofit/>
          </a:bodyPr>
          <a:lstStyle/>
          <a:p>
            <a:pPr algn="l"/>
            <a:r>
              <a:rPr lang="en-US" sz="3000" b="1">
                <a:solidFill>
                  <a:srgbClr val="0088CC"/>
                </a:solidFill>
                <a:latin typeface="Inter"/>
                <a:ea typeface="Inter"/>
              </a:rPr>
              <a:t>Meridian Group.</a:t>
            </a:r>
          </a:p>
        </p:txBody>
      </p:sp>
      <p:sp>
        <p:nvSpPr>
          <p:cNvPr id="3" name="TextBox 2">
            <a:extLst>
              <a:ext uri="{FF2B5EF4-FFF2-40B4-BE49-F238E27FC236}">
                <a16:creationId xmlns:a16="http://schemas.microsoft.com/office/drawing/2014/main" id="{7BA3963A-1634-4A0B-8B71-8BE616C29854}"/>
              </a:ext>
            </a:extLst>
          </p:cNvPr>
          <p:cNvSpPr txBox="1"/>
          <p:nvPr/>
        </p:nvSpPr>
        <p:spPr>
          <a:xfrm>
            <a:off x="660400" y="698500"/>
            <a:ext cx="6350000" cy="355600"/>
          </a:xfrm>
          <a:prstGeom prst="rect">
            <a:avLst/>
          </a:prstGeom>
          <a:noFill/>
        </p:spPr>
        <p:txBody>
          <a:bodyPr vertOverflow="overflow" vert="horz" wrap="square" rtlCol="0" anchor="t">
            <a:noAutofit/>
          </a:bodyPr>
          <a:lstStyle/>
          <a:p>
            <a:pPr algn="l"/>
            <a:r>
              <a:rPr lang="en-US" sz="1600">
                <a:solidFill>
                  <a:srgbClr val="666666"/>
                </a:solidFill>
                <a:latin typeface="Inter"/>
                <a:ea typeface="Inter"/>
              </a:rPr>
              <a:t>50 people  |  $10.5M revenue  |  4 departments</a:t>
            </a:r>
          </a:p>
        </p:txBody>
      </p:sp>
      <p:sp>
        <p:nvSpPr>
          <p:cNvPr id="4" name="Rectangle: Rounded Corners 3">
            <a:extLst>
              <a:ext uri="{FF2B5EF4-FFF2-40B4-BE49-F238E27FC236}">
                <a16:creationId xmlns:a16="http://schemas.microsoft.com/office/drawing/2014/main" id="{E78A0EE0-70B8-4F28-8C05-EADFEA33F89B}"/>
              </a:ext>
            </a:extLst>
          </p:cNvPr>
          <p:cNvSpPr/>
          <p:nvPr/>
        </p:nvSpPr>
        <p:spPr>
          <a:xfrm>
            <a:off x="660400" y="1206500"/>
            <a:ext cx="2159000" cy="1016000"/>
          </a:xfrm>
          <a:prstGeom prst="roundRect">
            <a:avLst/>
          </a:prstGeom>
          <a:solidFill>
            <a:srgbClr val="F8F9FA"/>
          </a:solidFill>
          <a:ln w="25400" cap="flat" cmpd="sng" algn="ctr">
            <a:solidFill>
              <a:srgbClr val="2E7D32"/>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1B82E293-C309-43F9-BD8B-EEEFD6D0E9AB}"/>
              </a:ext>
            </a:extLst>
          </p:cNvPr>
          <p:cNvSpPr txBox="1"/>
          <p:nvPr/>
        </p:nvSpPr>
        <p:spPr>
          <a:xfrm>
            <a:off x="787400" y="1295400"/>
            <a:ext cx="1905000" cy="304800"/>
          </a:xfrm>
          <a:prstGeom prst="rect">
            <a:avLst/>
          </a:prstGeom>
          <a:noFill/>
        </p:spPr>
        <p:txBody>
          <a:bodyPr vertOverflow="overflow" vert="horz" wrap="square" rtlCol="0" anchor="t">
            <a:noAutofit/>
          </a:bodyPr>
          <a:lstStyle/>
          <a:p>
            <a:pPr algn="l"/>
            <a:r>
              <a:rPr lang="en-US" sz="1500" b="1">
                <a:solidFill>
                  <a:srgbClr val="2E7D32"/>
                </a:solidFill>
                <a:latin typeface="Inter"/>
                <a:ea typeface="Inter"/>
              </a:rPr>
              <a:t>Tom Brecker</a:t>
            </a:r>
          </a:p>
        </p:txBody>
      </p:sp>
      <p:sp>
        <p:nvSpPr>
          <p:cNvPr id="6" name="TextBox 5">
            <a:extLst>
              <a:ext uri="{FF2B5EF4-FFF2-40B4-BE49-F238E27FC236}">
                <a16:creationId xmlns:a16="http://schemas.microsoft.com/office/drawing/2014/main" id="{36D40145-8512-4324-B0A6-C51B5E2E24E5}"/>
              </a:ext>
            </a:extLst>
          </p:cNvPr>
          <p:cNvSpPr txBox="1"/>
          <p:nvPr/>
        </p:nvSpPr>
        <p:spPr>
          <a:xfrm>
            <a:off x="787400" y="1625600"/>
            <a:ext cx="1905000" cy="482600"/>
          </a:xfrm>
          <a:prstGeom prst="rect">
            <a:avLst/>
          </a:prstGeom>
          <a:noFill/>
        </p:spPr>
        <p:txBody>
          <a:bodyPr vertOverflow="overflow" vert="horz" wrap="square" rtlCol="0" anchor="t">
            <a:noAutofit/>
          </a:bodyPr>
          <a:lstStyle/>
          <a:p>
            <a:pPr algn="l"/>
            <a:r>
              <a:rPr lang="en-US">
                <a:solidFill>
                  <a:srgbClr val="333333"/>
                </a:solidFill>
                <a:latin typeface="Inter"/>
                <a:ea typeface="Inter"/>
              </a:rPr>
              <a:t>Controller
Finance</a:t>
            </a:r>
          </a:p>
        </p:txBody>
      </p:sp>
      <p:sp>
        <p:nvSpPr>
          <p:cNvPr id="7" name="Rectangle: Rounded Corners 6">
            <a:extLst>
              <a:ext uri="{FF2B5EF4-FFF2-40B4-BE49-F238E27FC236}">
                <a16:creationId xmlns:a16="http://schemas.microsoft.com/office/drawing/2014/main" id="{C5B32456-39A0-4538-AA25-522D9F00913B}"/>
              </a:ext>
            </a:extLst>
          </p:cNvPr>
          <p:cNvSpPr/>
          <p:nvPr/>
        </p:nvSpPr>
        <p:spPr>
          <a:xfrm>
            <a:off x="3009900" y="1206500"/>
            <a:ext cx="2159000" cy="1016000"/>
          </a:xfrm>
          <a:prstGeom prst="roundRect">
            <a:avLst/>
          </a:prstGeom>
          <a:solidFill>
            <a:srgbClr val="F8F9FA"/>
          </a:solidFill>
          <a:ln w="25400" cap="flat" cmpd="sng" algn="ctr">
            <a:solidFill>
              <a:srgbClr val="E651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88BB7C64-EA52-44FB-ABD5-88E4F95945A0}"/>
              </a:ext>
            </a:extLst>
          </p:cNvPr>
          <p:cNvSpPr txBox="1"/>
          <p:nvPr/>
        </p:nvSpPr>
        <p:spPr>
          <a:xfrm>
            <a:off x="3136900" y="1295400"/>
            <a:ext cx="1905000" cy="304800"/>
          </a:xfrm>
          <a:prstGeom prst="rect">
            <a:avLst/>
          </a:prstGeom>
          <a:noFill/>
        </p:spPr>
        <p:txBody>
          <a:bodyPr vertOverflow="overflow" vert="horz" wrap="square" rtlCol="0" anchor="t">
            <a:noAutofit/>
          </a:bodyPr>
          <a:lstStyle/>
          <a:p>
            <a:pPr algn="l"/>
            <a:r>
              <a:rPr lang="en-US" sz="1500" b="1">
                <a:solidFill>
                  <a:srgbClr val="E65100"/>
                </a:solidFill>
                <a:latin typeface="Inter"/>
                <a:ea typeface="Inter"/>
              </a:rPr>
              <a:t>Sarah Mitchell</a:t>
            </a:r>
          </a:p>
        </p:txBody>
      </p:sp>
      <p:sp>
        <p:nvSpPr>
          <p:cNvPr id="9" name="TextBox 8">
            <a:extLst>
              <a:ext uri="{FF2B5EF4-FFF2-40B4-BE49-F238E27FC236}">
                <a16:creationId xmlns:a16="http://schemas.microsoft.com/office/drawing/2014/main" id="{3E2C4351-269E-4926-9B34-C66F71AD9AF8}"/>
              </a:ext>
            </a:extLst>
          </p:cNvPr>
          <p:cNvSpPr txBox="1"/>
          <p:nvPr/>
        </p:nvSpPr>
        <p:spPr>
          <a:xfrm>
            <a:off x="3136900" y="1625600"/>
            <a:ext cx="1905000" cy="482600"/>
          </a:xfrm>
          <a:prstGeom prst="rect">
            <a:avLst/>
          </a:prstGeom>
          <a:noFill/>
        </p:spPr>
        <p:txBody>
          <a:bodyPr vertOverflow="overflow" vert="horz" wrap="square" rtlCol="0" anchor="t">
            <a:noAutofit/>
          </a:bodyPr>
          <a:lstStyle/>
          <a:p>
            <a:pPr algn="l"/>
            <a:r>
              <a:rPr lang="en-US">
                <a:solidFill>
                  <a:srgbClr val="333333"/>
                </a:solidFill>
                <a:latin typeface="Inter"/>
                <a:ea typeface="Inter"/>
              </a:rPr>
              <a:t>BD Director
Sales &amp; Marketing</a:t>
            </a:r>
          </a:p>
        </p:txBody>
      </p:sp>
      <p:sp>
        <p:nvSpPr>
          <p:cNvPr id="10" name="Rectangle: Rounded Corners 9">
            <a:extLst>
              <a:ext uri="{FF2B5EF4-FFF2-40B4-BE49-F238E27FC236}">
                <a16:creationId xmlns:a16="http://schemas.microsoft.com/office/drawing/2014/main" id="{EAA0865A-5E58-46BB-ADD4-39059DE6654D}"/>
              </a:ext>
            </a:extLst>
          </p:cNvPr>
          <p:cNvSpPr/>
          <p:nvPr/>
        </p:nvSpPr>
        <p:spPr>
          <a:xfrm>
            <a:off x="5359400" y="1206500"/>
            <a:ext cx="2159000" cy="1016000"/>
          </a:xfrm>
          <a:prstGeom prst="roundRect">
            <a:avLst/>
          </a:prstGeom>
          <a:solidFill>
            <a:srgbClr val="F8F9FA"/>
          </a:solidFill>
          <a:ln w="25400" cap="flat" cmpd="sng" algn="ctr">
            <a:solidFill>
              <a:srgbClr val="7B1FA2"/>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96AA381E-C9A2-477C-87CE-9A3DE2658311}"/>
              </a:ext>
            </a:extLst>
          </p:cNvPr>
          <p:cNvSpPr txBox="1"/>
          <p:nvPr/>
        </p:nvSpPr>
        <p:spPr>
          <a:xfrm>
            <a:off x="5486400" y="1295400"/>
            <a:ext cx="1905000" cy="304800"/>
          </a:xfrm>
          <a:prstGeom prst="rect">
            <a:avLst/>
          </a:prstGeom>
          <a:noFill/>
        </p:spPr>
        <p:txBody>
          <a:bodyPr vertOverflow="overflow" vert="horz" wrap="square" rtlCol="0" anchor="t">
            <a:noAutofit/>
          </a:bodyPr>
          <a:lstStyle/>
          <a:p>
            <a:pPr algn="l"/>
            <a:r>
              <a:rPr lang="en-US" sz="1500" b="1">
                <a:solidFill>
                  <a:srgbClr val="7B1FA2"/>
                </a:solidFill>
                <a:latin typeface="Inter"/>
                <a:ea typeface="Inter"/>
              </a:rPr>
              <a:t>Katie Ward</a:t>
            </a:r>
          </a:p>
        </p:txBody>
      </p:sp>
      <p:sp>
        <p:nvSpPr>
          <p:cNvPr id="12" name="TextBox 11">
            <a:extLst>
              <a:ext uri="{FF2B5EF4-FFF2-40B4-BE49-F238E27FC236}">
                <a16:creationId xmlns:a16="http://schemas.microsoft.com/office/drawing/2014/main" id="{4879EF1B-5434-4253-846B-CCB2553C29CE}"/>
              </a:ext>
            </a:extLst>
          </p:cNvPr>
          <p:cNvSpPr txBox="1"/>
          <p:nvPr/>
        </p:nvSpPr>
        <p:spPr>
          <a:xfrm>
            <a:off x="5486400" y="1625600"/>
            <a:ext cx="1905000" cy="482600"/>
          </a:xfrm>
          <a:prstGeom prst="rect">
            <a:avLst/>
          </a:prstGeom>
          <a:noFill/>
        </p:spPr>
        <p:txBody>
          <a:bodyPr vertOverflow="overflow" vert="horz" wrap="square" rtlCol="0" anchor="t">
            <a:noAutofit/>
          </a:bodyPr>
          <a:lstStyle/>
          <a:p>
            <a:pPr algn="l"/>
            <a:r>
              <a:rPr lang="en-US">
                <a:solidFill>
                  <a:srgbClr val="333333"/>
                </a:solidFill>
                <a:latin typeface="Inter"/>
                <a:ea typeface="Inter"/>
              </a:rPr>
              <a:t>HR Manager
HR</a:t>
            </a:r>
          </a:p>
        </p:txBody>
      </p:sp>
      <p:sp>
        <p:nvSpPr>
          <p:cNvPr id="13" name="TextBox 12">
            <a:extLst>
              <a:ext uri="{FF2B5EF4-FFF2-40B4-BE49-F238E27FC236}">
                <a16:creationId xmlns:a16="http://schemas.microsoft.com/office/drawing/2014/main" id="{414EA141-D1BA-4352-A619-E2AA65400187}"/>
              </a:ext>
            </a:extLst>
          </p:cNvPr>
          <p:cNvSpPr txBox="1"/>
          <p:nvPr/>
        </p:nvSpPr>
        <p:spPr>
          <a:xfrm>
            <a:off x="660400" y="2413000"/>
            <a:ext cx="6350000" cy="571500"/>
          </a:xfrm>
          <a:prstGeom prst="rect">
            <a:avLst/>
          </a:prstGeom>
          <a:noFill/>
        </p:spPr>
        <p:txBody>
          <a:bodyPr vertOverflow="overflow" vert="horz" wrap="square" rtlCol="0" anchor="t">
            <a:noAutofit/>
          </a:bodyPr>
          <a:lstStyle/>
          <a:p>
            <a:pPr algn="l"/>
            <a:r>
              <a:rPr lang="en-US" sz="1600">
                <a:solidFill>
                  <a:srgbClr val="333333"/>
                </a:solidFill>
                <a:latin typeface="Inter"/>
                <a:ea typeface="Inter"/>
              </a:rPr>
              <a:t>3 supervisors. 5 AI workers.
Every worker based on a real production system.</a:t>
            </a:r>
          </a:p>
        </p:txBody>
      </p:sp>
      <p:sp>
        <p:nvSpPr>
          <p:cNvPr id="14" name="TextBox 13">
            <a:extLst>
              <a:ext uri="{FF2B5EF4-FFF2-40B4-BE49-F238E27FC236}">
                <a16:creationId xmlns:a16="http://schemas.microsoft.com/office/drawing/2014/main" id="{063A4652-53C6-4358-8EEA-D1083AA66E2B}"/>
              </a:ext>
            </a:extLst>
          </p:cNvPr>
          <p:cNvSpPr txBox="1"/>
          <p:nvPr/>
        </p:nvSpPr>
        <p:spPr>
          <a:xfrm>
            <a:off x="660400" y="3302000"/>
            <a:ext cx="6350000" cy="889000"/>
          </a:xfrm>
          <a:prstGeom prst="rect">
            <a:avLst/>
          </a:prstGeom>
          <a:noFill/>
        </p:spPr>
        <p:txBody>
          <a:bodyPr vertOverflow="overflow" vert="horz" wrap="square" rtlCol="0" anchor="t">
            <a:noAutofit/>
          </a:bodyPr>
          <a:lstStyle/>
          <a:p>
            <a:pPr algn="l"/>
            <a:r>
              <a:rPr lang="en-US" sz="2600" b="1">
                <a:solidFill>
                  <a:srgbClr val="1E1F20"/>
                </a:solidFill>
                <a:latin typeface="Inter"/>
                <a:ea typeface="Inter"/>
              </a:rPr>
              <a:t>It's Monday morning.
This is what's waiting for you.</a:t>
            </a:r>
          </a:p>
        </p:txBody>
      </p:sp>
      <p:sp>
        <p:nvSpPr>
          <p:cNvPr id="15" name="TextBox 14">
            <a:extLst>
              <a:ext uri="{FF2B5EF4-FFF2-40B4-BE49-F238E27FC236}">
                <a16:creationId xmlns:a16="http://schemas.microsoft.com/office/drawing/2014/main" id="{3F0381BD-6CEE-484F-8996-11C7146A86C3}"/>
              </a:ext>
            </a:extLst>
          </p:cNvPr>
          <p:cNvSpPr txBox="1"/>
          <p:nvPr/>
        </p:nvSpPr>
        <p:spPr>
          <a:xfrm>
            <a:off x="660400" y="4445000"/>
            <a:ext cx="3810000" cy="355600"/>
          </a:xfrm>
          <a:prstGeom prst="rect">
            <a:avLst/>
          </a:prstGeom>
          <a:noFill/>
        </p:spPr>
        <p:txBody>
          <a:bodyPr vertOverflow="overflow" vert="horz" wrap="square" rtlCol="0" anchor="t">
            <a:noAutofit/>
          </a:bodyPr>
          <a:lstStyle/>
          <a:p>
            <a:pPr algn="l"/>
            <a:r>
              <a:rPr lang="en-US" b="1">
                <a:solidFill>
                  <a:srgbClr val="0088CC"/>
                </a:solidFill>
                <a:latin typeface="Inter"/>
                <a:ea typeface="Inter"/>
              </a:rPr>
              <a:t>[ SWITCH TO LIVE DEMO ]</a:t>
            </a:r>
          </a:p>
        </p:txBody>
      </p:sp>
    </p:spTree>
    <p:extLst>
      <p:ext uri="{BB962C8B-B14F-4D97-AF65-F5344CB8AC3E}">
        <p14:creationId xmlns:p14="http://schemas.microsoft.com/office/powerpoint/2010/main" val="30025505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A735F1-2DDA-4B60-ADFA-1F9BD9E31DE1}"/>
              </a:ext>
            </a:extLst>
          </p:cNvPr>
          <p:cNvSpPr txBox="1"/>
          <p:nvPr/>
        </p:nvSpPr>
        <p:spPr>
          <a:xfrm>
            <a:off x="660400" y="152400"/>
            <a:ext cx="6350000" cy="533400"/>
          </a:xfrm>
          <a:prstGeom prst="rect">
            <a:avLst/>
          </a:prstGeom>
          <a:noFill/>
        </p:spPr>
        <p:txBody>
          <a:bodyPr vertOverflow="overflow" vert="horz" wrap="square" rtlCol="0" anchor="t">
            <a:noAutofit/>
          </a:bodyPr>
          <a:lstStyle/>
          <a:p>
            <a:pPr algn="l"/>
            <a:r>
              <a:rPr lang="en-US" sz="2800" b="1">
                <a:solidFill>
                  <a:srgbClr val="1E1F20"/>
                </a:solidFill>
                <a:latin typeface="Inter"/>
                <a:ea typeface="Inter"/>
              </a:rPr>
              <a:t>Three Views of Value.</a:t>
            </a:r>
          </a:p>
        </p:txBody>
      </p:sp>
      <p:sp>
        <p:nvSpPr>
          <p:cNvPr id="3" name="Rectangle: Rounded Corners 2">
            <a:extLst>
              <a:ext uri="{FF2B5EF4-FFF2-40B4-BE49-F238E27FC236}">
                <a16:creationId xmlns:a16="http://schemas.microsoft.com/office/drawing/2014/main" id="{E38B7683-C154-4A40-AB7E-842CDC402B38}"/>
              </a:ext>
            </a:extLst>
          </p:cNvPr>
          <p:cNvSpPr/>
          <p:nvPr/>
        </p:nvSpPr>
        <p:spPr>
          <a:xfrm>
            <a:off x="660400" y="825500"/>
            <a:ext cx="2159000" cy="2667000"/>
          </a:xfrm>
          <a:prstGeom prst="roundRect">
            <a:avLst/>
          </a:prstGeom>
          <a:solidFill>
            <a:srgbClr val="E8F5E9"/>
          </a:solidFill>
          <a:ln w="25400" cap="flat" cmpd="sng" algn="ctr">
            <a:solidFill>
              <a:srgbClr val="2E7D32"/>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B265BC6C-7303-4C54-9B8E-D1F59178594B}"/>
              </a:ext>
            </a:extLst>
          </p:cNvPr>
          <p:cNvSpPr txBox="1"/>
          <p:nvPr/>
        </p:nvSpPr>
        <p:spPr>
          <a:xfrm>
            <a:off x="787400" y="952500"/>
            <a:ext cx="1905000" cy="355600"/>
          </a:xfrm>
          <a:prstGeom prst="rect">
            <a:avLst/>
          </a:prstGeom>
          <a:noFill/>
        </p:spPr>
        <p:txBody>
          <a:bodyPr vertOverflow="overflow" vert="horz" wrap="square" rtlCol="0" anchor="t">
            <a:noAutofit/>
          </a:bodyPr>
          <a:lstStyle/>
          <a:p>
            <a:pPr algn="l"/>
            <a:r>
              <a:rPr lang="en-US" sz="1600" b="1">
                <a:solidFill>
                  <a:srgbClr val="2E7D32"/>
                </a:solidFill>
                <a:latin typeface="Inter"/>
                <a:ea typeface="Inter"/>
              </a:rPr>
              <a:t>Financial ROI</a:t>
            </a:r>
          </a:p>
        </p:txBody>
      </p:sp>
      <p:sp>
        <p:nvSpPr>
          <p:cNvPr id="5" name="TextBox 4">
            <a:extLst>
              <a:ext uri="{FF2B5EF4-FFF2-40B4-BE49-F238E27FC236}">
                <a16:creationId xmlns:a16="http://schemas.microsoft.com/office/drawing/2014/main" id="{40621F33-AE3C-46D6-8142-95788DD7F88C}"/>
              </a:ext>
            </a:extLst>
          </p:cNvPr>
          <p:cNvSpPr txBox="1"/>
          <p:nvPr/>
        </p:nvSpPr>
        <p:spPr>
          <a:xfrm>
            <a:off x="787400" y="1460500"/>
            <a:ext cx="1905000" cy="508000"/>
          </a:xfrm>
          <a:prstGeom prst="rect">
            <a:avLst/>
          </a:prstGeom>
          <a:noFill/>
        </p:spPr>
        <p:txBody>
          <a:bodyPr vertOverflow="overflow" vert="horz" wrap="square" rtlCol="0" anchor="t">
            <a:noAutofit/>
          </a:bodyPr>
          <a:lstStyle/>
          <a:p>
            <a:pPr algn="l"/>
            <a:r>
              <a:rPr lang="en-US" sz="2400" b="1">
                <a:solidFill>
                  <a:srgbClr val="2E7D32"/>
                </a:solidFill>
                <a:latin typeface="Inter"/>
                <a:ea typeface="Inter"/>
              </a:rPr>
              <a:t>$332,600/yr</a:t>
            </a:r>
          </a:p>
        </p:txBody>
      </p:sp>
      <p:sp>
        <p:nvSpPr>
          <p:cNvPr id="6" name="TextBox 5">
            <a:extLst>
              <a:ext uri="{FF2B5EF4-FFF2-40B4-BE49-F238E27FC236}">
                <a16:creationId xmlns:a16="http://schemas.microsoft.com/office/drawing/2014/main" id="{4D424EC8-E6A0-451B-BD93-36E189751BC3}"/>
              </a:ext>
            </a:extLst>
          </p:cNvPr>
          <p:cNvSpPr txBox="1"/>
          <p:nvPr/>
        </p:nvSpPr>
        <p:spPr>
          <a:xfrm>
            <a:off x="787400" y="2095500"/>
            <a:ext cx="1905000" cy="355600"/>
          </a:xfrm>
          <a:prstGeom prst="rect">
            <a:avLst/>
          </a:prstGeom>
          <a:noFill/>
        </p:spPr>
        <p:txBody>
          <a:bodyPr vertOverflow="overflow" vert="horz" wrap="square" rtlCol="0" anchor="t">
            <a:noAutofit/>
          </a:bodyPr>
          <a:lstStyle/>
          <a:p>
            <a:pPr algn="l"/>
            <a:r>
              <a:rPr lang="en-US" sz="1600">
                <a:solidFill>
                  <a:srgbClr val="333333"/>
                </a:solidFill>
                <a:latin typeface="Inter"/>
                <a:ea typeface="Inter"/>
              </a:rPr>
              <a:t>The math.</a:t>
            </a:r>
          </a:p>
        </p:txBody>
      </p:sp>
      <p:sp>
        <p:nvSpPr>
          <p:cNvPr id="7" name="Rectangle: Rounded Corners 6">
            <a:extLst>
              <a:ext uri="{FF2B5EF4-FFF2-40B4-BE49-F238E27FC236}">
                <a16:creationId xmlns:a16="http://schemas.microsoft.com/office/drawing/2014/main" id="{1AFC420D-2026-417A-9D35-8A4977004E76}"/>
              </a:ext>
            </a:extLst>
          </p:cNvPr>
          <p:cNvSpPr/>
          <p:nvPr/>
        </p:nvSpPr>
        <p:spPr>
          <a:xfrm>
            <a:off x="3009900" y="825500"/>
            <a:ext cx="2159000" cy="2667000"/>
          </a:xfrm>
          <a:prstGeom prst="roundRect">
            <a:avLst/>
          </a:prstGeom>
          <a:solidFill>
            <a:srgbClr val="E8F4FD"/>
          </a:solidFill>
          <a:ln w="25400" cap="flat" cmpd="sng" algn="ctr">
            <a:solidFill>
              <a:srgbClr val="0088C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5F0510F8-FFDF-41A4-8D30-07C49BD2AB0F}"/>
              </a:ext>
            </a:extLst>
          </p:cNvPr>
          <p:cNvSpPr txBox="1"/>
          <p:nvPr/>
        </p:nvSpPr>
        <p:spPr>
          <a:xfrm>
            <a:off x="3136900" y="952500"/>
            <a:ext cx="1905000" cy="355600"/>
          </a:xfrm>
          <a:prstGeom prst="rect">
            <a:avLst/>
          </a:prstGeom>
          <a:noFill/>
        </p:spPr>
        <p:txBody>
          <a:bodyPr vertOverflow="overflow" vert="horz" wrap="square" rtlCol="0" anchor="t">
            <a:noAutofit/>
          </a:bodyPr>
          <a:lstStyle/>
          <a:p>
            <a:pPr algn="l"/>
            <a:r>
              <a:rPr lang="en-US" sz="1600" b="1">
                <a:solidFill>
                  <a:srgbClr val="0088CC"/>
                </a:solidFill>
                <a:latin typeface="Inter"/>
                <a:ea typeface="Inter"/>
              </a:rPr>
              <a:t>Capital View</a:t>
            </a:r>
          </a:p>
        </p:txBody>
      </p:sp>
      <p:sp>
        <p:nvSpPr>
          <p:cNvPr id="9" name="TextBox 8">
            <a:extLst>
              <a:ext uri="{FF2B5EF4-FFF2-40B4-BE49-F238E27FC236}">
                <a16:creationId xmlns:a16="http://schemas.microsoft.com/office/drawing/2014/main" id="{582ACB6F-EA2C-416C-A554-7530332D99DF}"/>
              </a:ext>
            </a:extLst>
          </p:cNvPr>
          <p:cNvSpPr txBox="1"/>
          <p:nvPr/>
        </p:nvSpPr>
        <p:spPr>
          <a:xfrm>
            <a:off x="3136900" y="1460500"/>
            <a:ext cx="1905000" cy="508000"/>
          </a:xfrm>
          <a:prstGeom prst="rect">
            <a:avLst/>
          </a:prstGeom>
          <a:noFill/>
        </p:spPr>
        <p:txBody>
          <a:bodyPr vertOverflow="overflow" vert="horz" wrap="square" rtlCol="0" anchor="t">
            <a:noAutofit/>
          </a:bodyPr>
          <a:lstStyle/>
          <a:p>
            <a:pPr algn="l"/>
            <a:r>
              <a:rPr lang="en-US" sz="2400" b="1">
                <a:solidFill>
                  <a:srgbClr val="0088CC"/>
                </a:solidFill>
                <a:latin typeface="Inter"/>
                <a:ea typeface="Inter"/>
              </a:rPr>
              <a:t>221 patterns</a:t>
            </a:r>
          </a:p>
        </p:txBody>
      </p:sp>
      <p:sp>
        <p:nvSpPr>
          <p:cNvPr id="10" name="TextBox 9">
            <a:extLst>
              <a:ext uri="{FF2B5EF4-FFF2-40B4-BE49-F238E27FC236}">
                <a16:creationId xmlns:a16="http://schemas.microsoft.com/office/drawing/2014/main" id="{9D48AAD4-26E0-4C91-AD2F-55DC73A115C9}"/>
              </a:ext>
            </a:extLst>
          </p:cNvPr>
          <p:cNvSpPr txBox="1"/>
          <p:nvPr/>
        </p:nvSpPr>
        <p:spPr>
          <a:xfrm>
            <a:off x="3136900" y="2095500"/>
            <a:ext cx="1905000" cy="355600"/>
          </a:xfrm>
          <a:prstGeom prst="rect">
            <a:avLst/>
          </a:prstGeom>
          <a:noFill/>
        </p:spPr>
        <p:txBody>
          <a:bodyPr vertOverflow="overflow" vert="horz" wrap="square" rtlCol="0" anchor="t">
            <a:noAutofit/>
          </a:bodyPr>
          <a:lstStyle/>
          <a:p>
            <a:pPr algn="l"/>
            <a:r>
              <a:rPr lang="en-US" sz="1600">
                <a:solidFill>
                  <a:srgbClr val="333333"/>
                </a:solidFill>
                <a:latin typeface="Inter"/>
                <a:ea typeface="Inter"/>
              </a:rPr>
              <a:t>The durability.</a:t>
            </a:r>
          </a:p>
        </p:txBody>
      </p:sp>
      <p:sp>
        <p:nvSpPr>
          <p:cNvPr id="11" name="Rectangle: Rounded Corners 10">
            <a:extLst>
              <a:ext uri="{FF2B5EF4-FFF2-40B4-BE49-F238E27FC236}">
                <a16:creationId xmlns:a16="http://schemas.microsoft.com/office/drawing/2014/main" id="{71B72A14-1737-43A1-AB0D-8D16917CC7CC}"/>
              </a:ext>
            </a:extLst>
          </p:cNvPr>
          <p:cNvSpPr/>
          <p:nvPr/>
        </p:nvSpPr>
        <p:spPr>
          <a:xfrm>
            <a:off x="5359400" y="825500"/>
            <a:ext cx="2159000" cy="2667000"/>
          </a:xfrm>
          <a:prstGeom prst="roundRect">
            <a:avLst/>
          </a:prstGeom>
          <a:solidFill>
            <a:srgbClr val="FFF3E0"/>
          </a:solidFill>
          <a:ln w="25400" cap="flat" cmpd="sng" algn="ctr">
            <a:solidFill>
              <a:srgbClr val="E651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B214B8EE-A5BA-46B6-9102-9EF1D006A69D}"/>
              </a:ext>
            </a:extLst>
          </p:cNvPr>
          <p:cNvSpPr txBox="1"/>
          <p:nvPr/>
        </p:nvSpPr>
        <p:spPr>
          <a:xfrm>
            <a:off x="5486400" y="952500"/>
            <a:ext cx="1905000" cy="355600"/>
          </a:xfrm>
          <a:prstGeom prst="rect">
            <a:avLst/>
          </a:prstGeom>
          <a:noFill/>
        </p:spPr>
        <p:txBody>
          <a:bodyPr vertOverflow="overflow" vert="horz" wrap="square" rtlCol="0" anchor="t">
            <a:noAutofit/>
          </a:bodyPr>
          <a:lstStyle/>
          <a:p>
            <a:pPr algn="l"/>
            <a:r>
              <a:rPr lang="en-US" sz="1600" b="1">
                <a:solidFill>
                  <a:srgbClr val="E65100"/>
                </a:solidFill>
                <a:latin typeface="Inter"/>
                <a:ea typeface="Inter"/>
              </a:rPr>
              <a:t>Your Model</a:t>
            </a:r>
          </a:p>
        </p:txBody>
      </p:sp>
      <p:sp>
        <p:nvSpPr>
          <p:cNvPr id="13" name="TextBox 12">
            <a:extLst>
              <a:ext uri="{FF2B5EF4-FFF2-40B4-BE49-F238E27FC236}">
                <a16:creationId xmlns:a16="http://schemas.microsoft.com/office/drawing/2014/main" id="{5577134B-FF78-4E49-ADDB-A8BB9163D138}"/>
              </a:ext>
            </a:extLst>
          </p:cNvPr>
          <p:cNvSpPr txBox="1"/>
          <p:nvPr/>
        </p:nvSpPr>
        <p:spPr>
          <a:xfrm>
            <a:off x="5486400" y="1460500"/>
            <a:ext cx="1905000" cy="508000"/>
          </a:xfrm>
          <a:prstGeom prst="rect">
            <a:avLst/>
          </a:prstGeom>
          <a:noFill/>
        </p:spPr>
        <p:txBody>
          <a:bodyPr vertOverflow="overflow" vert="horz" wrap="square" rtlCol="0" anchor="t">
            <a:noAutofit/>
          </a:bodyPr>
          <a:lstStyle/>
          <a:p>
            <a:pPr algn="l"/>
            <a:r>
              <a:rPr lang="en-US" sz="2400" b="1">
                <a:solidFill>
                  <a:srgbClr val="E65100"/>
                </a:solidFill>
                <a:latin typeface="Inter"/>
                <a:ea typeface="Inter"/>
              </a:rPr>
              <a:t>Interactive</a:t>
            </a:r>
          </a:p>
        </p:txBody>
      </p:sp>
      <p:sp>
        <p:nvSpPr>
          <p:cNvPr id="14" name="TextBox 13">
            <a:extLst>
              <a:ext uri="{FF2B5EF4-FFF2-40B4-BE49-F238E27FC236}">
                <a16:creationId xmlns:a16="http://schemas.microsoft.com/office/drawing/2014/main" id="{C784B44B-782E-435A-B8CD-93F22A97FEC3}"/>
              </a:ext>
            </a:extLst>
          </p:cNvPr>
          <p:cNvSpPr txBox="1"/>
          <p:nvPr/>
        </p:nvSpPr>
        <p:spPr>
          <a:xfrm>
            <a:off x="5486400" y="2095500"/>
            <a:ext cx="1905000" cy="355600"/>
          </a:xfrm>
          <a:prstGeom prst="rect">
            <a:avLst/>
          </a:prstGeom>
          <a:noFill/>
        </p:spPr>
        <p:txBody>
          <a:bodyPr vertOverflow="overflow" vert="horz" wrap="square" rtlCol="0" anchor="t">
            <a:noAutofit/>
          </a:bodyPr>
          <a:lstStyle/>
          <a:p>
            <a:pPr algn="l"/>
            <a:r>
              <a:rPr lang="en-US" sz="1600">
                <a:solidFill>
                  <a:srgbClr val="333333"/>
                </a:solidFill>
                <a:latin typeface="Inter"/>
                <a:ea typeface="Inter"/>
              </a:rPr>
              <a:t>The conversation starter.</a:t>
            </a:r>
          </a:p>
        </p:txBody>
      </p:sp>
      <p:sp>
        <p:nvSpPr>
          <p:cNvPr id="15" name="TextBox 14">
            <a:extLst>
              <a:ext uri="{FF2B5EF4-FFF2-40B4-BE49-F238E27FC236}">
                <a16:creationId xmlns:a16="http://schemas.microsoft.com/office/drawing/2014/main" id="{878911B5-087D-49DF-9AD2-A9583AE6723E}"/>
              </a:ext>
            </a:extLst>
          </p:cNvPr>
          <p:cNvSpPr txBox="1"/>
          <p:nvPr/>
        </p:nvSpPr>
        <p:spPr>
          <a:xfrm>
            <a:off x="660400" y="3746500"/>
            <a:ext cx="5080000" cy="444500"/>
          </a:xfrm>
          <a:prstGeom prst="rect">
            <a:avLst/>
          </a:prstGeom>
          <a:noFill/>
        </p:spPr>
        <p:txBody>
          <a:bodyPr vertOverflow="overflow" vert="horz" wrap="square" rtlCol="0" anchor="t">
            <a:noAutofit/>
          </a:bodyPr>
          <a:lstStyle/>
          <a:p>
            <a:pPr algn="l"/>
            <a:r>
              <a:rPr lang="en-US" sz="2000" b="1">
                <a:solidFill>
                  <a:srgbClr val="0088CC"/>
                </a:solidFill>
                <a:latin typeface="Inter"/>
                <a:ea typeface="Inter"/>
              </a:rPr>
              <a:t>Three lenses. Same workforce.</a:t>
            </a:r>
          </a:p>
        </p:txBody>
      </p:sp>
    </p:spTree>
    <p:extLst>
      <p:ext uri="{BB962C8B-B14F-4D97-AF65-F5344CB8AC3E}">
        <p14:creationId xmlns:p14="http://schemas.microsoft.com/office/powerpoint/2010/main" val="42529471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EA4D7B-40AA-41D7-BC22-A8CB76B6B0E2}"/>
              </a:ext>
            </a:extLst>
          </p:cNvPr>
          <p:cNvSpPr txBox="1"/>
          <p:nvPr/>
        </p:nvSpPr>
        <p:spPr>
          <a:xfrm>
            <a:off x="660400" y="127000"/>
            <a:ext cx="6350000" cy="508000"/>
          </a:xfrm>
          <a:prstGeom prst="rect">
            <a:avLst/>
          </a:prstGeom>
          <a:noFill/>
        </p:spPr>
        <p:txBody>
          <a:bodyPr vertOverflow="overflow" vert="horz" wrap="square" rtlCol="0" anchor="t">
            <a:noAutofit/>
          </a:bodyPr>
          <a:lstStyle/>
          <a:p>
            <a:pPr algn="l"/>
            <a:r>
              <a:rPr lang="en-US" sz="2600" b="1">
                <a:solidFill>
                  <a:srgbClr val="1E1F20"/>
                </a:solidFill>
                <a:latin typeface="Inter"/>
                <a:ea typeface="Inter"/>
              </a:rPr>
              <a:t>What the Spreadsheet Misses.</a:t>
            </a:r>
          </a:p>
        </p:txBody>
      </p:sp>
      <p:sp>
        <p:nvSpPr>
          <p:cNvPr id="3" name="TextBox 2">
            <a:extLst>
              <a:ext uri="{FF2B5EF4-FFF2-40B4-BE49-F238E27FC236}">
                <a16:creationId xmlns:a16="http://schemas.microsoft.com/office/drawing/2014/main" id="{AE69BF29-CCB4-48F9-A41B-3F9C33DB0A2F}"/>
              </a:ext>
            </a:extLst>
          </p:cNvPr>
          <p:cNvSpPr txBox="1"/>
          <p:nvPr/>
        </p:nvSpPr>
        <p:spPr>
          <a:xfrm>
            <a:off x="660400" y="660400"/>
            <a:ext cx="1524000" cy="698500"/>
          </a:xfrm>
          <a:prstGeom prst="rect">
            <a:avLst/>
          </a:prstGeom>
          <a:noFill/>
        </p:spPr>
        <p:txBody>
          <a:bodyPr vertOverflow="overflow" vert="horz" wrap="square" rtlCol="0" anchor="t">
            <a:noAutofit/>
          </a:bodyPr>
          <a:lstStyle/>
          <a:p>
            <a:pPr algn="l"/>
            <a:r>
              <a:rPr lang="en-US" sz="4800" b="1">
                <a:solidFill>
                  <a:srgbClr val="0088CC"/>
                </a:solidFill>
                <a:latin typeface="Inter"/>
                <a:ea typeface="Inter"/>
              </a:rPr>
              <a:t>221</a:t>
            </a:r>
          </a:p>
        </p:txBody>
      </p:sp>
      <p:sp>
        <p:nvSpPr>
          <p:cNvPr id="4" name="TextBox 3">
            <a:extLst>
              <a:ext uri="{FF2B5EF4-FFF2-40B4-BE49-F238E27FC236}">
                <a16:creationId xmlns:a16="http://schemas.microsoft.com/office/drawing/2014/main" id="{CF3E8C09-D71A-4CF7-9417-CF8E0A601CD9}"/>
              </a:ext>
            </a:extLst>
          </p:cNvPr>
          <p:cNvSpPr txBox="1"/>
          <p:nvPr/>
        </p:nvSpPr>
        <p:spPr>
          <a:xfrm>
            <a:off x="2286000" y="825500"/>
            <a:ext cx="4445000" cy="381000"/>
          </a:xfrm>
          <a:prstGeom prst="rect">
            <a:avLst/>
          </a:prstGeom>
          <a:noFill/>
        </p:spPr>
        <p:txBody>
          <a:bodyPr vertOverflow="overflow" vert="horz" wrap="square" rtlCol="0" anchor="t">
            <a:noAutofit/>
          </a:bodyPr>
          <a:lstStyle/>
          <a:p>
            <a:pPr algn="l"/>
            <a:r>
              <a:rPr lang="en-US" sz="1800">
                <a:solidFill>
                  <a:srgbClr val="666666"/>
                </a:solidFill>
                <a:latin typeface="Inter"/>
                <a:ea typeface="Inter"/>
              </a:rPr>
              <a:t>patterns encoded across 5 workers</a:t>
            </a:r>
          </a:p>
        </p:txBody>
      </p:sp>
      <p:sp>
        <p:nvSpPr>
          <p:cNvPr id="5" name="Rectangle: Rounded Corners 4">
            <a:extLst>
              <a:ext uri="{FF2B5EF4-FFF2-40B4-BE49-F238E27FC236}">
                <a16:creationId xmlns:a16="http://schemas.microsoft.com/office/drawing/2014/main" id="{6EB569B7-8A92-4691-B601-017669C946E9}"/>
              </a:ext>
            </a:extLst>
          </p:cNvPr>
          <p:cNvSpPr/>
          <p:nvPr/>
        </p:nvSpPr>
        <p:spPr>
          <a:xfrm>
            <a:off x="660400" y="1498600"/>
            <a:ext cx="4826000" cy="330200"/>
          </a:xfrm>
          <a:prstGeom prst="roundRect">
            <a:avLst/>
          </a:prstGeom>
          <a:solidFill>
            <a:srgbClr val="E651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Inter"/>
                <a:ea typeface="Inter"/>
              </a:rPr>
              <a:t>109</a:t>
            </a:r>
          </a:p>
        </p:txBody>
      </p:sp>
      <p:sp>
        <p:nvSpPr>
          <p:cNvPr id="6" name="TextBox 5">
            <a:extLst>
              <a:ext uri="{FF2B5EF4-FFF2-40B4-BE49-F238E27FC236}">
                <a16:creationId xmlns:a16="http://schemas.microsoft.com/office/drawing/2014/main" id="{70E491BF-E039-43A2-B893-F04157D3972F}"/>
              </a:ext>
            </a:extLst>
          </p:cNvPr>
          <p:cNvSpPr txBox="1"/>
          <p:nvPr/>
        </p:nvSpPr>
        <p:spPr>
          <a:xfrm>
            <a:off x="660400" y="1828800"/>
            <a:ext cx="5080000" cy="279400"/>
          </a:xfrm>
          <a:prstGeom prst="rect">
            <a:avLst/>
          </a:prstGeom>
          <a:noFill/>
        </p:spPr>
        <p:txBody>
          <a:bodyPr vertOverflow="overflow" vert="horz" wrap="square" rtlCol="0" anchor="t">
            <a:noAutofit/>
          </a:bodyPr>
          <a:lstStyle/>
          <a:p>
            <a:pPr algn="l"/>
            <a:r>
              <a:rPr lang="en-US">
                <a:solidFill>
                  <a:srgbClr val="333333"/>
                </a:solidFill>
                <a:latin typeface="Inter"/>
                <a:ea typeface="Inter"/>
              </a:rPr>
              <a:t>Sarah's deal judgment + voice</a:t>
            </a:r>
          </a:p>
        </p:txBody>
      </p:sp>
      <p:sp>
        <p:nvSpPr>
          <p:cNvPr id="7" name="Rectangle: Rounded Corners 6">
            <a:extLst>
              <a:ext uri="{FF2B5EF4-FFF2-40B4-BE49-F238E27FC236}">
                <a16:creationId xmlns:a16="http://schemas.microsoft.com/office/drawing/2014/main" id="{99F1D14F-135B-4F01-BEDD-256BEF08578E}"/>
              </a:ext>
            </a:extLst>
          </p:cNvPr>
          <p:cNvSpPr/>
          <p:nvPr/>
        </p:nvSpPr>
        <p:spPr>
          <a:xfrm>
            <a:off x="660400" y="2159000"/>
            <a:ext cx="2286000" cy="330200"/>
          </a:xfrm>
          <a:prstGeom prst="roundRect">
            <a:avLst/>
          </a:prstGeom>
          <a:solidFill>
            <a:srgbClr val="2E7D3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Inter"/>
                <a:ea typeface="Inter"/>
              </a:rPr>
              <a:t>52</a:t>
            </a:r>
          </a:p>
        </p:txBody>
      </p:sp>
      <p:sp>
        <p:nvSpPr>
          <p:cNvPr id="8" name="TextBox 7">
            <a:extLst>
              <a:ext uri="{FF2B5EF4-FFF2-40B4-BE49-F238E27FC236}">
                <a16:creationId xmlns:a16="http://schemas.microsoft.com/office/drawing/2014/main" id="{210C8286-A116-4361-8AEB-81DCB50488F5}"/>
              </a:ext>
            </a:extLst>
          </p:cNvPr>
          <p:cNvSpPr txBox="1"/>
          <p:nvPr/>
        </p:nvSpPr>
        <p:spPr>
          <a:xfrm>
            <a:off x="660400" y="2489200"/>
            <a:ext cx="5080000" cy="279400"/>
          </a:xfrm>
          <a:prstGeom prst="rect">
            <a:avLst/>
          </a:prstGeom>
          <a:noFill/>
        </p:spPr>
        <p:txBody>
          <a:bodyPr vertOverflow="overflow" vert="horz" wrap="square" rtlCol="0" anchor="t">
            <a:noAutofit/>
          </a:bodyPr>
          <a:lstStyle/>
          <a:p>
            <a:pPr algn="l"/>
            <a:r>
              <a:rPr lang="en-US">
                <a:solidFill>
                  <a:srgbClr val="333333"/>
                </a:solidFill>
                <a:latin typeface="Inter"/>
                <a:ea typeface="Inter"/>
              </a:rPr>
              <a:t>Tom's vendor instincts (12 yrs)</a:t>
            </a:r>
          </a:p>
        </p:txBody>
      </p:sp>
      <p:sp>
        <p:nvSpPr>
          <p:cNvPr id="9" name="Rectangle: Rounded Corners 8">
            <a:extLst>
              <a:ext uri="{FF2B5EF4-FFF2-40B4-BE49-F238E27FC236}">
                <a16:creationId xmlns:a16="http://schemas.microsoft.com/office/drawing/2014/main" id="{BEA04BF5-5A78-41C4-A36E-48844B86861C}"/>
              </a:ext>
            </a:extLst>
          </p:cNvPr>
          <p:cNvSpPr/>
          <p:nvPr/>
        </p:nvSpPr>
        <p:spPr>
          <a:xfrm>
            <a:off x="660400" y="2819400"/>
            <a:ext cx="2070100" cy="330200"/>
          </a:xfrm>
          <a:prstGeom prst="roundRect">
            <a:avLst/>
          </a:prstGeom>
          <a:solidFill>
            <a:srgbClr val="0088C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Inter"/>
                <a:ea typeface="Inter"/>
              </a:rPr>
              <a:t>47</a:t>
            </a:r>
          </a:p>
        </p:txBody>
      </p:sp>
      <p:sp>
        <p:nvSpPr>
          <p:cNvPr id="10" name="TextBox 9">
            <a:extLst>
              <a:ext uri="{FF2B5EF4-FFF2-40B4-BE49-F238E27FC236}">
                <a16:creationId xmlns:a16="http://schemas.microsoft.com/office/drawing/2014/main" id="{6845A7AB-52B7-485A-939E-4E96D2C7964F}"/>
              </a:ext>
            </a:extLst>
          </p:cNvPr>
          <p:cNvSpPr txBox="1"/>
          <p:nvPr/>
        </p:nvSpPr>
        <p:spPr>
          <a:xfrm>
            <a:off x="660400" y="3149600"/>
            <a:ext cx="5080000" cy="279400"/>
          </a:xfrm>
          <a:prstGeom prst="rect">
            <a:avLst/>
          </a:prstGeom>
          <a:noFill/>
        </p:spPr>
        <p:txBody>
          <a:bodyPr vertOverflow="overflow" vert="horz" wrap="square" rtlCol="0" anchor="t">
            <a:noAutofit/>
          </a:bodyPr>
          <a:lstStyle/>
          <a:p>
            <a:pPr algn="l"/>
            <a:r>
              <a:rPr lang="en-US">
                <a:solidFill>
                  <a:srgbClr val="333333"/>
                </a:solidFill>
                <a:latin typeface="Inter"/>
                <a:ea typeface="Inter"/>
              </a:rPr>
              <a:t>Brand voice rules</a:t>
            </a:r>
          </a:p>
        </p:txBody>
      </p:sp>
      <p:sp>
        <p:nvSpPr>
          <p:cNvPr id="11" name="Rectangle: Rounded Corners 10">
            <a:extLst>
              <a:ext uri="{FF2B5EF4-FFF2-40B4-BE49-F238E27FC236}">
                <a16:creationId xmlns:a16="http://schemas.microsoft.com/office/drawing/2014/main" id="{3139E782-E368-45CD-A0AD-146BB11E7EEB}"/>
              </a:ext>
            </a:extLst>
          </p:cNvPr>
          <p:cNvSpPr/>
          <p:nvPr/>
        </p:nvSpPr>
        <p:spPr>
          <a:xfrm>
            <a:off x="660400" y="3479800"/>
            <a:ext cx="1371600" cy="330200"/>
          </a:xfrm>
          <a:prstGeom prst="roundRect">
            <a:avLst/>
          </a:prstGeom>
          <a:solidFill>
            <a:srgbClr val="7B1FA2"/>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Inter"/>
                <a:ea typeface="Inter"/>
              </a:rPr>
              <a:t>31</a:t>
            </a:r>
          </a:p>
        </p:txBody>
      </p:sp>
      <p:sp>
        <p:nvSpPr>
          <p:cNvPr id="12" name="TextBox 11">
            <a:extLst>
              <a:ext uri="{FF2B5EF4-FFF2-40B4-BE49-F238E27FC236}">
                <a16:creationId xmlns:a16="http://schemas.microsoft.com/office/drawing/2014/main" id="{781D6385-7452-422A-B8A8-DADF968DCDE4}"/>
              </a:ext>
            </a:extLst>
          </p:cNvPr>
          <p:cNvSpPr txBox="1"/>
          <p:nvPr/>
        </p:nvSpPr>
        <p:spPr>
          <a:xfrm>
            <a:off x="660400" y="3810000"/>
            <a:ext cx="5080000" cy="279400"/>
          </a:xfrm>
          <a:prstGeom prst="rect">
            <a:avLst/>
          </a:prstGeom>
          <a:noFill/>
        </p:spPr>
        <p:txBody>
          <a:bodyPr vertOverflow="overflow" vert="horz" wrap="square" rtlCol="0" anchor="t">
            <a:noAutofit/>
          </a:bodyPr>
          <a:lstStyle/>
          <a:p>
            <a:pPr algn="l"/>
            <a:r>
              <a:rPr lang="en-US">
                <a:solidFill>
                  <a:srgbClr val="333333"/>
                </a:solidFill>
                <a:latin typeface="Inter"/>
                <a:ea typeface="Inter"/>
              </a:rPr>
              <a:t>Katie's hiring instincts</a:t>
            </a:r>
          </a:p>
        </p:txBody>
      </p:sp>
      <p:sp>
        <p:nvSpPr>
          <p:cNvPr id="13" name="TextBox 12">
            <a:extLst>
              <a:ext uri="{FF2B5EF4-FFF2-40B4-BE49-F238E27FC236}">
                <a16:creationId xmlns:a16="http://schemas.microsoft.com/office/drawing/2014/main" id="{C753B83D-2FEE-4271-A3B6-6FEE80FC4518}"/>
              </a:ext>
            </a:extLst>
          </p:cNvPr>
          <p:cNvSpPr txBox="1"/>
          <p:nvPr/>
        </p:nvSpPr>
        <p:spPr>
          <a:xfrm>
            <a:off x="660400" y="4318000"/>
            <a:ext cx="6350000" cy="635000"/>
          </a:xfrm>
          <a:prstGeom prst="rect">
            <a:avLst/>
          </a:prstGeom>
          <a:noFill/>
        </p:spPr>
        <p:txBody>
          <a:bodyPr vertOverflow="overflow" vert="horz" wrap="square" rtlCol="0" anchor="t">
            <a:noAutofit/>
          </a:bodyPr>
          <a:lstStyle/>
          <a:p>
            <a:pPr algn="l"/>
            <a:r>
              <a:rPr lang="en-US" sz="1600" b="1">
                <a:solidFill>
                  <a:srgbClr val="0088CC"/>
                </a:solidFill>
                <a:latin typeface="Inter"/>
                <a:ea typeface="Inter"/>
              </a:rPr>
              <a:t>This knowledge used to walk out the door.
Now it belongs to the organization.</a:t>
            </a:r>
          </a:p>
        </p:txBody>
      </p:sp>
    </p:spTree>
    <p:extLst>
      <p:ext uri="{BB962C8B-B14F-4D97-AF65-F5344CB8AC3E}">
        <p14:creationId xmlns:p14="http://schemas.microsoft.com/office/powerpoint/2010/main" val="917244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99B485-6222-486F-94E1-D84086C1EFC0}"/>
              </a:ext>
            </a:extLst>
          </p:cNvPr>
          <p:cNvSpPr txBox="1"/>
          <p:nvPr/>
        </p:nvSpPr>
        <p:spPr>
          <a:xfrm>
            <a:off x="381000" y="101600"/>
            <a:ext cx="5080000" cy="482600"/>
          </a:xfrm>
          <a:prstGeom prst="rect">
            <a:avLst/>
          </a:prstGeom>
          <a:noFill/>
        </p:spPr>
        <p:txBody>
          <a:bodyPr vertOverflow="overflow" vert="horz" wrap="square" rtlCol="0" anchor="t">
            <a:noAutofit/>
          </a:bodyPr>
          <a:lstStyle/>
          <a:p>
            <a:pPr algn="l"/>
            <a:r>
              <a:rPr lang="en-US" sz="2600" b="1">
                <a:solidFill>
                  <a:srgbClr val="1E1F20"/>
                </a:solidFill>
                <a:latin typeface="Inter"/>
                <a:ea typeface="Inter"/>
              </a:rPr>
              <a:t>The Scar Tissue Test.</a:t>
            </a:r>
          </a:p>
        </p:txBody>
      </p:sp>
      <p:sp>
        <p:nvSpPr>
          <p:cNvPr id="3" name="TextBox 2">
            <a:extLst>
              <a:ext uri="{FF2B5EF4-FFF2-40B4-BE49-F238E27FC236}">
                <a16:creationId xmlns:a16="http://schemas.microsoft.com/office/drawing/2014/main" id="{D70DEDF2-95D5-4EA2-8CD7-82E4DA978566}"/>
              </a:ext>
            </a:extLst>
          </p:cNvPr>
          <p:cNvSpPr txBox="1"/>
          <p:nvPr/>
        </p:nvSpPr>
        <p:spPr>
          <a:xfrm>
            <a:off x="381000" y="609600"/>
            <a:ext cx="6350000" cy="317500"/>
          </a:xfrm>
          <a:prstGeom prst="rect">
            <a:avLst/>
          </a:prstGeom>
          <a:noFill/>
        </p:spPr>
        <p:txBody>
          <a:bodyPr vertOverflow="overflow" vert="horz" wrap="square" rtlCol="0" anchor="t">
            <a:noAutofit/>
          </a:bodyPr>
          <a:lstStyle/>
          <a:p>
            <a:pPr algn="l"/>
            <a:r>
              <a:rPr lang="en-US" sz="1500">
                <a:solidFill>
                  <a:srgbClr val="666666"/>
                </a:solidFill>
                <a:latin typeface="Inter"/>
                <a:ea typeface="Inter"/>
              </a:rPr>
              <a:t>What walks out the door when a key person leaves?</a:t>
            </a:r>
          </a:p>
        </p:txBody>
      </p:sp>
      <p:graphicFrame>
        <p:nvGraphicFramePr>
          <p:cNvPr id="5" name="Table 4">
            <a:extLst>
              <a:ext uri="{FF2B5EF4-FFF2-40B4-BE49-F238E27FC236}">
                <a16:creationId xmlns:a16="http://schemas.microsoft.com/office/drawing/2014/main" id="{8F05129F-F003-4DFD-AA52-01625264B3A7}"/>
              </a:ext>
            </a:extLst>
          </p:cNvPr>
          <p:cNvGraphicFramePr>
            <a:graphicFrameLocks noGrp="1"/>
          </p:cNvGraphicFramePr>
          <p:nvPr>
            <p:extLst>
              <p:ext uri="{D42A27DB-BD31-4B8C-83A1-F6EECF244321}">
                <p14:modId xmlns:p14="http://schemas.microsoft.com/office/powerpoint/2010/main" val="1484860521"/>
              </p:ext>
            </p:extLst>
          </p:nvPr>
        </p:nvGraphicFramePr>
        <p:xfrm>
          <a:off x="381000" y="952500"/>
          <a:ext cx="7620000" cy="3302000"/>
        </p:xfrm>
        <a:graphic>
          <a:graphicData uri="http://schemas.openxmlformats.org/drawingml/2006/table">
            <a:tbl>
              <a:tblPr firstRow="1" bandRow="1">
                <a:tableStyleId>{5C22544A-7EE6-4342-B048-85BDC9FD1C3A}</a:tableStyleId>
              </a:tblPr>
              <a:tblGrid>
                <a:gridCol w="1397000">
                  <a:extLst>
                    <a:ext uri="{9D8B030D-6E8A-4147-A177-3AD203B41FA5}">
                      <a16:colId xmlns:a16="http://schemas.microsoft.com/office/drawing/2014/main" val="3307230781"/>
                    </a:ext>
                  </a:extLst>
                </a:gridCol>
                <a:gridCol w="3111500">
                  <a:extLst>
                    <a:ext uri="{9D8B030D-6E8A-4147-A177-3AD203B41FA5}">
                      <a16:colId xmlns:a16="http://schemas.microsoft.com/office/drawing/2014/main" val="3838223171"/>
                    </a:ext>
                  </a:extLst>
                </a:gridCol>
                <a:gridCol w="3111500">
                  <a:extLst>
                    <a:ext uri="{9D8B030D-6E8A-4147-A177-3AD203B41FA5}">
                      <a16:colId xmlns:a16="http://schemas.microsoft.com/office/drawing/2014/main" val="1023220848"/>
                    </a:ext>
                  </a:extLst>
                </a:gridCol>
              </a:tblGrid>
              <a:tr h="825500">
                <a:tc>
                  <a:txBody>
                    <a:bodyPr/>
                    <a:lstStyle/>
                    <a:p>
                      <a:pPr algn="ctr"/>
                      <a:endParaRPr lang="en-US" sz="1400" b="1">
                        <a:solidFill>
                          <a:srgbClr val="FFFFFF"/>
                        </a:solidFill>
                        <a:latin typeface="Inter"/>
                        <a:ea typeface="Inter"/>
                      </a:endParaRPr>
                    </a:p>
                  </a:txBody>
                  <a:tcPr anchor="ctr">
                    <a:solidFill>
                      <a:srgbClr val="0088CC"/>
                    </a:solidFill>
                  </a:tcPr>
                </a:tc>
                <a:tc>
                  <a:txBody>
                    <a:bodyPr/>
                    <a:lstStyle/>
                    <a:p>
                      <a:pPr algn="ctr"/>
                      <a:r>
                        <a:rPr lang="en-US" sz="1400" b="1">
                          <a:solidFill>
                            <a:srgbClr val="FFFFFF"/>
                          </a:solidFill>
                          <a:latin typeface="Inter"/>
                          <a:ea typeface="Inter"/>
                        </a:rPr>
                        <a:t>Without AI Workers</a:t>
                      </a:r>
                    </a:p>
                  </a:txBody>
                  <a:tcPr anchor="ctr">
                    <a:solidFill>
                      <a:srgbClr val="0088CC"/>
                    </a:solidFill>
                  </a:tcPr>
                </a:tc>
                <a:tc>
                  <a:txBody>
                    <a:bodyPr/>
                    <a:lstStyle/>
                    <a:p>
                      <a:pPr algn="ctr"/>
                      <a:r>
                        <a:rPr lang="en-US" sz="1400" b="1">
                          <a:solidFill>
                            <a:srgbClr val="FFFFFF"/>
                          </a:solidFill>
                          <a:latin typeface="Inter"/>
                          <a:ea typeface="Inter"/>
                        </a:rPr>
                        <a:t>With AI Workers</a:t>
                      </a:r>
                    </a:p>
                  </a:txBody>
                  <a:tcPr anchor="ctr">
                    <a:solidFill>
                      <a:srgbClr val="0088CC"/>
                    </a:solidFill>
                  </a:tcPr>
                </a:tc>
                <a:extLst>
                  <a:ext uri="{0D108BD9-81ED-4DB2-BD59-A6C34878D82A}">
                    <a16:rowId xmlns:a16="http://schemas.microsoft.com/office/drawing/2014/main" val="2830831367"/>
                  </a:ext>
                </a:extLst>
              </a:tr>
              <a:tr h="825500">
                <a:tc>
                  <a:txBody>
                    <a:bodyPr/>
                    <a:lstStyle/>
                    <a:p>
                      <a:pPr algn="ctr"/>
                      <a:r>
                        <a:rPr lang="en-US" sz="1400" b="1">
                          <a:solidFill>
                            <a:srgbClr val="0088CC"/>
                          </a:solidFill>
                          <a:latin typeface="Inter"/>
                          <a:ea typeface="Inter"/>
                        </a:rPr>
                        <a:t>Tom leaves
(12 years)</a:t>
                      </a:r>
                    </a:p>
                  </a:txBody>
                  <a:tcPr anchor="ctr">
                    <a:solidFill>
                      <a:srgbClr val="E8F4FD"/>
                    </a:solidFill>
                  </a:tcPr>
                </a:tc>
                <a:tc>
                  <a:txBody>
                    <a:bodyPr/>
                    <a:lstStyle/>
                    <a:p>
                      <a:r>
                        <a:rPr lang="en-US" sz="1400">
                          <a:solidFill>
                            <a:srgbClr val="C62828"/>
                          </a:solidFill>
                          <a:latin typeface="Inter"/>
                          <a:ea typeface="Inter"/>
                        </a:rPr>
                        <a:t>6 months learning.
Exception rate resets to 15%.</a:t>
                      </a:r>
                    </a:p>
                  </a:txBody>
                  <a:tcPr anchor="ctr">
                    <a:solidFill>
                      <a:srgbClr val="FBE9E7"/>
                    </a:solidFill>
                  </a:tcPr>
                </a:tc>
                <a:tc>
                  <a:txBody>
                    <a:bodyPr/>
                    <a:lstStyle/>
                    <a:p>
                      <a:r>
                        <a:rPr lang="en-US" sz="1400">
                          <a:solidFill>
                            <a:srgbClr val="2E7D32"/>
                          </a:solidFill>
                          <a:latin typeface="Inter"/>
                          <a:ea typeface="Inter"/>
                        </a:rPr>
                        <a:t>52 patterns preserved.
Starts at month 6.
Exception rate stays at 4%.</a:t>
                      </a:r>
                    </a:p>
                  </a:txBody>
                  <a:tcPr anchor="ctr">
                    <a:solidFill>
                      <a:srgbClr val="E8F5E9"/>
                    </a:solidFill>
                  </a:tcPr>
                </a:tc>
                <a:extLst>
                  <a:ext uri="{0D108BD9-81ED-4DB2-BD59-A6C34878D82A}">
                    <a16:rowId xmlns:a16="http://schemas.microsoft.com/office/drawing/2014/main" val="3940619305"/>
                  </a:ext>
                </a:extLst>
              </a:tr>
              <a:tr h="825500">
                <a:tc>
                  <a:txBody>
                    <a:bodyPr/>
                    <a:lstStyle/>
                    <a:p>
                      <a:pPr algn="ctr"/>
                      <a:r>
                        <a:rPr lang="en-US" sz="1400" b="1">
                          <a:solidFill>
                            <a:srgbClr val="0088CC"/>
                          </a:solidFill>
                          <a:latin typeface="Inter"/>
                          <a:ea typeface="Inter"/>
                        </a:rPr>
                        <a:t>Sarah leaves
(20 years)</a:t>
                      </a:r>
                    </a:p>
                  </a:txBody>
                  <a:tcPr anchor="ctr">
                    <a:solidFill>
                      <a:srgbClr val="E8F4FD"/>
                    </a:solidFill>
                  </a:tcPr>
                </a:tc>
                <a:tc>
                  <a:txBody>
                    <a:bodyPr/>
                    <a:lstStyle/>
                    <a:p>
                      <a:r>
                        <a:rPr lang="en-US" sz="1400">
                          <a:solidFill>
                            <a:srgbClr val="C62828"/>
                          </a:solidFill>
                          <a:latin typeface="Inter"/>
                          <a:ea typeface="Inter"/>
                        </a:rPr>
                        <a:t>Pipeline goes cold.
18 months to rebuild.</a:t>
                      </a:r>
                    </a:p>
                  </a:txBody>
                  <a:tcPr anchor="ctr">
                    <a:solidFill>
                      <a:srgbClr val="FBE9E7"/>
                    </a:solidFill>
                  </a:tcPr>
                </a:tc>
                <a:tc>
                  <a:txBody>
                    <a:bodyPr/>
                    <a:lstStyle/>
                    <a:p>
                      <a:r>
                        <a:rPr lang="en-US" sz="1400">
                          <a:solidFill>
                            <a:srgbClr val="2E7D32"/>
                          </a:solidFill>
                          <a:latin typeface="Inter"/>
                          <a:ea typeface="Inter"/>
                        </a:rPr>
                        <a:t>109 patterns preserved.
Voice, scoring, angles
— all encoded.</a:t>
                      </a:r>
                    </a:p>
                  </a:txBody>
                  <a:tcPr anchor="ctr">
                    <a:solidFill>
                      <a:srgbClr val="E8F5E9"/>
                    </a:solidFill>
                  </a:tcPr>
                </a:tc>
                <a:extLst>
                  <a:ext uri="{0D108BD9-81ED-4DB2-BD59-A6C34878D82A}">
                    <a16:rowId xmlns:a16="http://schemas.microsoft.com/office/drawing/2014/main" val="3065908362"/>
                  </a:ext>
                </a:extLst>
              </a:tr>
              <a:tr h="825500">
                <a:tc>
                  <a:txBody>
                    <a:bodyPr/>
                    <a:lstStyle/>
                    <a:p>
                      <a:pPr algn="ctr"/>
                      <a:r>
                        <a:rPr lang="en-US" sz="1400" b="1">
                          <a:solidFill>
                            <a:srgbClr val="0088CC"/>
                          </a:solidFill>
                          <a:latin typeface="Inter"/>
                          <a:ea typeface="Inter"/>
                        </a:rPr>
                        <a:t>Katie leaves
(3 years)</a:t>
                      </a:r>
                    </a:p>
                  </a:txBody>
                  <a:tcPr anchor="ctr">
                    <a:solidFill>
                      <a:srgbClr val="E8F4FD"/>
                    </a:solidFill>
                  </a:tcPr>
                </a:tc>
                <a:tc>
                  <a:txBody>
                    <a:bodyPr/>
                    <a:lstStyle/>
                    <a:p>
                      <a:r>
                        <a:rPr lang="en-US" sz="1400">
                          <a:solidFill>
                            <a:srgbClr val="C62828"/>
                          </a:solidFill>
                          <a:latin typeface="Inter"/>
                          <a:ea typeface="Inter"/>
                        </a:rPr>
                        <a:t>Hiring patterns reset to zero.
Sourcing channels forgotten.</a:t>
                      </a:r>
                    </a:p>
                  </a:txBody>
                  <a:tcPr anchor="ctr">
                    <a:solidFill>
                      <a:srgbClr val="FBE9E7"/>
                    </a:solidFill>
                  </a:tcPr>
                </a:tc>
                <a:tc>
                  <a:txBody>
                    <a:bodyPr/>
                    <a:lstStyle/>
                    <a:p>
                      <a:r>
                        <a:rPr lang="en-US" sz="1400">
                          <a:solidFill>
                            <a:srgbClr val="2E7D32"/>
                          </a:solidFill>
                          <a:latin typeface="Inter"/>
                          <a:ea typeface="Inter"/>
                        </a:rPr>
                        <a:t>31 patterns preserved.
Hiring gets smarter
even during vacancy.</a:t>
                      </a:r>
                    </a:p>
                  </a:txBody>
                  <a:tcPr anchor="ctr">
                    <a:solidFill>
                      <a:srgbClr val="E8F5E9"/>
                    </a:solidFill>
                  </a:tcPr>
                </a:tc>
                <a:extLst>
                  <a:ext uri="{0D108BD9-81ED-4DB2-BD59-A6C34878D82A}">
                    <a16:rowId xmlns:a16="http://schemas.microsoft.com/office/drawing/2014/main" val="2649208656"/>
                  </a:ext>
                </a:extLst>
              </a:tr>
            </a:tbl>
          </a:graphicData>
        </a:graphic>
      </p:graphicFrame>
      <p:sp>
        <p:nvSpPr>
          <p:cNvPr id="6" name="TextBox 5">
            <a:extLst>
              <a:ext uri="{FF2B5EF4-FFF2-40B4-BE49-F238E27FC236}">
                <a16:creationId xmlns:a16="http://schemas.microsoft.com/office/drawing/2014/main" id="{9CC5D574-6E89-4C70-A12C-974EE233A468}"/>
              </a:ext>
            </a:extLst>
          </p:cNvPr>
          <p:cNvSpPr txBox="1"/>
          <p:nvPr/>
        </p:nvSpPr>
        <p:spPr>
          <a:xfrm>
            <a:off x="381000" y="4419600"/>
            <a:ext cx="6731000" cy="571500"/>
          </a:xfrm>
          <a:prstGeom prst="rect">
            <a:avLst/>
          </a:prstGeom>
          <a:noFill/>
        </p:spPr>
        <p:txBody>
          <a:bodyPr vertOverflow="overflow" vert="horz" wrap="square" rtlCol="0" anchor="t">
            <a:noAutofit/>
          </a:bodyPr>
          <a:lstStyle/>
          <a:p>
            <a:pPr algn="l"/>
            <a:r>
              <a:rPr lang="en-US" b="1">
                <a:solidFill>
                  <a:srgbClr val="0088CC"/>
                </a:solidFill>
                <a:latin typeface="Inter"/>
                <a:ea typeface="Inter"/>
              </a:rPr>
              <a:t>Every firm has had a key person leave.
You know what that crater feels like. This is what fills it.</a:t>
            </a:r>
          </a:p>
        </p:txBody>
      </p:sp>
    </p:spTree>
    <p:extLst>
      <p:ext uri="{BB962C8B-B14F-4D97-AF65-F5344CB8AC3E}">
        <p14:creationId xmlns:p14="http://schemas.microsoft.com/office/powerpoint/2010/main" val="34795745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BE6482-AC21-4061-B58F-C0FF84EA795A}"/>
              </a:ext>
            </a:extLst>
          </p:cNvPr>
          <p:cNvSpPr txBox="1"/>
          <p:nvPr/>
        </p:nvSpPr>
        <p:spPr>
          <a:xfrm>
            <a:off x="660400" y="190500"/>
            <a:ext cx="6350000" cy="533400"/>
          </a:xfrm>
          <a:prstGeom prst="rect">
            <a:avLst/>
          </a:prstGeom>
          <a:noFill/>
        </p:spPr>
        <p:txBody>
          <a:bodyPr vertOverflow="overflow" vert="horz" wrap="square" rtlCol="0" anchor="t">
            <a:noAutofit/>
          </a:bodyPr>
          <a:lstStyle/>
          <a:p>
            <a:pPr algn="l"/>
            <a:r>
              <a:rPr lang="en-US" sz="3000" b="1">
                <a:solidFill>
                  <a:srgbClr val="1E1F20"/>
                </a:solidFill>
                <a:latin typeface="Inter"/>
                <a:ea typeface="Inter"/>
              </a:rPr>
              <a:t>Three Questions.</a:t>
            </a:r>
          </a:p>
        </p:txBody>
      </p:sp>
      <p:sp>
        <p:nvSpPr>
          <p:cNvPr id="3" name="TextBox 2">
            <a:extLst>
              <a:ext uri="{FF2B5EF4-FFF2-40B4-BE49-F238E27FC236}">
                <a16:creationId xmlns:a16="http://schemas.microsoft.com/office/drawing/2014/main" id="{C520C462-51A6-4C1A-B811-CDEC40837C88}"/>
              </a:ext>
            </a:extLst>
          </p:cNvPr>
          <p:cNvSpPr txBox="1"/>
          <p:nvPr/>
        </p:nvSpPr>
        <p:spPr>
          <a:xfrm>
            <a:off x="660400" y="736600"/>
            <a:ext cx="5080000" cy="355600"/>
          </a:xfrm>
          <a:prstGeom prst="rect">
            <a:avLst/>
          </a:prstGeom>
          <a:noFill/>
        </p:spPr>
        <p:txBody>
          <a:bodyPr vertOverflow="overflow" vert="horz" wrap="square" rtlCol="0" anchor="t">
            <a:noAutofit/>
          </a:bodyPr>
          <a:lstStyle/>
          <a:p>
            <a:pPr algn="l"/>
            <a:r>
              <a:rPr lang="en-US" sz="1600">
                <a:solidFill>
                  <a:srgbClr val="666666"/>
                </a:solidFill>
                <a:latin typeface="Inter"/>
                <a:ea typeface="Inter"/>
              </a:rPr>
              <a:t>Before any AI worker:</a:t>
            </a:r>
          </a:p>
        </p:txBody>
      </p:sp>
      <p:sp>
        <p:nvSpPr>
          <p:cNvPr id="4" name="Oval 3">
            <a:extLst>
              <a:ext uri="{FF2B5EF4-FFF2-40B4-BE49-F238E27FC236}">
                <a16:creationId xmlns:a16="http://schemas.microsoft.com/office/drawing/2014/main" id="{FB6C68FA-A06B-459E-8474-AC9ECEE453DF}"/>
              </a:ext>
            </a:extLst>
          </p:cNvPr>
          <p:cNvSpPr/>
          <p:nvPr/>
        </p:nvSpPr>
        <p:spPr>
          <a:xfrm>
            <a:off x="660400" y="1206500"/>
            <a:ext cx="508000" cy="508000"/>
          </a:xfrm>
          <a:prstGeom prst="ellipse">
            <a:avLst/>
          </a:prstGeom>
          <a:solidFill>
            <a:srgbClr val="0088C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000" b="1">
                <a:solidFill>
                  <a:srgbClr val="FFFFFF"/>
                </a:solidFill>
                <a:latin typeface="Inter"/>
                <a:ea typeface="Inter"/>
              </a:rPr>
              <a:t>1</a:t>
            </a:r>
          </a:p>
        </p:txBody>
      </p:sp>
      <p:sp>
        <p:nvSpPr>
          <p:cNvPr id="5" name="TextBox 4">
            <a:extLst>
              <a:ext uri="{FF2B5EF4-FFF2-40B4-BE49-F238E27FC236}">
                <a16:creationId xmlns:a16="http://schemas.microsoft.com/office/drawing/2014/main" id="{744E4D05-C625-41B4-BDE4-676EFDCC4999}"/>
              </a:ext>
            </a:extLst>
          </p:cNvPr>
          <p:cNvSpPr txBox="1"/>
          <p:nvPr/>
        </p:nvSpPr>
        <p:spPr>
          <a:xfrm>
            <a:off x="1333500" y="1231900"/>
            <a:ext cx="5715000" cy="660400"/>
          </a:xfrm>
          <a:prstGeom prst="rect">
            <a:avLst/>
          </a:prstGeom>
          <a:noFill/>
        </p:spPr>
        <p:txBody>
          <a:bodyPr vertOverflow="overflow" vert="horz" wrap="square" rtlCol="0" anchor="t">
            <a:noAutofit/>
          </a:bodyPr>
          <a:lstStyle/>
          <a:p>
            <a:pPr algn="l"/>
            <a:r>
              <a:rPr lang="en-US" sz="2000" b="1">
                <a:solidFill>
                  <a:srgbClr val="1E1F20"/>
                </a:solidFill>
                <a:latin typeface="Inter"/>
                <a:ea typeface="Inter"/>
              </a:rPr>
              <a:t>Is this process documented
and measurable?</a:t>
            </a:r>
          </a:p>
        </p:txBody>
      </p:sp>
      <p:sp>
        <p:nvSpPr>
          <p:cNvPr id="6" name="Oval 5">
            <a:extLst>
              <a:ext uri="{FF2B5EF4-FFF2-40B4-BE49-F238E27FC236}">
                <a16:creationId xmlns:a16="http://schemas.microsoft.com/office/drawing/2014/main" id="{2E9E60DF-7028-463A-A139-0B1C86BDC1A5}"/>
              </a:ext>
            </a:extLst>
          </p:cNvPr>
          <p:cNvSpPr/>
          <p:nvPr/>
        </p:nvSpPr>
        <p:spPr>
          <a:xfrm>
            <a:off x="660400" y="2286000"/>
            <a:ext cx="508000" cy="508000"/>
          </a:xfrm>
          <a:prstGeom prst="ellipse">
            <a:avLst/>
          </a:prstGeom>
          <a:solidFill>
            <a:srgbClr val="0088C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000" b="1">
                <a:solidFill>
                  <a:srgbClr val="FFFFFF"/>
                </a:solidFill>
                <a:latin typeface="Inter"/>
                <a:ea typeface="Inter"/>
              </a:rPr>
              <a:t>2</a:t>
            </a:r>
          </a:p>
        </p:txBody>
      </p:sp>
      <p:sp>
        <p:nvSpPr>
          <p:cNvPr id="7" name="TextBox 6">
            <a:extLst>
              <a:ext uri="{FF2B5EF4-FFF2-40B4-BE49-F238E27FC236}">
                <a16:creationId xmlns:a16="http://schemas.microsoft.com/office/drawing/2014/main" id="{12A2B889-6D75-429E-AA30-E410C3D7B07E}"/>
              </a:ext>
            </a:extLst>
          </p:cNvPr>
          <p:cNvSpPr txBox="1"/>
          <p:nvPr/>
        </p:nvSpPr>
        <p:spPr>
          <a:xfrm>
            <a:off x="1333500" y="2311400"/>
            <a:ext cx="5715000" cy="660400"/>
          </a:xfrm>
          <a:prstGeom prst="rect">
            <a:avLst/>
          </a:prstGeom>
          <a:noFill/>
        </p:spPr>
        <p:txBody>
          <a:bodyPr vertOverflow="overflow" vert="horz" wrap="square" rtlCol="0" anchor="t">
            <a:noAutofit/>
          </a:bodyPr>
          <a:lstStyle/>
          <a:p>
            <a:pPr algn="l"/>
            <a:r>
              <a:rPr lang="en-US" sz="2000" b="1">
                <a:solidFill>
                  <a:srgbClr val="1E1F20"/>
                </a:solidFill>
                <a:latin typeface="Inter"/>
                <a:ea typeface="Inter"/>
              </a:rPr>
              <a:t>What outcome does
this worker own?</a:t>
            </a:r>
          </a:p>
        </p:txBody>
      </p:sp>
      <p:sp>
        <p:nvSpPr>
          <p:cNvPr id="8" name="Oval 7">
            <a:extLst>
              <a:ext uri="{FF2B5EF4-FFF2-40B4-BE49-F238E27FC236}">
                <a16:creationId xmlns:a16="http://schemas.microsoft.com/office/drawing/2014/main" id="{061A4BF5-D0A7-434C-9545-B81355A257E2}"/>
              </a:ext>
            </a:extLst>
          </p:cNvPr>
          <p:cNvSpPr/>
          <p:nvPr/>
        </p:nvSpPr>
        <p:spPr>
          <a:xfrm>
            <a:off x="660400" y="3365500"/>
            <a:ext cx="508000" cy="508000"/>
          </a:xfrm>
          <a:prstGeom prst="ellipse">
            <a:avLst/>
          </a:prstGeom>
          <a:solidFill>
            <a:srgbClr val="0088C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000" b="1">
                <a:solidFill>
                  <a:srgbClr val="FFFFFF"/>
                </a:solidFill>
                <a:latin typeface="Inter"/>
                <a:ea typeface="Inter"/>
              </a:rPr>
              <a:t>3</a:t>
            </a:r>
          </a:p>
        </p:txBody>
      </p:sp>
      <p:sp>
        <p:nvSpPr>
          <p:cNvPr id="9" name="TextBox 8">
            <a:extLst>
              <a:ext uri="{FF2B5EF4-FFF2-40B4-BE49-F238E27FC236}">
                <a16:creationId xmlns:a16="http://schemas.microsoft.com/office/drawing/2014/main" id="{21233A13-8311-4FA9-B434-C8ABC4F98D45}"/>
              </a:ext>
            </a:extLst>
          </p:cNvPr>
          <p:cNvSpPr txBox="1"/>
          <p:nvPr/>
        </p:nvSpPr>
        <p:spPr>
          <a:xfrm>
            <a:off x="1333500" y="3390900"/>
            <a:ext cx="5715000" cy="660400"/>
          </a:xfrm>
          <a:prstGeom prst="rect">
            <a:avLst/>
          </a:prstGeom>
          <a:noFill/>
        </p:spPr>
        <p:txBody>
          <a:bodyPr vertOverflow="overflow" vert="horz" wrap="square" rtlCol="0" anchor="t">
            <a:noAutofit/>
          </a:bodyPr>
          <a:lstStyle/>
          <a:p>
            <a:pPr algn="l"/>
            <a:r>
              <a:rPr lang="en-US" sz="2000" b="1">
                <a:solidFill>
                  <a:srgbClr val="1E1F20"/>
                </a:solidFill>
                <a:latin typeface="Inter"/>
                <a:ea typeface="Inter"/>
              </a:rPr>
              <a:t>Who supervises, and when
do they intervene?</a:t>
            </a:r>
          </a:p>
        </p:txBody>
      </p:sp>
    </p:spTree>
    <p:extLst>
      <p:ext uri="{BB962C8B-B14F-4D97-AF65-F5344CB8AC3E}">
        <p14:creationId xmlns:p14="http://schemas.microsoft.com/office/powerpoint/2010/main" val="28933256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198777-3217-4428-A40E-DBA75DAAB071}"/>
              </a:ext>
            </a:extLst>
          </p:cNvPr>
          <p:cNvSpPr txBox="1"/>
          <p:nvPr/>
        </p:nvSpPr>
        <p:spPr>
          <a:xfrm>
            <a:off x="660400" y="127000"/>
            <a:ext cx="6350000" cy="825500"/>
          </a:xfrm>
          <a:prstGeom prst="rect">
            <a:avLst/>
          </a:prstGeom>
          <a:noFill/>
        </p:spPr>
        <p:txBody>
          <a:bodyPr vertOverflow="overflow" vert="horz" wrap="square" rtlCol="0" anchor="t">
            <a:noAutofit/>
          </a:bodyPr>
          <a:lstStyle/>
          <a:p>
            <a:pPr algn="l"/>
            <a:r>
              <a:rPr lang="en-US" sz="2800" b="1">
                <a:solidFill>
                  <a:srgbClr val="1E1F20"/>
                </a:solidFill>
                <a:latin typeface="Inter"/>
                <a:ea typeface="Inter"/>
              </a:rPr>
              <a:t>Three Skills
Your Team Needs.</a:t>
            </a:r>
          </a:p>
        </p:txBody>
      </p:sp>
      <p:sp>
        <p:nvSpPr>
          <p:cNvPr id="3" name="Rectangle: Rounded Corners 2">
            <a:extLst>
              <a:ext uri="{FF2B5EF4-FFF2-40B4-BE49-F238E27FC236}">
                <a16:creationId xmlns:a16="http://schemas.microsoft.com/office/drawing/2014/main" id="{111F8E48-4B3A-4F6F-9999-EF7D9D3459E2}"/>
              </a:ext>
            </a:extLst>
          </p:cNvPr>
          <p:cNvSpPr/>
          <p:nvPr/>
        </p:nvSpPr>
        <p:spPr>
          <a:xfrm>
            <a:off x="660400" y="1079500"/>
            <a:ext cx="6731000" cy="1079500"/>
          </a:xfrm>
          <a:prstGeom prst="roundRect">
            <a:avLst/>
          </a:prstGeom>
          <a:solidFill>
            <a:srgbClr val="E8F5E9"/>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6CF7739C-7F82-4493-9FF0-B21E75C28F9A}"/>
              </a:ext>
            </a:extLst>
          </p:cNvPr>
          <p:cNvSpPr txBox="1"/>
          <p:nvPr/>
        </p:nvSpPr>
        <p:spPr>
          <a:xfrm>
            <a:off x="914400" y="1181100"/>
            <a:ext cx="2540000" cy="355600"/>
          </a:xfrm>
          <a:prstGeom prst="rect">
            <a:avLst/>
          </a:prstGeom>
          <a:noFill/>
        </p:spPr>
        <p:txBody>
          <a:bodyPr vertOverflow="overflow" vert="horz" wrap="square" rtlCol="0" anchor="t">
            <a:noAutofit/>
          </a:bodyPr>
          <a:lstStyle/>
          <a:p>
            <a:pPr algn="l"/>
            <a:r>
              <a:rPr lang="en-US" sz="1800" b="1">
                <a:solidFill>
                  <a:srgbClr val="2E7D32"/>
                </a:solidFill>
                <a:latin typeface="Inter"/>
                <a:ea typeface="Inter"/>
              </a:rPr>
              <a:t>Articulation</a:t>
            </a:r>
          </a:p>
        </p:txBody>
      </p:sp>
      <p:sp>
        <p:nvSpPr>
          <p:cNvPr id="5" name="TextBox 4">
            <a:extLst>
              <a:ext uri="{FF2B5EF4-FFF2-40B4-BE49-F238E27FC236}">
                <a16:creationId xmlns:a16="http://schemas.microsoft.com/office/drawing/2014/main" id="{0370595C-5FDC-41CA-8296-24E201B2429A}"/>
              </a:ext>
            </a:extLst>
          </p:cNvPr>
          <p:cNvSpPr txBox="1"/>
          <p:nvPr/>
        </p:nvSpPr>
        <p:spPr>
          <a:xfrm>
            <a:off x="914400" y="1536700"/>
            <a:ext cx="6223000" cy="571500"/>
          </a:xfrm>
          <a:prstGeom prst="rect">
            <a:avLst/>
          </a:prstGeom>
          <a:noFill/>
        </p:spPr>
        <p:txBody>
          <a:bodyPr vertOverflow="overflow" vert="horz" wrap="square" rtlCol="0" anchor="t">
            <a:noAutofit/>
          </a:bodyPr>
          <a:lstStyle/>
          <a:p>
            <a:pPr algn="l"/>
            <a:r>
              <a:rPr lang="en-US" sz="1500">
                <a:solidFill>
                  <a:srgbClr val="333333"/>
                </a:solidFill>
                <a:latin typeface="Inter"/>
                <a:ea typeface="Inter"/>
              </a:rPr>
              <a:t>Explain your decisions so the
system learns. Every explanation
is a deposit.</a:t>
            </a:r>
          </a:p>
        </p:txBody>
      </p:sp>
      <p:sp>
        <p:nvSpPr>
          <p:cNvPr id="6" name="Rectangle: Rounded Corners 5">
            <a:extLst>
              <a:ext uri="{FF2B5EF4-FFF2-40B4-BE49-F238E27FC236}">
                <a16:creationId xmlns:a16="http://schemas.microsoft.com/office/drawing/2014/main" id="{88B3CD4C-2E48-4D76-B5E1-4C3E133D616A}"/>
              </a:ext>
            </a:extLst>
          </p:cNvPr>
          <p:cNvSpPr/>
          <p:nvPr/>
        </p:nvSpPr>
        <p:spPr>
          <a:xfrm>
            <a:off x="660400" y="2349500"/>
            <a:ext cx="6731000" cy="1079500"/>
          </a:xfrm>
          <a:prstGeom prst="roundRect">
            <a:avLst/>
          </a:prstGeom>
          <a:solidFill>
            <a:srgbClr val="E8F4FD"/>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A6A0BB84-4E3F-4331-883B-ECC7D650DB03}"/>
              </a:ext>
            </a:extLst>
          </p:cNvPr>
          <p:cNvSpPr txBox="1"/>
          <p:nvPr/>
        </p:nvSpPr>
        <p:spPr>
          <a:xfrm>
            <a:off x="914400" y="2451100"/>
            <a:ext cx="2540000" cy="355600"/>
          </a:xfrm>
          <a:prstGeom prst="rect">
            <a:avLst/>
          </a:prstGeom>
          <a:noFill/>
        </p:spPr>
        <p:txBody>
          <a:bodyPr vertOverflow="overflow" vert="horz" wrap="square" rtlCol="0" anchor="t">
            <a:noAutofit/>
          </a:bodyPr>
          <a:lstStyle/>
          <a:p>
            <a:pPr algn="l"/>
            <a:r>
              <a:rPr lang="en-US" sz="1800" b="1">
                <a:solidFill>
                  <a:srgbClr val="0088CC"/>
                </a:solidFill>
                <a:latin typeface="Inter"/>
                <a:ea typeface="Inter"/>
              </a:rPr>
              <a:t>Evaluation</a:t>
            </a:r>
          </a:p>
        </p:txBody>
      </p:sp>
      <p:sp>
        <p:nvSpPr>
          <p:cNvPr id="8" name="TextBox 7">
            <a:extLst>
              <a:ext uri="{FF2B5EF4-FFF2-40B4-BE49-F238E27FC236}">
                <a16:creationId xmlns:a16="http://schemas.microsoft.com/office/drawing/2014/main" id="{B64E3970-EFAA-438F-A928-0D7E3F20A7CC}"/>
              </a:ext>
            </a:extLst>
          </p:cNvPr>
          <p:cNvSpPr txBox="1"/>
          <p:nvPr/>
        </p:nvSpPr>
        <p:spPr>
          <a:xfrm>
            <a:off x="914400" y="2806700"/>
            <a:ext cx="6223000" cy="571500"/>
          </a:xfrm>
          <a:prstGeom prst="rect">
            <a:avLst/>
          </a:prstGeom>
          <a:noFill/>
        </p:spPr>
        <p:txBody>
          <a:bodyPr vertOverflow="overflow" vert="horz" wrap="square" rtlCol="0" anchor="t">
            <a:noAutofit/>
          </a:bodyPr>
          <a:lstStyle/>
          <a:p>
            <a:pPr algn="l"/>
            <a:r>
              <a:rPr lang="en-US" sz="1500">
                <a:solidFill>
                  <a:srgbClr val="333333"/>
                </a:solidFill>
                <a:latin typeface="Inter"/>
                <a:ea typeface="Inter"/>
              </a:rPr>
              <a:t>Judge AI output rather than
producing from scratch.</a:t>
            </a:r>
          </a:p>
        </p:txBody>
      </p:sp>
      <p:sp>
        <p:nvSpPr>
          <p:cNvPr id="9" name="Rectangle: Rounded Corners 8">
            <a:extLst>
              <a:ext uri="{FF2B5EF4-FFF2-40B4-BE49-F238E27FC236}">
                <a16:creationId xmlns:a16="http://schemas.microsoft.com/office/drawing/2014/main" id="{DD8CDE1B-5DBB-4746-996F-180431F95E6F}"/>
              </a:ext>
            </a:extLst>
          </p:cNvPr>
          <p:cNvSpPr/>
          <p:nvPr/>
        </p:nvSpPr>
        <p:spPr>
          <a:xfrm>
            <a:off x="660400" y="3619500"/>
            <a:ext cx="6731000" cy="1079500"/>
          </a:xfrm>
          <a:prstGeom prst="roundRect">
            <a:avLst/>
          </a:prstGeom>
          <a:solidFill>
            <a:srgbClr val="FFF3E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52146876-384E-4391-B074-D78474D86209}"/>
              </a:ext>
            </a:extLst>
          </p:cNvPr>
          <p:cNvSpPr txBox="1"/>
          <p:nvPr/>
        </p:nvSpPr>
        <p:spPr>
          <a:xfrm>
            <a:off x="914400" y="3721100"/>
            <a:ext cx="2540000" cy="355600"/>
          </a:xfrm>
          <a:prstGeom prst="rect">
            <a:avLst/>
          </a:prstGeom>
          <a:noFill/>
        </p:spPr>
        <p:txBody>
          <a:bodyPr vertOverflow="overflow" vert="horz" wrap="square" rtlCol="0" anchor="t">
            <a:noAutofit/>
          </a:bodyPr>
          <a:lstStyle/>
          <a:p>
            <a:pPr algn="l"/>
            <a:r>
              <a:rPr lang="en-US" sz="1800" b="1">
                <a:solidFill>
                  <a:srgbClr val="E65100"/>
                </a:solidFill>
                <a:latin typeface="Inter"/>
                <a:ea typeface="Inter"/>
              </a:rPr>
              <a:t>Direction-Setting</a:t>
            </a:r>
          </a:p>
        </p:txBody>
      </p:sp>
      <p:sp>
        <p:nvSpPr>
          <p:cNvPr id="11" name="TextBox 10">
            <a:extLst>
              <a:ext uri="{FF2B5EF4-FFF2-40B4-BE49-F238E27FC236}">
                <a16:creationId xmlns:a16="http://schemas.microsoft.com/office/drawing/2014/main" id="{55F99010-22EB-4FAA-9495-930F8F2E2C1E}"/>
              </a:ext>
            </a:extLst>
          </p:cNvPr>
          <p:cNvSpPr txBox="1"/>
          <p:nvPr/>
        </p:nvSpPr>
        <p:spPr>
          <a:xfrm>
            <a:off x="914400" y="4076700"/>
            <a:ext cx="6223000" cy="571500"/>
          </a:xfrm>
          <a:prstGeom prst="rect">
            <a:avLst/>
          </a:prstGeom>
          <a:noFill/>
        </p:spPr>
        <p:txBody>
          <a:bodyPr vertOverflow="overflow" vert="horz" wrap="square" rtlCol="0" anchor="t">
            <a:noAutofit/>
          </a:bodyPr>
          <a:lstStyle/>
          <a:p>
            <a:pPr algn="l"/>
            <a:r>
              <a:rPr lang="en-US" sz="1500">
                <a:solidFill>
                  <a:srgbClr val="333333"/>
                </a:solidFill>
                <a:latin typeface="Inter"/>
                <a:ea typeface="Inter"/>
              </a:rPr>
              <a:t>Spend your time on insight
and foresight. The routine
is handled.</a:t>
            </a:r>
          </a:p>
        </p:txBody>
      </p:sp>
    </p:spTree>
    <p:extLst>
      <p:ext uri="{BB962C8B-B14F-4D97-AF65-F5344CB8AC3E}">
        <p14:creationId xmlns:p14="http://schemas.microsoft.com/office/powerpoint/2010/main" val="34960799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D2AD80-9029-43DF-B411-E4EE337EFA0D}"/>
              </a:ext>
            </a:extLst>
          </p:cNvPr>
          <p:cNvSpPr txBox="1"/>
          <p:nvPr/>
        </p:nvSpPr>
        <p:spPr>
          <a:xfrm>
            <a:off x="660400" y="317500"/>
            <a:ext cx="6731000" cy="1016000"/>
          </a:xfrm>
          <a:prstGeom prst="rect">
            <a:avLst/>
          </a:prstGeom>
          <a:noFill/>
        </p:spPr>
        <p:txBody>
          <a:bodyPr vertOverflow="overflow" vert="horz" wrap="square" rtlCol="0" anchor="t">
            <a:noAutofit/>
          </a:bodyPr>
          <a:lstStyle/>
          <a:p>
            <a:pPr algn="l"/>
            <a:r>
              <a:rPr lang="en-US" sz="2800" b="1">
                <a:solidFill>
                  <a:srgbClr val="1E1F20"/>
                </a:solidFill>
                <a:latin typeface="Inter"/>
                <a:ea typeface="Inter"/>
              </a:rPr>
              <a:t>Your people are the
integration layer right now.</a:t>
            </a:r>
          </a:p>
        </p:txBody>
      </p:sp>
      <p:sp>
        <p:nvSpPr>
          <p:cNvPr id="3" name="TextBox 2">
            <a:extLst>
              <a:ext uri="{FF2B5EF4-FFF2-40B4-BE49-F238E27FC236}">
                <a16:creationId xmlns:a16="http://schemas.microsoft.com/office/drawing/2014/main" id="{4B638C2F-0146-4C56-9319-0E302B2ED627}"/>
              </a:ext>
            </a:extLst>
          </p:cNvPr>
          <p:cNvSpPr txBox="1"/>
          <p:nvPr/>
        </p:nvSpPr>
        <p:spPr>
          <a:xfrm>
            <a:off x="660400" y="1524000"/>
            <a:ext cx="6731000" cy="1016000"/>
          </a:xfrm>
          <a:prstGeom prst="rect">
            <a:avLst/>
          </a:prstGeom>
          <a:noFill/>
        </p:spPr>
        <p:txBody>
          <a:bodyPr vertOverflow="overflow" vert="horz" wrap="square" rtlCol="0" anchor="t">
            <a:noAutofit/>
          </a:bodyPr>
          <a:lstStyle/>
          <a:p>
            <a:pPr algn="l"/>
            <a:r>
              <a:rPr lang="en-US" sz="1800">
                <a:solidFill>
                  <a:srgbClr val="333333"/>
                </a:solidFill>
                <a:latin typeface="Inter"/>
                <a:ea typeface="Inter"/>
              </a:rPr>
              <a:t>Your Tom is matching invoices.
Your Sarah is researching prospects.
Your Katie is waiting 73 days to fill a role.</a:t>
            </a:r>
          </a:p>
        </p:txBody>
      </p:sp>
      <p:sp>
        <p:nvSpPr>
          <p:cNvPr id="4" name="TextBox 3">
            <a:extLst>
              <a:ext uri="{FF2B5EF4-FFF2-40B4-BE49-F238E27FC236}">
                <a16:creationId xmlns:a16="http://schemas.microsoft.com/office/drawing/2014/main" id="{506F6073-BDC6-4853-A23F-A6FA399C0974}"/>
              </a:ext>
            </a:extLst>
          </p:cNvPr>
          <p:cNvSpPr txBox="1"/>
          <p:nvPr/>
        </p:nvSpPr>
        <p:spPr>
          <a:xfrm>
            <a:off x="660400" y="2857500"/>
            <a:ext cx="6731000" cy="1016000"/>
          </a:xfrm>
          <a:prstGeom prst="rect">
            <a:avLst/>
          </a:prstGeom>
          <a:noFill/>
        </p:spPr>
        <p:txBody>
          <a:bodyPr vertOverflow="overflow" vert="horz" wrap="square" rtlCol="0" anchor="t">
            <a:noAutofit/>
          </a:bodyPr>
          <a:lstStyle/>
          <a:p>
            <a:pPr algn="l"/>
            <a:r>
              <a:rPr lang="en-US" sz="2800" b="1">
                <a:solidFill>
                  <a:srgbClr val="0088CC"/>
                </a:solidFill>
                <a:latin typeface="Inter"/>
                <a:ea typeface="Inter"/>
              </a:rPr>
              <a:t>They deserve to be
the judgment layer.</a:t>
            </a:r>
          </a:p>
        </p:txBody>
      </p:sp>
    </p:spTree>
    <p:extLst>
      <p:ext uri="{BB962C8B-B14F-4D97-AF65-F5344CB8AC3E}">
        <p14:creationId xmlns:p14="http://schemas.microsoft.com/office/powerpoint/2010/main" val="22344573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2AE840-B40F-4125-869A-D48FE8C5CE1A}"/>
              </a:ext>
            </a:extLst>
          </p:cNvPr>
          <p:cNvSpPr txBox="1"/>
          <p:nvPr/>
        </p:nvSpPr>
        <p:spPr>
          <a:xfrm>
            <a:off x="660400" y="635000"/>
            <a:ext cx="6731000" cy="1143000"/>
          </a:xfrm>
          <a:prstGeom prst="rect">
            <a:avLst/>
          </a:prstGeom>
          <a:noFill/>
        </p:spPr>
        <p:txBody>
          <a:bodyPr vertOverflow="overflow" vert="horz" wrap="square" rtlCol="0" anchor="t">
            <a:noAutofit/>
          </a:bodyPr>
          <a:lstStyle/>
          <a:p>
            <a:pPr algn="l"/>
            <a:r>
              <a:rPr lang="en-US" sz="3400" b="1">
                <a:solidFill>
                  <a:srgbClr val="1E1F20"/>
                </a:solidFill>
                <a:latin typeface="Inter"/>
                <a:ea typeface="Inter"/>
              </a:rPr>
              <a:t>What's your stance
on this transition?</a:t>
            </a:r>
          </a:p>
        </p:txBody>
      </p:sp>
      <p:sp>
        <p:nvSpPr>
          <p:cNvPr id="3" name="TextBox 2">
            <a:extLst>
              <a:ext uri="{FF2B5EF4-FFF2-40B4-BE49-F238E27FC236}">
                <a16:creationId xmlns:a16="http://schemas.microsoft.com/office/drawing/2014/main" id="{D67AD952-FED7-44C2-8D75-446606979C7A}"/>
              </a:ext>
            </a:extLst>
          </p:cNvPr>
          <p:cNvSpPr txBox="1"/>
          <p:nvPr/>
        </p:nvSpPr>
        <p:spPr>
          <a:xfrm>
            <a:off x="660400" y="2159000"/>
            <a:ext cx="5080000" cy="1397000"/>
          </a:xfrm>
          <a:prstGeom prst="rect">
            <a:avLst/>
          </a:prstGeom>
          <a:noFill/>
        </p:spPr>
        <p:txBody>
          <a:bodyPr vertOverflow="overflow" vert="horz" wrap="square" rtlCol="0" anchor="t">
            <a:noAutofit/>
          </a:bodyPr>
          <a:lstStyle/>
          <a:p>
            <a:pPr algn="l"/>
            <a:r>
              <a:rPr lang="en-US" sz="2800">
                <a:solidFill>
                  <a:srgbClr val="0088CC"/>
                </a:solidFill>
                <a:latin typeface="Inter"/>
                <a:ea typeface="Inter"/>
              </a:rPr>
              <a:t>Resisting?
Accepting?
Participating?</a:t>
            </a:r>
          </a:p>
        </p:txBody>
      </p:sp>
      <p:sp>
        <p:nvSpPr>
          <p:cNvPr id="4" name="TextBox 3">
            <a:extLst>
              <a:ext uri="{FF2B5EF4-FFF2-40B4-BE49-F238E27FC236}">
                <a16:creationId xmlns:a16="http://schemas.microsoft.com/office/drawing/2014/main" id="{9FEE6C99-FBE1-46BD-BFCE-CDAF49CCCDBF}"/>
              </a:ext>
            </a:extLst>
          </p:cNvPr>
          <p:cNvSpPr txBox="1"/>
          <p:nvPr/>
        </p:nvSpPr>
        <p:spPr>
          <a:xfrm>
            <a:off x="660400" y="3810000"/>
            <a:ext cx="6731000" cy="762000"/>
          </a:xfrm>
          <a:prstGeom prst="rect">
            <a:avLst/>
          </a:prstGeom>
          <a:noFill/>
        </p:spPr>
        <p:txBody>
          <a:bodyPr vertOverflow="overflow" vert="horz" wrap="square" rtlCol="0" anchor="t">
            <a:noAutofit/>
          </a:bodyPr>
          <a:lstStyle/>
          <a:p>
            <a:pPr algn="l"/>
            <a:r>
              <a:rPr lang="en-US" sz="1800">
                <a:solidFill>
                  <a:srgbClr val="333333"/>
                </a:solidFill>
                <a:latin typeface="Inter"/>
                <a:ea typeface="Inter"/>
              </a:rPr>
              <a:t>If you're honest with yourself,
you can be honest with your team.</a:t>
            </a:r>
          </a:p>
        </p:txBody>
      </p:sp>
    </p:spTree>
    <p:extLst>
      <p:ext uri="{BB962C8B-B14F-4D97-AF65-F5344CB8AC3E}">
        <p14:creationId xmlns:p14="http://schemas.microsoft.com/office/powerpoint/2010/main" val="37816687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41E9AF-7AB8-4BCB-810A-25C8E1E450D3}"/>
              </a:ext>
            </a:extLst>
          </p:cNvPr>
          <p:cNvSpPr txBox="1"/>
          <p:nvPr/>
        </p:nvSpPr>
        <p:spPr>
          <a:xfrm>
            <a:off x="660400" y="381000"/>
            <a:ext cx="6731000" cy="1143000"/>
          </a:xfrm>
          <a:prstGeom prst="rect">
            <a:avLst/>
          </a:prstGeom>
          <a:noFill/>
        </p:spPr>
        <p:txBody>
          <a:bodyPr vertOverflow="overflow" vert="horz" wrap="square" rtlCol="0" anchor="t">
            <a:noAutofit/>
          </a:bodyPr>
          <a:lstStyle/>
          <a:p>
            <a:pPr algn="l"/>
            <a:r>
              <a:rPr lang="en-US" sz="3400" b="1">
                <a:solidFill>
                  <a:srgbClr val="1E1F20"/>
                </a:solidFill>
                <a:latin typeface="Inter"/>
                <a:ea typeface="Inter"/>
              </a:rPr>
              <a:t>In 1942, "Computer"
was a job title.</a:t>
            </a:r>
          </a:p>
        </p:txBody>
      </p:sp>
      <p:sp>
        <p:nvSpPr>
          <p:cNvPr id="3" name="TextBox 2">
            <a:extLst>
              <a:ext uri="{FF2B5EF4-FFF2-40B4-BE49-F238E27FC236}">
                <a16:creationId xmlns:a16="http://schemas.microsoft.com/office/drawing/2014/main" id="{0FA1B2E4-E74A-417B-A905-E0125020A690}"/>
              </a:ext>
            </a:extLst>
          </p:cNvPr>
          <p:cNvSpPr txBox="1"/>
          <p:nvPr/>
        </p:nvSpPr>
        <p:spPr>
          <a:xfrm>
            <a:off x="660400" y="1778000"/>
            <a:ext cx="6731000" cy="1016000"/>
          </a:xfrm>
          <a:prstGeom prst="rect">
            <a:avLst/>
          </a:prstGeom>
          <a:noFill/>
        </p:spPr>
        <p:txBody>
          <a:bodyPr vertOverflow="overflow" vert="horz" wrap="square" rtlCol="0" anchor="t">
            <a:noAutofit/>
          </a:bodyPr>
          <a:lstStyle/>
          <a:p>
            <a:pPr algn="l"/>
            <a:r>
              <a:rPr lang="en-US" sz="2000">
                <a:solidFill>
                  <a:srgbClr val="333333"/>
                </a:solidFill>
                <a:latin typeface="Inter"/>
                <a:ea typeface="Inter"/>
              </a:rPr>
              <a:t>30–40 hours of hand calculations.
Now your phone does it in milliseconds.</a:t>
            </a:r>
          </a:p>
        </p:txBody>
      </p:sp>
      <p:sp>
        <p:nvSpPr>
          <p:cNvPr id="4" name="TextBox 3">
            <a:extLst>
              <a:ext uri="{FF2B5EF4-FFF2-40B4-BE49-F238E27FC236}">
                <a16:creationId xmlns:a16="http://schemas.microsoft.com/office/drawing/2014/main" id="{E8F431CF-5DD6-4749-A99F-667DBDE92047}"/>
              </a:ext>
            </a:extLst>
          </p:cNvPr>
          <p:cNvSpPr txBox="1"/>
          <p:nvPr/>
        </p:nvSpPr>
        <p:spPr>
          <a:xfrm>
            <a:off x="660400" y="3302000"/>
            <a:ext cx="6731000" cy="1016000"/>
          </a:xfrm>
          <a:prstGeom prst="rect">
            <a:avLst/>
          </a:prstGeom>
          <a:noFill/>
        </p:spPr>
        <p:txBody>
          <a:bodyPr vertOverflow="overflow" vert="horz" wrap="square" rtlCol="0" anchor="t">
            <a:noAutofit/>
          </a:bodyPr>
          <a:lstStyle/>
          <a:p>
            <a:pPr algn="l"/>
            <a:r>
              <a:rPr lang="en-US" sz="2800" b="1">
                <a:solidFill>
                  <a:srgbClr val="0088CC"/>
                </a:solidFill>
                <a:latin typeface="Inter"/>
                <a:ea typeface="Inter"/>
              </a:rPr>
              <a:t>You're in the middle
of that transition.</a:t>
            </a:r>
          </a:p>
        </p:txBody>
      </p:sp>
    </p:spTree>
    <p:extLst>
      <p:ext uri="{BB962C8B-B14F-4D97-AF65-F5344CB8AC3E}">
        <p14:creationId xmlns:p14="http://schemas.microsoft.com/office/powerpoint/2010/main" val="14830903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B256EE-A4A5-4A30-B47B-519FB50D000F}"/>
              </a:ext>
            </a:extLst>
          </p:cNvPr>
          <p:cNvSpPr txBox="1"/>
          <p:nvPr/>
        </p:nvSpPr>
        <p:spPr>
          <a:xfrm>
            <a:off x="660400" y="1143000"/>
            <a:ext cx="6731000" cy="889000"/>
          </a:xfrm>
          <a:prstGeom prst="rect">
            <a:avLst/>
          </a:prstGeom>
          <a:noFill/>
        </p:spPr>
        <p:txBody>
          <a:bodyPr vertOverflow="overflow" vert="horz" wrap="square" rtlCol="0" anchor="t">
            <a:noAutofit/>
          </a:bodyPr>
          <a:lstStyle/>
          <a:p>
            <a:pPr algn="l"/>
            <a:r>
              <a:rPr lang="en-US" sz="4800" b="1">
                <a:solidFill>
                  <a:srgbClr val="0088CC"/>
                </a:solidFill>
                <a:latin typeface="Inter"/>
                <a:ea typeface="Inter"/>
              </a:rPr>
              <a:t>Participate Well.</a:t>
            </a:r>
          </a:p>
        </p:txBody>
      </p:sp>
      <p:sp>
        <p:nvSpPr>
          <p:cNvPr id="3" name="TextBox 2">
            <a:extLst>
              <a:ext uri="{FF2B5EF4-FFF2-40B4-BE49-F238E27FC236}">
                <a16:creationId xmlns:a16="http://schemas.microsoft.com/office/drawing/2014/main" id="{182ED846-2F75-40E5-892F-EC7A23E7359B}"/>
              </a:ext>
            </a:extLst>
          </p:cNvPr>
          <p:cNvSpPr txBox="1"/>
          <p:nvPr/>
        </p:nvSpPr>
        <p:spPr>
          <a:xfrm>
            <a:off x="660400" y="2286000"/>
            <a:ext cx="6731000" cy="1016000"/>
          </a:xfrm>
          <a:prstGeom prst="rect">
            <a:avLst/>
          </a:prstGeom>
          <a:noFill/>
        </p:spPr>
        <p:txBody>
          <a:bodyPr vertOverflow="overflow" vert="horz" wrap="square" rtlCol="0" anchor="t">
            <a:noAutofit/>
          </a:bodyPr>
          <a:lstStyle/>
          <a:p>
            <a:pPr algn="l"/>
            <a:r>
              <a:rPr lang="en-US" sz="2200">
                <a:solidFill>
                  <a:srgbClr val="1E1F20"/>
                </a:solidFill>
                <a:latin typeface="Inter"/>
                <a:ea typeface="Inter"/>
              </a:rPr>
              <a:t>Your job isn't to resist or accept.
Your job is to participate well.</a:t>
            </a:r>
          </a:p>
        </p:txBody>
      </p:sp>
    </p:spTree>
    <p:extLst>
      <p:ext uri="{BB962C8B-B14F-4D97-AF65-F5344CB8AC3E}">
        <p14:creationId xmlns:p14="http://schemas.microsoft.com/office/powerpoint/2010/main" val="20696205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4E1530-1A90-46FD-B5FC-E439D9E01EC2}"/>
              </a:ext>
            </a:extLst>
          </p:cNvPr>
          <p:cNvSpPr txBox="1"/>
          <p:nvPr/>
        </p:nvSpPr>
        <p:spPr>
          <a:xfrm>
            <a:off x="660400" y="1016000"/>
            <a:ext cx="6350000" cy="825500"/>
          </a:xfrm>
          <a:prstGeom prst="rect">
            <a:avLst/>
          </a:prstGeom>
          <a:noFill/>
        </p:spPr>
        <p:txBody>
          <a:bodyPr vertOverflow="overflow" vert="horz" wrap="square" rtlCol="0" anchor="t">
            <a:noAutofit/>
          </a:bodyPr>
          <a:lstStyle/>
          <a:p>
            <a:pPr algn="l"/>
            <a:r>
              <a:rPr lang="en-US" sz="4800" b="1">
                <a:solidFill>
                  <a:srgbClr val="0088CC"/>
                </a:solidFill>
                <a:latin typeface="Inter"/>
                <a:ea typeface="Inter"/>
              </a:rPr>
              <a:t>Questions?</a:t>
            </a:r>
          </a:p>
        </p:txBody>
      </p:sp>
      <p:sp>
        <p:nvSpPr>
          <p:cNvPr id="3" name="TextBox 2">
            <a:extLst>
              <a:ext uri="{FF2B5EF4-FFF2-40B4-BE49-F238E27FC236}">
                <a16:creationId xmlns:a16="http://schemas.microsoft.com/office/drawing/2014/main" id="{EAA71A48-C587-48D3-8CA7-F4FAF031C392}"/>
              </a:ext>
            </a:extLst>
          </p:cNvPr>
          <p:cNvSpPr txBox="1"/>
          <p:nvPr/>
        </p:nvSpPr>
        <p:spPr>
          <a:xfrm>
            <a:off x="660400" y="2286000"/>
            <a:ext cx="5080000" cy="698500"/>
          </a:xfrm>
          <a:prstGeom prst="rect">
            <a:avLst/>
          </a:prstGeom>
          <a:noFill/>
        </p:spPr>
        <p:txBody>
          <a:bodyPr vertOverflow="overflow" vert="horz" wrap="square" rtlCol="0" anchor="t">
            <a:noAutofit/>
          </a:bodyPr>
          <a:lstStyle/>
          <a:p>
            <a:pPr algn="l"/>
            <a:r>
              <a:rPr lang="de-DE" sz="1800" dirty="0">
                <a:solidFill>
                  <a:srgbClr val="666666"/>
                </a:solidFill>
                <a:latin typeface="Inter"/>
                <a:ea typeface="Inter"/>
              </a:rPr>
              <a:t>Kehr Technologies
www.eSided.com  |  info@esided.com</a:t>
            </a:r>
            <a:endParaRPr lang="en-US" sz="1800" dirty="0">
              <a:solidFill>
                <a:srgbClr val="666666"/>
              </a:solidFill>
              <a:latin typeface="Inter"/>
              <a:ea typeface="Inter"/>
            </a:endParaRPr>
          </a:p>
        </p:txBody>
      </p:sp>
      <p:sp>
        <p:nvSpPr>
          <p:cNvPr id="4" name="TextBox 3">
            <a:extLst>
              <a:ext uri="{FF2B5EF4-FFF2-40B4-BE49-F238E27FC236}">
                <a16:creationId xmlns:a16="http://schemas.microsoft.com/office/drawing/2014/main" id="{9164A9EE-3AC7-40DC-8E26-13A34CA932F8}"/>
              </a:ext>
            </a:extLst>
          </p:cNvPr>
          <p:cNvSpPr txBox="1"/>
          <p:nvPr/>
        </p:nvSpPr>
        <p:spPr>
          <a:xfrm>
            <a:off x="660400" y="3556000"/>
            <a:ext cx="6731000" cy="698500"/>
          </a:xfrm>
          <a:prstGeom prst="rect">
            <a:avLst/>
          </a:prstGeom>
          <a:noFill/>
        </p:spPr>
        <p:txBody>
          <a:bodyPr vertOverflow="overflow" vert="horz" wrap="square" rtlCol="0" anchor="t">
            <a:noAutofit/>
          </a:bodyPr>
          <a:lstStyle/>
          <a:p>
            <a:pPr algn="l"/>
            <a:r>
              <a:rPr lang="en-US" sz="1600" b="1">
                <a:solidFill>
                  <a:srgbClr val="1E1F20"/>
                </a:solidFill>
                <a:latin typeface="Inter"/>
                <a:ea typeface="Inter"/>
              </a:rPr>
              <a:t>Before any AI adoption:
Process documented?  Outcome clear?  Supervision designed?</a:t>
            </a:r>
          </a:p>
        </p:txBody>
      </p:sp>
    </p:spTree>
    <p:extLst>
      <p:ext uri="{BB962C8B-B14F-4D97-AF65-F5344CB8AC3E}">
        <p14:creationId xmlns:p14="http://schemas.microsoft.com/office/powerpoint/2010/main" val="1891894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886C8"/>
        </a:solidFill>
        <a:effectLst/>
      </p:bgPr>
    </p:bg>
    <p:spTree>
      <p:nvGrpSpPr>
        <p:cNvPr id="1" name=""/>
        <p:cNvGrpSpPr/>
        <p:nvPr/>
      </p:nvGrpSpPr>
      <p:grpSpPr>
        <a:xfrm>
          <a:off x="0" y="0"/>
          <a:ext cx="0" cy="0"/>
          <a:chOff x="0" y="0"/>
          <a:chExt cx="0" cy="0"/>
        </a:xfrm>
      </p:grpSpPr>
      <p:sp>
        <p:nvSpPr>
          <p:cNvPr id="50" name="WhiteCurve"/>
          <p:cNvSpPr/>
          <p:nvPr/>
        </p:nvSpPr>
        <p:spPr>
          <a:xfrm>
            <a:off x="0" y="0"/>
            <a:ext cx="9144000" cy="5143500"/>
          </a:xfrm>
          <a:custGeom>
            <a:avLst/>
            <a:gdLst/>
            <a:ahLst/>
            <a:cxnLst/>
            <a:rect l="0" t="0" r="9144000" b="5143500"/>
            <a:pathLst>
              <a:path w="9144000" h="5143500">
                <a:moveTo>
                  <a:pt x="0" y="5143500"/>
                </a:moveTo>
                <a:lnTo>
                  <a:pt x="9144000" y="5143500"/>
                </a:lnTo>
                <a:lnTo>
                  <a:pt x="9144000" y="943500"/>
                </a:lnTo>
                <a:cubicBezTo>
                  <a:pt x="6858000" y="443500"/>
                  <a:pt x="2286000" y="443500"/>
                  <a:pt x="0" y="943500"/>
                </a:cubicBezTo>
                <a:close/>
              </a:path>
            </a:pathLst>
          </a:custGeom>
          <a:solidFill>
            <a:srgbClr val="FFFFFF"/>
          </a:solidFill>
          <a:ln>
            <a:noFill/>
          </a:ln>
        </p:spPr>
        <p:txBody>
          <a:bodyPr/>
          <a:lstStyle/>
          <a:p>
            <a:endParaRPr lang="en-US"/>
          </a:p>
        </p:txBody>
      </p:sp>
      <p:sp>
        <p:nvSpPr>
          <p:cNvPr id="100" name="Title"/>
          <p:cNvSpPr/>
          <p:nvPr/>
        </p:nvSpPr>
        <p:spPr>
          <a:xfrm>
            <a:off x="457200" y="1143000"/>
            <a:ext cx="8229600" cy="685800"/>
          </a:xfrm>
          <a:prstGeom prst="rect">
            <a:avLst/>
          </a:prstGeom>
          <a:noFill/>
        </p:spPr>
        <p:txBody>
          <a:bodyPr wrap="square"/>
          <a:lstStyle/>
          <a:p>
            <a:pPr>
              <a:buNone/>
            </a:pPr>
            <a:r>
              <a:rPr lang="en-US" sz="3200" b="1" dirty="0">
                <a:solidFill>
                  <a:srgbClr val="1E1F20"/>
                </a:solidFill>
                <a:latin typeface="Inter"/>
              </a:rPr>
              <a:t>Sample G: </a:t>
            </a:r>
            <a:r>
              <a:rPr lang="en-US" sz="3200" b="1" dirty="0">
                <a:solidFill>
                  <a:srgbClr val="0886C8"/>
                </a:solidFill>
                <a:latin typeface="Inter"/>
              </a:rPr>
              <a:t>Curve at Top (15%)</a:t>
            </a:r>
          </a:p>
        </p:txBody>
      </p:sp>
      <p:sp>
        <p:nvSpPr>
          <p:cNvPr id="101" name="Body"/>
          <p:cNvSpPr/>
          <p:nvPr/>
        </p:nvSpPr>
        <p:spPr>
          <a:xfrm>
            <a:off x="457200" y="1900000"/>
            <a:ext cx="8229600" cy="1600000"/>
          </a:xfrm>
          <a:prstGeom prst="rect">
            <a:avLst/>
          </a:prstGeom>
          <a:noFill/>
        </p:spPr>
        <p:txBody>
          <a:bodyPr wrap="square"/>
          <a:lstStyle/>
          <a:p>
            <a:pPr>
              <a:buNone/>
            </a:pPr>
            <a:r>
              <a:rPr lang="en-US" sz="2000" dirty="0">
                <a:solidFill>
                  <a:srgbClr val="1E1F20"/>
                </a:solidFill>
                <a:latin typeface="Inter"/>
              </a:rPr>
              <a:t>Exact same curve from slide 41, flipped to the top.</a:t>
            </a:r>
          </a:p>
          <a:p>
            <a:pPr>
              <a:buNone/>
            </a:pPr>
            <a:r>
              <a:rPr lang="en-US" sz="2000" dirty="0">
                <a:solidFill>
                  <a:srgbClr val="434343"/>
                </a:solidFill>
                <a:latin typeface="Inter"/>
              </a:rPr>
              <a:t>Same bow, same proportions, same style.</a:t>
            </a:r>
          </a:p>
        </p:txBody>
      </p:sp>
    </p:spTree>
    <p:extLst>
      <p:ext uri="{BB962C8B-B14F-4D97-AF65-F5344CB8AC3E}">
        <p14:creationId xmlns:p14="http://schemas.microsoft.com/office/powerpoint/2010/main" val="33975885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886C8"/>
        </a:solidFill>
        <a:effectLst/>
      </p:bgPr>
    </p:bg>
    <p:spTree>
      <p:nvGrpSpPr>
        <p:cNvPr id="1" name=""/>
        <p:cNvGrpSpPr/>
        <p:nvPr/>
      </p:nvGrpSpPr>
      <p:grpSpPr>
        <a:xfrm>
          <a:off x="0" y="0"/>
          <a:ext cx="0" cy="0"/>
          <a:chOff x="0" y="0"/>
          <a:chExt cx="0" cy="0"/>
        </a:xfrm>
      </p:grpSpPr>
      <p:sp>
        <p:nvSpPr>
          <p:cNvPr id="50" name="WhiteCurve"/>
          <p:cNvSpPr/>
          <p:nvPr/>
        </p:nvSpPr>
        <p:spPr>
          <a:xfrm>
            <a:off x="0" y="0"/>
            <a:ext cx="9144000" cy="5143500"/>
          </a:xfrm>
          <a:custGeom>
            <a:avLst/>
            <a:gdLst/>
            <a:ahLst/>
            <a:cxnLst/>
            <a:rect l="0" t="0" r="9144000" b="5143500"/>
            <a:pathLst>
              <a:path w="9144000" h="5143500">
                <a:moveTo>
                  <a:pt x="0" y="0"/>
                </a:moveTo>
                <a:lnTo>
                  <a:pt x="0" y="5143500"/>
                </a:lnTo>
                <a:lnTo>
                  <a:pt x="7465000" y="5143500"/>
                </a:lnTo>
                <a:cubicBezTo>
                  <a:pt x="8353000" y="3857625"/>
                  <a:pt x="8353000" y="1285875"/>
                  <a:pt x="7465000" y="0"/>
                </a:cubicBezTo>
                <a:close/>
              </a:path>
            </a:pathLst>
          </a:custGeom>
          <a:solidFill>
            <a:srgbClr val="FFFFFF"/>
          </a:solidFill>
          <a:ln>
            <a:noFill/>
          </a:ln>
        </p:spPr>
        <p:txBody>
          <a:bodyPr/>
          <a:lstStyle/>
          <a:p>
            <a:endParaRPr lang="en-US"/>
          </a:p>
        </p:txBody>
      </p:sp>
      <p:sp>
        <p:nvSpPr>
          <p:cNvPr id="100" name="Title"/>
          <p:cNvSpPr/>
          <p:nvPr/>
        </p:nvSpPr>
        <p:spPr>
          <a:xfrm>
            <a:off x="457200" y="228600"/>
            <a:ext cx="6858000" cy="685800"/>
          </a:xfrm>
          <a:prstGeom prst="rect">
            <a:avLst/>
          </a:prstGeom>
          <a:noFill/>
        </p:spPr>
        <p:txBody>
          <a:bodyPr wrap="square"/>
          <a:lstStyle/>
          <a:p>
            <a:pPr>
              <a:buNone/>
            </a:pPr>
            <a:r>
              <a:rPr lang="en-US" sz="3200" b="1" dirty="0">
                <a:solidFill>
                  <a:srgbClr val="1E1F20"/>
                </a:solidFill>
                <a:latin typeface="Inter"/>
              </a:rPr>
              <a:t>Sample H: </a:t>
            </a:r>
            <a:r>
              <a:rPr lang="en-US" sz="3200" b="1" dirty="0">
                <a:solidFill>
                  <a:srgbClr val="0886C8"/>
                </a:solidFill>
                <a:latin typeface="Inter"/>
              </a:rPr>
              <a:t>Curve on Right (scaled)</a:t>
            </a:r>
          </a:p>
        </p:txBody>
      </p:sp>
      <p:sp>
        <p:nvSpPr>
          <p:cNvPr id="101" name="Body"/>
          <p:cNvSpPr/>
          <p:nvPr/>
        </p:nvSpPr>
        <p:spPr>
          <a:xfrm>
            <a:off x="457200" y="1143000"/>
            <a:ext cx="6858000" cy="1600000"/>
          </a:xfrm>
          <a:prstGeom prst="rect">
            <a:avLst/>
          </a:prstGeom>
          <a:noFill/>
        </p:spPr>
        <p:txBody>
          <a:bodyPr wrap="square"/>
          <a:lstStyle/>
          <a:p>
            <a:pPr>
              <a:buNone/>
            </a:pPr>
            <a:r>
              <a:rPr lang="en-US" sz="2000" dirty="0">
                <a:solidFill>
                  <a:srgbClr val="1E1F20"/>
                </a:solidFill>
                <a:latin typeface="Inter"/>
              </a:rPr>
              <a:t>Proportionally scaled to match the visual weight of slides 39 and 41.</a:t>
            </a:r>
          </a:p>
          <a:p>
            <a:pPr>
              <a:buNone/>
            </a:pPr>
            <a:r>
              <a:rPr lang="en-US" sz="2000" dirty="0">
                <a:solidFill>
                  <a:srgbClr val="434343"/>
                </a:solidFill>
                <a:latin typeface="Inter"/>
              </a:rPr>
              <a:t>Same curve style, same proportional footprint.</a:t>
            </a:r>
          </a:p>
        </p:txBody>
      </p:sp>
    </p:spTree>
    <p:extLst>
      <p:ext uri="{BB962C8B-B14F-4D97-AF65-F5344CB8AC3E}">
        <p14:creationId xmlns:p14="http://schemas.microsoft.com/office/powerpoint/2010/main" val="28452342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886C8"/>
        </a:solidFill>
        <a:effectLst/>
      </p:bgPr>
    </p:bg>
    <p:spTree>
      <p:nvGrpSpPr>
        <p:cNvPr id="1" name=""/>
        <p:cNvGrpSpPr/>
        <p:nvPr/>
      </p:nvGrpSpPr>
      <p:grpSpPr>
        <a:xfrm>
          <a:off x="0" y="0"/>
          <a:ext cx="0" cy="0"/>
          <a:chOff x="0" y="0"/>
          <a:chExt cx="0" cy="0"/>
        </a:xfrm>
      </p:grpSpPr>
      <p:sp>
        <p:nvSpPr>
          <p:cNvPr id="50" name="WhiteCurve"/>
          <p:cNvSpPr/>
          <p:nvPr/>
        </p:nvSpPr>
        <p:spPr>
          <a:xfrm>
            <a:off x="0" y="0"/>
            <a:ext cx="9144000" cy="5143500"/>
          </a:xfrm>
          <a:custGeom>
            <a:avLst/>
            <a:gdLst/>
            <a:ahLst/>
            <a:cxnLst/>
            <a:rect l="0" t="0" r="9144000" b="5143500"/>
            <a:pathLst>
              <a:path w="9144000" h="5143500">
                <a:moveTo>
                  <a:pt x="0" y="0"/>
                </a:moveTo>
                <a:lnTo>
                  <a:pt x="9144000" y="0"/>
                </a:lnTo>
                <a:lnTo>
                  <a:pt x="9144000" y="4200000"/>
                </a:lnTo>
                <a:cubicBezTo>
                  <a:pt x="6858000" y="4700000"/>
                  <a:pt x="2286000" y="4700000"/>
                  <a:pt x="0" y="4200000"/>
                </a:cubicBezTo>
                <a:close/>
              </a:path>
            </a:pathLst>
          </a:custGeom>
          <a:solidFill>
            <a:srgbClr val="FFFFFF"/>
          </a:solidFill>
          <a:ln>
            <a:noFill/>
          </a:ln>
        </p:spPr>
        <p:txBody>
          <a:bodyPr/>
          <a:lstStyle/>
          <a:p>
            <a:endParaRPr lang="en-US"/>
          </a:p>
        </p:txBody>
      </p:sp>
      <p:sp>
        <p:nvSpPr>
          <p:cNvPr id="100" name="Title"/>
          <p:cNvSpPr/>
          <p:nvPr/>
        </p:nvSpPr>
        <p:spPr>
          <a:xfrm>
            <a:off x="457200" y="228600"/>
            <a:ext cx="8229600" cy="685800"/>
          </a:xfrm>
          <a:prstGeom prst="rect">
            <a:avLst/>
          </a:prstGeom>
          <a:noFill/>
        </p:spPr>
        <p:txBody>
          <a:bodyPr wrap="square"/>
          <a:lstStyle/>
          <a:p>
            <a:pPr>
              <a:buNone/>
            </a:pPr>
            <a:r>
              <a:rPr lang="en-US" sz="3200" b="1" dirty="0">
                <a:solidFill>
                  <a:srgbClr val="1E1F20"/>
                </a:solidFill>
                <a:latin typeface="Inter"/>
              </a:rPr>
              <a:t>Sample I: </a:t>
            </a:r>
            <a:r>
              <a:rPr lang="en-US" sz="3200" b="1" dirty="0">
                <a:solidFill>
                  <a:srgbClr val="0886C8"/>
                </a:solidFill>
                <a:latin typeface="Inter"/>
              </a:rPr>
              <a:t>Curve at Bottom</a:t>
            </a:r>
          </a:p>
        </p:txBody>
      </p:sp>
      <p:sp>
        <p:nvSpPr>
          <p:cNvPr id="101" name="Body"/>
          <p:cNvSpPr/>
          <p:nvPr/>
        </p:nvSpPr>
        <p:spPr>
          <a:xfrm>
            <a:off x="457200" y="1143000"/>
            <a:ext cx="8229600" cy="1371600"/>
          </a:xfrm>
          <a:prstGeom prst="rect">
            <a:avLst/>
          </a:prstGeom>
          <a:noFill/>
        </p:spPr>
        <p:txBody>
          <a:bodyPr wrap="square"/>
          <a:lstStyle/>
          <a:p>
            <a:pPr>
              <a:buNone/>
            </a:pPr>
            <a:r>
              <a:rPr lang="en-US" sz="2000" dirty="0">
                <a:solidFill>
                  <a:srgbClr val="1E1F20"/>
                </a:solidFill>
                <a:latin typeface="Inter"/>
              </a:rPr>
              <a:t>Blue curve at bottom. Full width for titles and content above.</a:t>
            </a:r>
          </a:p>
          <a:p>
            <a:pPr>
              <a:buNone/>
            </a:pPr>
            <a:r>
              <a:rPr lang="en-US" sz="2000" dirty="0">
                <a:solidFill>
                  <a:srgbClr val="434343"/>
                </a:solidFill>
                <a:latin typeface="Inter"/>
              </a:rPr>
              <a:t>Curve uses ~15% of slide height. Grounds the slide visually.</a:t>
            </a:r>
          </a:p>
          <a:p>
            <a:pPr>
              <a:buNone/>
            </a:pPr>
            <a:r>
              <a:rPr lang="en-US" sz="2000" dirty="0">
                <a:solidFill>
                  <a:srgbClr val="434343"/>
                </a:solidFill>
                <a:latin typeface="Inter"/>
              </a:rPr>
              <a:t>Same organic brand feel, just relocated to a less intrusive position.</a:t>
            </a:r>
          </a:p>
        </p:txBody>
      </p:sp>
    </p:spTree>
    <p:extLst>
      <p:ext uri="{BB962C8B-B14F-4D97-AF65-F5344CB8AC3E}">
        <p14:creationId xmlns:p14="http://schemas.microsoft.com/office/powerpoint/2010/main" val="240887612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3CC04A9-BEE3-4457-B485-BCC0496A4676}">
  <we:reference id="WA200010001" version="1.0.0.0" store="Omex" storeType="OMEX"/>
  <we:alternateReferences>
    <we:reference id="WA200010001" version="1.0.0.0" store="WA200010001" storeType="OMEX"/>
  </we:alternateReferences>
  <we:properties>
    <we:property name="Office.AutoShowTaskpaneWithDocument" value="true"/>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7ee291d-f521-425d-ab80-3dac32828db9">
      <Terms xmlns="http://schemas.microsoft.com/office/infopath/2007/PartnerControls"/>
    </lcf76f155ced4ddcb4097134ff3c332f>
    <TaxCatchAll xmlns="03e0809a-1588-450a-ae7e-adcb45e3e97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E64D9501FB9014A8612EB0A64BFC698" ma:contentTypeVersion="10" ma:contentTypeDescription="Create a new document." ma:contentTypeScope="" ma:versionID="5dfb1ff82e6ede74e41181bfb23aef1a">
  <xsd:schema xmlns:xsd="http://www.w3.org/2001/XMLSchema" xmlns:xs="http://www.w3.org/2001/XMLSchema" xmlns:p="http://schemas.microsoft.com/office/2006/metadata/properties" xmlns:ns2="97ee291d-f521-425d-ab80-3dac32828db9" xmlns:ns3="03e0809a-1588-450a-ae7e-adcb45e3e97d" targetNamespace="http://schemas.microsoft.com/office/2006/metadata/properties" ma:root="true" ma:fieldsID="747d31ce1583aae064da8e14c503ec56" ns2:_="" ns3:_="">
    <xsd:import namespace="97ee291d-f521-425d-ab80-3dac32828db9"/>
    <xsd:import namespace="03e0809a-1588-450a-ae7e-adcb45e3e97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ee291d-f521-425d-ab80-3dac32828d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6d00a8f8-b00d-4294-a080-f063366d3d18"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3e0809a-1588-450a-ae7e-adcb45e3e97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d6889ffd-c29f-4db8-a708-274338fc145f}" ma:internalName="TaxCatchAll" ma:showField="CatchAllData" ma:web="03e0809a-1588-450a-ae7e-adcb45e3e97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ACEFC12-4B6D-4C95-B31F-B6E127196B8F}">
  <ds:schemaRefs>
    <ds:schemaRef ds:uri="http://schemas.microsoft.com/sharepoint/v3/contenttype/forms"/>
  </ds:schemaRefs>
</ds:datastoreItem>
</file>

<file path=customXml/itemProps2.xml><?xml version="1.0" encoding="utf-8"?>
<ds:datastoreItem xmlns:ds="http://schemas.openxmlformats.org/officeDocument/2006/customXml" ds:itemID="{1CB84D1D-3450-4401-8680-6D7809FF66EA}">
  <ds:schemaRefs>
    <ds:schemaRef ds:uri="http://schemas.microsoft.com/office/2006/metadata/properties"/>
    <ds:schemaRef ds:uri="http://schemas.microsoft.com/office/infopath/2007/PartnerControls"/>
    <ds:schemaRef ds:uri="97ee291d-f521-425d-ab80-3dac32828db9"/>
    <ds:schemaRef ds:uri="03e0809a-1588-450a-ae7e-adcb45e3e97d"/>
  </ds:schemaRefs>
</ds:datastoreItem>
</file>

<file path=customXml/itemProps3.xml><?xml version="1.0" encoding="utf-8"?>
<ds:datastoreItem xmlns:ds="http://schemas.openxmlformats.org/officeDocument/2006/customXml" ds:itemID="{C0AA33C0-5E46-4733-86F6-67F5BFBAEC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7ee291d-f521-425d-ab80-3dac32828db9"/>
    <ds:schemaRef ds:uri="03e0809a-1588-450a-ae7e-adcb45e3e9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78</TotalTime>
  <Words>1813</Words>
  <Application>Microsoft Office PowerPoint</Application>
  <PresentationFormat>On-screen Show (16:9)</PresentationFormat>
  <Paragraphs>215</Paragraphs>
  <Slides>41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Inter Medium</vt:lpstr>
      <vt:lpstr>Arial</vt:lpstr>
      <vt:lpstr>Inter</vt:lpstr>
      <vt:lpstr>Simple Light</vt:lpstr>
      <vt:lpstr>PowerPoint Presentation</vt:lpstr>
      <vt:lpstr>Leadership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nuc2023</dc:creator>
  <cp:lastModifiedBy>Zak Ali</cp:lastModifiedBy>
  <cp:revision>4</cp:revision>
  <dcterms:modified xsi:type="dcterms:W3CDTF">2026-02-14T15:10:56Z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0x0101000E64D9501FB9014A8612EB0A64BFC698</vt:lpwstr>
  </property>
</Properties>
</file>